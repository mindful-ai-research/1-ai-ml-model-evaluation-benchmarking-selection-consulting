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259" r:id="rId5"/>
    <p:sldId id="304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0" r:id="rId15"/>
    <p:sldId id="261" r:id="rId16"/>
    <p:sldId id="303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35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ustomXml" Target="../customXml/item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customXml" Target="../customXml/item2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97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9659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CIÊNCIA DE DADOS 1 · REVISÃO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94360" y="2514600"/>
            <a:ext cx="110029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cruzada — revisão e questionário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Relembrando os conceitos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essencial da validação cruzada.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avaliar com um corte só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188720"/>
          </a:xfrm>
          <a:prstGeom prst="roundRect">
            <a:avLst>
              <a:gd name="adj" fmla="val 6923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corte pode ser 'fácil' ou 'difícil': a nota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 pela sorte do sorteio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validação cruzada troca isso pela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vários cortes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modelo e base, só mudando a semente, a acurácia vai de 0,82 a 0,76.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fazer vários cortes, testar em cada um e tirar a média — estimativa estável.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honesto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± desvio, nunca um número solto.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k-fold: o rodízio que aproveita todo o dado</a:t>
            </a:r>
            <a:endParaRPr lang="en-US" sz="2700" dirty="0"/>
          </a:p>
        </p:txBody>
      </p:sp>
      <p:pic>
        <p:nvPicPr>
          <p:cNvPr id="5" name="Image 0" descr="fig_cv/f_kf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371600"/>
            <a:ext cx="7406640" cy="3200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em k pedaços; a cada rodada 1 é teste e os outros k−1 são treino. Todo dado é testado uma vez. Resultado = média ± desvio das k notas.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 no scikit-learn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737360"/>
            <a:ext cx="11002975" cy="2286000"/>
          </a:xfrm>
          <a:prstGeom prst="roundRect">
            <a:avLst>
              <a:gd name="adj" fmla="val 360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271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cross_val_score, KFold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cross_val_score(modelo, X, y, cv=5, scoring="accuracy")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# [0.80 0.90 0.70 0.85 0.75]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print(scores.mean(), scores.std())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0.80  0.07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cv=5 faz o rodízio sozinho. O resultado honesto é média ± desvio — nunca um número solto.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845"/>
    </mc:Choice>
    <mc:Fallback xmlns="">
      <p:transition spd="slow" advTm="4684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Tirando as dúvidas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ficou perguntado na aula.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separa treino e teste? O cv, sozinho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separa nada à mão: o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cv=5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corta o X, y e faz o rodízio automaticamente.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514600"/>
          <a:ext cx="11002975" cy="263347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5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rodada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2, 3, 4,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1, 3, 4,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1, 2, 4,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1, 2, 3,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 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pedaços 1, 2, 3, 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X, y é só o bloco de treino/validação — o teste final fica separado e é tocado uma vez no fim.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 rara: o limite do k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Estratificar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cria positivos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logo,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não pode passar do nº de positivos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5318608" cy="3108960"/>
          </a:xfrm>
          <a:prstGeom prst="roundRect">
            <a:avLst>
              <a:gd name="adj" fmla="val 264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Funciona: 8 positivos, k=5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÷ 5 ≈ 1,6 por dobra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 2, 2, 2, 1, 1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dobra tem positivo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78728" y="2743200"/>
            <a:ext cx="5318608" cy="3108960"/>
          </a:xfrm>
          <a:prstGeom prst="roundRect">
            <a:avLst>
              <a:gd name="adj" fmla="val 264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98768" y="30175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Quebra: 3 positivos, k=5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365760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para 5 dobras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dobras ficam com ZERO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indefinida.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o k ou RepeatedStratifiedKFold.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bolso: k ≤ nº de exemplos da classe mais rara.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 × k-fold, na mão (n = 10)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é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k-fold com k = n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cada exemplo, sozinho, vira teste uma vez.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5318608" cy="3108960"/>
          </a:xfrm>
          <a:prstGeom prst="roundRect">
            <a:avLst>
              <a:gd name="adj" fmla="val 264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 (k = 5)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rodadas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= 2 exemplos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= 8.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notas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uma já estável.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78728" y="2743200"/>
            <a:ext cx="5318608" cy="3108960"/>
          </a:xfrm>
          <a:prstGeom prst="roundRect">
            <a:avLst>
              <a:gd name="adj" fmla="val 264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98768" y="30175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Leave-One-Out (k = 10)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365760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rodadas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= 1 exemplo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= 9.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0 ou 1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a média faz sentido.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aproveita o máximo do dado, mas custa n treinos e dá notas 'nervosas'. Use com pouquíssimos dados.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do grupo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188720"/>
          </a:xfrm>
          <a:prstGeom prst="roundRect">
            <a:avLst>
              <a:gd name="adj" fmla="val 6923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vários exames do mesmo paciente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se o mesmo P1 cai no treino E no teste, o modelo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 a pessoa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não aprende a doença.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88036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infla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reconhece o P1 no teste e acerta — não por entender o padrão.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vida real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pacientes NOVOS → a nota alta some.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defesa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GroupKFold: o grupo inteiro de um lado só (groups=id).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corte temporal ou vários?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2000–2015 e segurar 2016–2021 é um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temporal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o TimeSeriesSplit com um corte só.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743200"/>
            <a:ext cx="5318608" cy="3108960"/>
          </a:xfrm>
          <a:prstGeom prst="roundRect">
            <a:avLst>
              <a:gd name="adj" fmla="val 2647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Hold-out temporal (1 corte)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treino 2000–2015 · teste 2016–2021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estimativa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barata e realista.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aquele período pode ser atípico.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78728" y="2743200"/>
            <a:ext cx="5318608" cy="3108960"/>
          </a:xfrm>
          <a:prstGeom prst="roundRect">
            <a:avLst>
              <a:gd name="adj" fmla="val 264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598768" y="3017520"/>
            <a:ext cx="467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5A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TimeSeriesSplit (vários)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98768" y="3657600"/>
            <a:ext cx="46785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andando no tempo</a:t>
            </a:r>
            <a:endParaRPr lang="en-US" sz="1450" dirty="0"/>
          </a:p>
          <a:p>
            <a:pPr marL="228600" indent="-228600"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várias estimativas — </a:t>
            </a: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mais estável.</a:t>
            </a:r>
            <a:endParaRPr lang="en-US" sz="14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passado, testa futuro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só ESTIMAM. Aprovado o modelo, re-treine com TODOS os dados para produção.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 generalizando ou decorando?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51560"/>
          </a:xfrm>
          <a:prstGeom prst="roundRect">
            <a:avLst>
              <a:gd name="adj" fmla="val 782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é a diferença entre o treino e </a:t>
            </a:r>
            <a:r>
              <a:rPr lang="en-US" sz="16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que o modelo nunca viu</a:t>
            </a:r>
            <a:r>
              <a:rPr lang="en-US" sz="16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decorar aparece como nota alta no treino e baixa fora.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743200"/>
          <a:ext cx="6309360" cy="21945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modelo nos próprios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(CV)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 ± 0,02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de vários cortes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 final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 guardado, uma vez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2743200"/>
            <a:ext cx="4279392" cy="2331720"/>
          </a:xfrm>
          <a:prstGeom prst="roundRect">
            <a:avLst>
              <a:gd name="adj" fmla="val 3529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7607808" y="3035808"/>
            <a:ext cx="3694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AJUDA A VER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07808" y="3538728"/>
            <a:ext cx="369417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muito abaixo do treino e sem subir = decorando.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 da CV — </a:t>
            </a: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 ± 0,02 baixo = consistente entre os cortes.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grande (treino ≫ validação) = decorando; os três próximos entre si = generalizando. A nota que vale é a de dados fora do ajuste.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re-treinar: o drift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tempo os dados mudam (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Você monitora — sem esperar o modelo quebrar.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no tempo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a métrica de referência nos dados novos; caiu do limiar → reavaliar.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das entradas (data drift)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mudando de faixa/categoria (PSI, KS) — dá para ver antes dos rótulos.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X→y (concept drift)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previa bem deixou de prever; só se percebe pela queda de desempenho.</a:t>
            </a:r>
            <a:endParaRPr lang="en-US" sz="1500" dirty="0"/>
          </a:p>
          <a:p>
            <a:pPr marL="228600" indent="-228600">
              <a:buSzPct val="100000"/>
              <a:buChar char="•"/>
            </a:pPr>
            <a:r>
              <a:rPr lang="en-US" sz="15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agir — </a:t>
            </a: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de base + limiar de alerta; backtesting temporal; re-treinar por gatilho ou agenda, com os dados recentes.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drift = as entradas mudam; concept drift = a relação muda. É o outro lado do hold-out temporal da Aula 05.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esquema usar? (resumo)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00232" cy="3621024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 do dado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Esquema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Classificação (padrão)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StratifiedKFold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mantém a proporção das classes em cada dobra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/ dado comum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KFold (k=5 ou 10)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rodízio simples já basta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Repetição por pessoa/loja/sensor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GroupKFold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grupo inteiro de um lado só (sem vazar)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com data (série temporal)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TimeSeriesSplit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treina no passado, testa no futuro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Pouquíssimos dados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 / RepeatedKFold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aproveita ao máximo cada exemplo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3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vazar: CV dentro do Pipeline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pré-processamento tem de ser refeito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 cada dobra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só com o treino daquela dobra.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94360" y="2514600"/>
            <a:ext cx="11002975" cy="1828800"/>
          </a:xfrm>
          <a:prstGeom prst="roundRect">
            <a:avLst>
              <a:gd name="adj" fmla="val 4500"/>
            </a:avLst>
          </a:prstGeom>
          <a:solidFill>
            <a:srgbClr val="0B5A54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102714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 = Pipeline([("prep", StandardScaler()), ("clf", modelo)])</a:t>
            </a:r>
            <a:endParaRPr lang="en-US" sz="14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cross_val_score(pipe, X, y, cv=5)</a:t>
            </a:r>
            <a:r>
              <a:rPr lang="en-US" sz="1450" dirty="0">
                <a:solidFill>
                  <a:srgbClr val="9CD3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o fit do scaler só no treino de cada dobra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a base inteira ANTES da CV usa as médias do teste → vazamento e nota otimista.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1002975" cy="1280160"/>
          </a:xfrm>
          <a:prstGeom prst="roundRect">
            <a:avLst>
              <a:gd name="adj" fmla="val 6429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463040"/>
            <a:ext cx="101800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=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vários cortes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(estimativa estável), 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certo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cada dado, e tudo </a:t>
            </a:r>
            <a:r>
              <a:rPr lang="en-US" sz="19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Pipeline</a:t>
            </a:r>
            <a:r>
              <a:rPr lang="en-US" sz="19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(sem vazar).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94360" y="2926080"/>
            <a:ext cx="1100297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± desvio, nunca um número solto.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pelo dado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estratificado, por grupo ou temporal.</a:t>
            </a:r>
            <a:endParaRPr lang="en-US" sz="1550" dirty="0"/>
          </a:p>
          <a:p>
            <a:pPr marL="228600" indent="-228600">
              <a:buSzPct val="100000"/>
              <a:buChar char="•"/>
            </a:pPr>
            <a:r>
              <a:rPr lang="en-US" sz="155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 — </a:t>
            </a:r>
            <a:r>
              <a:rPr lang="en-US" sz="15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hiperparâmetros sem contaminar a nota (maldição do vencedor e Nested CV).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955280" y="640080"/>
            <a:ext cx="393192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3000" b="1" dirty="0">
                <a:solidFill>
                  <a:srgbClr val="E9F5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23317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971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Questionário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594360" y="45262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 pergunta; no slide seguinte, a resposta.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"Avaliar com uma única divisão treino/teste é como jogar a moeda." Por quê?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modelo responde ao acaso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acurácia é sempre 50%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nota varia conforme a sorte do corte; a solução é a média de vários cortes (validação cruzada)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não se deve usar teste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"Avaliar com uma única divisão treino/teste é como jogar a moeda." Por quê?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modelo responde ao acaso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acurácia é sempre 50%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a nota varia conforme a sorte do corte; a solução é a média de vários cortes (validação cruzada)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não se deve usar teste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corte pode ser fácil ou difícil — a estimativa tem variância. A validação cruzada tira a média de vários cortes.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Em cross_val_score(modelo, X, y, cv=5), quem define o que é treino e o que é teste?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você, separando as linhas à mão antes de chamar a função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cv=5: ele corta o X, y em 5 pedaços e faz o rodízio automaticamente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modelo, durante o fit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preciso passar dois conjuntos X_treino e X_teste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19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2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Em cross_val_score(modelo, X, y, cv=5), quem define o que é treino e o que é teste?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você, separando as linhas à mão antes de chamar a função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cv=5: ele corta o X, y em 5 pedaços e faz o rodízio automaticamente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modelo, durante o fit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preciso passar dois conjuntos X_treino e X_teste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cv=5 faz o rodízio sozinho: em cada rodada, 1 pedaço é teste e os outros 4 são treino.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O X, y que você passa para o cross_val_score deve: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apenas o bloco de treino/validação — o teste final fica separado e é tocado uma vez no fim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a base inteira, incluindo o teste final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conter só a classe positiva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estar padronizado com o conjunto todo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3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O X, y que você passa para o cross_val_score deve: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apenas o bloco de treino/validação — o teste final fica separado e é tocado uma vez no fim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a base inteira, incluindo o teste final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conter só a classe positiva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estar padronizado com o conjunto todo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validação cruzada acontece dentro do treino. O teste final guardado não entra no cross_val_score.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Um 5-fold deu as acurácias [0,80; 0,90; 0,70; 0,85; 0,75]. A média é: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0,85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4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Um 5-fold deu as acurácias [0,80; 0,90; 0,70; 0,85; 0,75]. A média é: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0,78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0,80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(0,80+0,90+0,70+0,85+0,75)/5 = 4,00/5 = 0,80.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O resultado honesto de uma validação cruzada é: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nota entre as dobras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da primeira dobra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das dobras E o desvio-padrão (média ± desvio)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número, sem desvio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5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O resultado honesto de uma validação cruzada é: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nota entre as dobras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da primeira dobra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das dobras E o desvio-padrão (média ± desvio)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número, sem desvio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Reporta-se a média (desempenho esperado) e o desvio (o quanto oscila entre os cortes).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O StratifiedKFold serve para: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o treino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as variáveis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embaralhar melhor as linhas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mesma proporção das classes em cada dobra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6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O StratifiedKFold serve para: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acelerar o treino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padronizar as variáveis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embaralhar melhor as linhas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 mesma proporção das classes em cada dobra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estratificar, um sorteio pode deixar uma dobra sem a classe rara. O estratificado mantém a proporção em CADA dobra.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Você tem 100 exemplos, mas só 3 positivos, e quer 5 dobras estratificadas (k=5). O que acontece?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funciona: o StratifiedKFold cria positivos sintéticos para completar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2 dobras ficam sem nenhum positivo — k não pode passar do nº de positivos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fica mais preciso por ter classe rara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 vira sempre 100%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29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7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Você tem 100 exemplos, mas só 3 positivos, e quer 5 dobras estratificadas (k=5). O que acontece?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funciona: o StratifiedKFold cria positivos sintéticos para completar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pelo menos 2 dobras ficam sem nenhum positivo — k não pode passar do nº de positivos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fica mais preciso por ter classe rara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acurácia vira sempre 100%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Estratificar não cria positivos. Regra: k ≤ nº da classe mais rara. Saída: baixar o k ou usar RepeatedStratifiedKFold.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O Leave-One-Out (LOO) é: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k-fold levado ao extremo, com k = n: cada exemplo, sozinho, é o teste uma vez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k-fold que usa sempre k=2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testar no mesmo conjunto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1 exemplo e ignorar o resto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8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8) O Leave-One-Out (LOO) é: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k-fold levado ao extremo, com k = n: cada exemplo, sozinho, é o teste uma vez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k-fold que usa sempre k=2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treinar e testar no mesmo conjunto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1 exemplo e ignorar o resto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n exemplos, o LOO faz n rodadas; em cada uma treina com n−1 e testa em 1. É o k-fold com k = n.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9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Uma consequência prática do LOO (n=10 exemplos) é: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apenas 2 treinos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 testa 5 exemplos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10 treinos e a nota de cada rodada é 0 ou 1 (teste de 1 exemplo) — só a média faz sentido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treinar o modelo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9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9) Uma consequência prática do LOO (n=10 exemplos) é: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apenas 2 treinos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rodada testa 5 exemplos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10 treinos e a nota de cada rodada é 0 ou 1 (teste de 1 exemplo) — só a média faz sentido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treinar o modelo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 aproveita o máximo do dado, mas custa n treinos e cada rodada mede em 1 ponto (acertou/errou).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10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O RepeatedKFold (k-fold repetido) faz: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o número de dobras dentro de uma rodada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o k-fold várias vezes, com sorteios diferentes, e tira a média de todas as notas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mesmo sorteio toda vez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os exemplos difíceis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10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10) O RepeatedKFold (k-fold repetido) faz: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o número de dobras dentro de uma rodada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repete o k-fold várias vezes, com sorteios diferentes, e tira a média de todas as notas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mesmo sorteio toda vez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os exemplos difíceis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Ex.: 5-fold repetido 3× = 15 notas. Repetir e mediar reduz o efeito da sorte de um único sorteio.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11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11) Vários exames do mesmo paciente caem no treino E no teste. O que acontece?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problema algum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fica maior que o treino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 melhor a doença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"decora" o paciente e acerta por reconhecê-lo — nota inflada que some com pacientes novos</a:t>
            </a:r>
            <a:endParaRPr lang="en-US" sz="1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11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11) Vários exames do mesmo paciente caem no treino E no teste. O que acontece?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há problema algum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fica maior que o treino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aprende melhor a doença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"decora" o paciente e acerta por reconhecê-lo — nota inflada que some com pacientes novos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pela identidade do grupo: o modelo reconhece a PESSOA, não o padrão. Em produção chegam pacientes novos.</a:t>
            </a:r>
            <a:endParaRPr lang="en-US" sz="12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38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12) O GroupKFold resolve isso porque: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todas as linhas de um mesmo grupo fiquem do mesmo lado (treino OU teste)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os grupos com poucas linhas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 cada grupo separadamente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um modelo por grupo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39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12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12) O GroupKFold resolve isso porque: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que todas as linhas de um mesmo grupo fiquem do mesmo lado (treino OU teste)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os grupos com poucas linhas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 cada grupo separadamente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 um modelo por grupo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Passando groups=id, o grupo inteiro vai para um lado só. Use com repetição por pessoa/loja/sensor.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13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13) Quando os dados têm data, a divisão correta é: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tempo: treinar no passado e testar no futuro (não sortear as linhas)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aleatoriamente como sempre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no passado e treinar no futuro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só o mês mais recente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13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13) Quando os dados têm data, a divisão correta é: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tempo: treinar no passado e testar no futuro (não sortear as linhas)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aleatoriamente como sempre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no passado e treinar no futuro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só o mês mais recente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no tempo coloca o futuro no treino (vazamento temporal). Corte por data.</a:t>
            </a:r>
            <a:endParaRPr lang="en-US" sz="12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14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14) Relação entre segurar 2016–2021 como teste (treino 2000–2015) e o TimeSeriesSplit?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coisas sem relação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TimeSeriesSplit sorteia as datas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é um hold-out temporal (1 corte); o TimeSeriesSplit é isso repetido em vários cortes, dando uma média mais estável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hold-out temporal usa o futuro no treino</a:t>
            </a:r>
            <a:endParaRPr lang="en-US" sz="1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14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14) Relação entre segurar 2016–2021 como teste (treino 2000–2015) e o TimeSeriesSplit?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coisas sem relação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TimeSeriesSplit sorteia as datas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primeiro é um hold-out temporal (1 corte); o TimeSeriesSplit é isso repetido em vários cortes, dando uma média mais estável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hold-out temporal usa o futuro no treino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TimeSeriesSplit é o hold-out temporal repetido, andando no tempo. Os dois só estimam; depois re-treina-se com tudo.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15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15) Por que rodar a validação cruzada DENTRO de um Pipeline?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 menos memória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escolher o k sozinho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remover valores ausentes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pré-processamento se refaz em cada dobra, só com o treino daquela dobra — sem vazar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15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15) Por que rodar a validação cruzada DENTRO de um Pipeline?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usar menos memória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escolher o k sozinho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remover valores ausentes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o pré-processamento se refaz em cada dobra, só com o treino daquela dobra — sem vazar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Pipeline garante que o fit do scaler/imputer use apenas o treino de cada divisão.</a:t>
            </a:r>
            <a:endParaRPr lang="en-US" sz="12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16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16) Padronizar (StandardScaler) usando o conjunto INTEIRO antes da validação cruzada é: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— a média/desvio incluem os dados que serão teste em cada dobra, inflando a nota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recomendada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irrelevante para o resultado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para o k-fold funcionar</a:t>
            </a:r>
            <a:endParaRPr lang="en-US" sz="1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28232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06 - Consultoria Especializada em Ciência de Dados 1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8488375" y="64282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08/09/2026    ·    47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457200"/>
            <a:ext cx="110029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23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Questão 16 — resposta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058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16) Padronizar (StandardScaler) usando o conjunto INTEIRO antes da validação cruzada é: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39572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58952" y="255117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F766E"/>
          </a:solidFill>
          <a:ln w="1587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58952" y="25511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44168" y="239572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vazamento — a média/desvio incluem os dados que serão teste em cada dobra, inflando a nota</a:t>
            </a: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✓ correta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1868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58952" y="337413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58952" y="33741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44168" y="321868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recomendada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04164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58952" y="419709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58952" y="4197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44168" y="404164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irrelevante para o resultado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" y="4864608"/>
            <a:ext cx="11002975" cy="731520"/>
          </a:xfrm>
          <a:prstGeom prst="roundRect">
            <a:avLst>
              <a:gd name="adj" fmla="val 1125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58952" y="50200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5875">
            <a:solidFill>
              <a:srgbClr val="D8E3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58952" y="5020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44168" y="4864608"/>
            <a:ext cx="9997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para o k-fold funcionar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4360" y="5596128"/>
            <a:ext cx="11002975" cy="749808"/>
          </a:xfrm>
          <a:prstGeom prst="roundRect">
            <a:avLst>
              <a:gd name="adj" fmla="val 10976"/>
            </a:avLst>
          </a:prstGeom>
          <a:solidFill>
            <a:srgbClr val="E9F5F3"/>
          </a:solidFill>
          <a:ln/>
          <a:effectLst>
            <a:outerShdw blurRad="88900" dist="38100" dir="5400000" algn="bl" rotWithShape="0">
              <a:srgbClr val="9CB4B0">
                <a:alpha val="2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914400" y="5596128"/>
            <a:ext cx="103628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B5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  </a:t>
            </a: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certo é o fit do pré-processamento só no treino de cada dobra (via Pipeline). No todo, a informação do teste vaza.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A52186506F641B6D0943FD8590E16" ma:contentTypeVersion="3" ma:contentTypeDescription="Crie um novo documento." ma:contentTypeScope="" ma:versionID="892c9e91ca2da4b656e9e1873602cb98">
  <xsd:schema xmlns:xsd="http://www.w3.org/2001/XMLSchema" xmlns:xs="http://www.w3.org/2001/XMLSchema" xmlns:p="http://schemas.microsoft.com/office/2006/metadata/properties" xmlns:ns2="4619301c-9bea-416d-958d-6c0d9dcf89c5" targetNamespace="http://schemas.microsoft.com/office/2006/metadata/properties" ma:root="true" ma:fieldsID="8b2a4b9bb00df620f25170aaf9638c53" ns2:_="">
    <xsd:import namespace="4619301c-9bea-416d-958d-6c0d9dcf89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19301c-9bea-416d-958d-6c0d9dcf89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93EA61A-A142-48AC-AC10-10EC0265BBDC}"/>
</file>

<file path=customXml/itemProps2.xml><?xml version="1.0" encoding="utf-8"?>
<ds:datastoreItem xmlns:ds="http://schemas.openxmlformats.org/officeDocument/2006/customXml" ds:itemID="{555F1830-CABA-4994-B3D1-71A49613301A}"/>
</file>

<file path=customXml/itemProps3.xml><?xml version="1.0" encoding="utf-8"?>
<ds:datastoreItem xmlns:ds="http://schemas.openxmlformats.org/officeDocument/2006/customXml" ds:itemID="{48C5CE69-4B34-42A6-B145-D3EEC60621A2}"/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4189</Words>
  <Application>Microsoft Office PowerPoint</Application>
  <PresentationFormat>Widescreen</PresentationFormat>
  <Paragraphs>622</Paragraphs>
  <Slides>49</Slides>
  <Notes>49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Cambria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Giovani Giulio</cp:lastModifiedBy>
  <cp:revision>2</cp:revision>
  <dcterms:created xsi:type="dcterms:W3CDTF">2026-09-08T09:05:33Z</dcterms:created>
  <dcterms:modified xsi:type="dcterms:W3CDTF">2026-09-08T10:52:16Z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0x010100D00A52186506F641B6D0943FD8590E16</vt:lpwstr>
  </property>
</Properties>
</file>