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3" r:id="rId17"/>
    <p:sldId id="284" r:id="rId18"/>
    <p:sldId id="273" r:id="rId19"/>
    <p:sldId id="285" r:id="rId20"/>
    <p:sldId id="274" r:id="rId21"/>
    <p:sldId id="275" r:id="rId22"/>
    <p:sldId id="276" r:id="rId23"/>
    <p:sldId id="277" r:id="rId24"/>
    <p:sldId id="278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5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797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15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9659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VALIDAÇÃO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146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cruzada: do rodízio ao esquema certo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7033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k-fold, estratificação, grupos e tempo — sem vazamento (Aulas 06 e 07 juntas)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viemos: um corte só é jogar a moeda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05 vimos: avaliar com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divisão treino/teste</a:t>
            </a: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depende da sorte do corte — a nota balança. Hoje resolvemos isso.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(recap)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modelo, mesma base: só mudando a semente do corte, a acurácia vai de 0,82 a 0,76.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 hoje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UM corte, fazer VÁRIOS, testar em cada um e tirar a média — estimativa estável.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mais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esquema certo (estratificado, por grupo, temporal) e usá-lo sem vazamento (Pipeline).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o desempenho de um modelo de forma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e honesta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a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escolher o esquema adequado a cada tipo de dado.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k-fold: o rodízio que aproveita todo o dado.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esquema certo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estratificado, por grupo e temporal.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vazar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com Pipeline e Nested CV.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26680" y="3154680"/>
            <a:ext cx="3886200" cy="2743200"/>
          </a:xfrm>
          <a:prstGeom prst="roundRect">
            <a:avLst>
              <a:gd name="adj" fmla="val 3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019288" y="34472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ANALOGIA DE HOJE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3950208"/>
            <a:ext cx="33009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em vários dias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julgar um aluno por uma prova só é injusto (dia bom/ruim). Média de várias provas é mais justa.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cruzada é isso com os dados.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Aula 05 (hold-out) para a estimativa estável: trocar a sorte de um corte pela média de vários.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k-fold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rodízio que aproveita todo o dado.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divisão só engana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0180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corte, você tem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ele tem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um teste 'fácil' infla, um 'difícil' derruba.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7315200" cy="22860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semente do corte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 no teste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38160" y="27432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430768" y="30358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30768" y="3538728"/>
            <a:ext cx="28895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modelo, mesmo dado.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mudou o sorteio.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desses é o desempenho 'de verdade'? Nenhum — é preciso a MÉDIA.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cruzada troca esse número único pela média de vários cortes.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k-fold: o rodízio</a:t>
            </a:r>
            <a:endParaRPr lang="en-US" sz="2700" dirty="0"/>
          </a:p>
        </p:txBody>
      </p:sp>
      <p:pic>
        <p:nvPicPr>
          <p:cNvPr id="5" name="Image 0" descr="fig_cv/f_k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417320"/>
            <a:ext cx="74066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 dado em k pedaços iguais. Em cada rodada, um pedaço é TESTE e os outros k−1 são TREINO. Todo dado é testado uma vez — e treinado k−1 vezes.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na mão (k = 5)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Rodamos 5 vezes; cada rodada dá uma acurácia. O resultado é a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desvio-padrão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delas.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06040"/>
          <a:ext cx="1100023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4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4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4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94360" y="33832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914400" y="352958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82219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= (0,80+0,90+0,70+0,85+0,75)/5 = 0,80   ·   desvio ≈ 0,07   →   0,80 ± 0,07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Reporta-se SEMPRE os dois: a média (o desempenho esperado) e o desvio (o quanto ele oscila entre os cortes).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validação cruzada entrega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estável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de k cortes varia muito menos que um corte só.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incerteza, de brinde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desvio-padrão diz se o modelo é consistente ou instável entre os cortes.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dado é aproveitado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exemplo serve de teste uma vez e de treino k−1 vezes — importante com pouco dado.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 comparar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 com a mesma CV: quem tem média melhor (e desvio parecido) vence.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o 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pequeno (ex.: 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5 treinos; teste de 20% cada.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menor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vê 80% dos dados.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equilíbrio para a maioria dos casos.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grande (ex.: 10)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maior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vê 90% — estimativa menos enviesada.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caro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treinos; e o desvio entre dobras pode subir.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dado suficiente e você quer capricho.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k = 5 ou 10. Muito dado → 5 já basta; pouco dado → 10 (ou LOO) aproveita mais.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no scikit-learn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02975" cy="2286000"/>
          </a:xfrm>
          <a:prstGeom prst="roundRect">
            <a:avLst>
              <a:gd name="adj" fmla="val 360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71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cross_val_score, KFold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cross_val_score(modelo, X, y, cv=5, scoring="accuracy")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# [0.80 0.90 0.70 0.85 0.75]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print(scores.mean(), scores.std())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0.80  0.07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cv=5 faz o rodízio sozinho. O resultado honesto é média ± desvio — nunca um número solto.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define treino e teste? O cv, sozinho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separa nada à mão: o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cv=5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corta o X, y em 5 pedaços e faz o rodízio automaticamente.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51760"/>
          <a:ext cx="11002975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5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2, 3, 4,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3, 4,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2, 4,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2, 3,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2, 3,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X, y é só o bloco de treino/validação — o teste final fica SEPARADO e é tocado uma única vez no fim.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esquema certo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dado pode ser sorteado.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StratifiedKFold: preserva as classes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classe é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 sorteio pode deixar uma dobra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nenhum positivo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métrica quebra.</a:t>
            </a:r>
            <a:endParaRPr lang="en-US" sz="1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51760"/>
          <a:ext cx="11000232" cy="164592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exemplos, 10 positivos (10%)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dobra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dobra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dobra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dobra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dobra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k-fold aleatório: positivos na dobra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StratifiedKFold: positivos na dobra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estratificado mantém a proporção (10%) em CADA dobra → recall/precisão fazem sentido em todas. Em classificação, é o padrão.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quando a classe rara é rara demais?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Estratificar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cria positivos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só distribui os que existem. Logo,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não pode passar do nº de positivos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788920"/>
            <a:ext cx="5318608" cy="3200400"/>
          </a:xfrm>
          <a:prstGeom prst="roundRect">
            <a:avLst>
              <a:gd name="adj" fmla="val 2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Funciona: 8 positivos, k=5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67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÷ 5 ≈ 1,6 por dobra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2, 2, 2, 1, 1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dobra tem positivo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recall/precisão fazem sentido em todas.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78728" y="2788920"/>
            <a:ext cx="5318608" cy="3200400"/>
          </a:xfrm>
          <a:prstGeom prst="roundRect">
            <a:avLst>
              <a:gd name="adj" fmla="val 257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98768" y="30632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Quebra: 3 positivos, k=5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3703320"/>
            <a:ext cx="467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positivos para 5 dobras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dobras ficam com ZERO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indefinida (0/0).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o k (k=3 → 1 por dobra) ou use RepeatedStratifiedKFold.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bolso: k ≤ nº de exemplos da classe mais rara. Com 1 só positivo, nem k=2 dá — precisa de mais dado.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6597" y="393192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Leave-one-out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10683240" cy="1261872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973836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Leave-One-Out (LOO)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447038"/>
            <a:ext cx="64465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— 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pouquíssimos dados — aproveita ao máximo.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— 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treinos; caro e com estimativa 'nervosa'.</a:t>
            </a:r>
            <a:endParaRPr lang="en-US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0FFFCAE2-5FEE-896E-CB66-506F9CAF8AF0}"/>
              </a:ext>
            </a:extLst>
          </p:cNvPr>
          <p:cNvSpPr/>
          <p:nvPr/>
        </p:nvSpPr>
        <p:spPr>
          <a:xfrm>
            <a:off x="502920" y="2544318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 × k-fold, na mão (n = 10)</a:t>
            </a:r>
            <a:endParaRPr lang="en-US" sz="27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02C12878-ABE0-6CA4-62CD-595E5DAD6A2C}"/>
              </a:ext>
            </a:extLst>
          </p:cNvPr>
          <p:cNvSpPr/>
          <p:nvPr/>
        </p:nvSpPr>
        <p:spPr>
          <a:xfrm>
            <a:off x="502921" y="3041523"/>
            <a:ext cx="11002975" cy="371475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167ED156-788C-5805-32B5-FCD8D09E858C}"/>
              </a:ext>
            </a:extLst>
          </p:cNvPr>
          <p:cNvSpPr/>
          <p:nvPr/>
        </p:nvSpPr>
        <p:spPr>
          <a:xfrm>
            <a:off x="731520" y="3080385"/>
            <a:ext cx="1018001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é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com k = n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exemplo, sozinho, vira teste uma vez.</a:t>
            </a:r>
            <a:endParaRPr lang="en-US" sz="170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CD3530CA-0C77-997C-E6D7-34621767CD5D}"/>
              </a:ext>
            </a:extLst>
          </p:cNvPr>
          <p:cNvSpPr/>
          <p:nvPr/>
        </p:nvSpPr>
        <p:spPr>
          <a:xfrm>
            <a:off x="483716" y="3632454"/>
            <a:ext cx="5318608" cy="1965960"/>
          </a:xfrm>
          <a:prstGeom prst="roundRect">
            <a:avLst>
              <a:gd name="adj" fmla="val 2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A52AD020-B0A2-CC03-9E90-30A34A22CDF8}"/>
              </a:ext>
            </a:extLst>
          </p:cNvPr>
          <p:cNvSpPr/>
          <p:nvPr/>
        </p:nvSpPr>
        <p:spPr>
          <a:xfrm>
            <a:off x="803756" y="390677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(k = 5)</a:t>
            </a:r>
            <a:endParaRPr lang="en-US" sz="180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6F07EC0E-DAC6-A92B-0584-8768388E029F}"/>
              </a:ext>
            </a:extLst>
          </p:cNvPr>
          <p:cNvSpPr/>
          <p:nvPr/>
        </p:nvSpPr>
        <p:spPr>
          <a:xfrm>
            <a:off x="803756" y="4546854"/>
            <a:ext cx="46785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rodadas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= 2 exemplos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= 8.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modelos, 5 notas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nota já mede em 2 pontos → mais estável.</a:t>
            </a:r>
            <a:endParaRPr lang="en-US" sz="145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5FC0B233-713F-73E7-7C0A-EA54F33F5421}"/>
              </a:ext>
            </a:extLst>
          </p:cNvPr>
          <p:cNvSpPr/>
          <p:nvPr/>
        </p:nvSpPr>
        <p:spPr>
          <a:xfrm>
            <a:off x="6168084" y="3632454"/>
            <a:ext cx="5318608" cy="2114550"/>
          </a:xfrm>
          <a:prstGeom prst="roundRect">
            <a:avLst>
              <a:gd name="adj" fmla="val 257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82892F0C-A669-C26D-0AFE-050B112406AD}"/>
              </a:ext>
            </a:extLst>
          </p:cNvPr>
          <p:cNvSpPr/>
          <p:nvPr/>
        </p:nvSpPr>
        <p:spPr>
          <a:xfrm>
            <a:off x="6488124" y="390677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Leave-One-Out (k = 10)</a:t>
            </a:r>
            <a:endParaRPr lang="en-US" sz="180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A6FF8ED9-2BA5-E2C1-AA51-D041D44A2D41}"/>
              </a:ext>
            </a:extLst>
          </p:cNvPr>
          <p:cNvSpPr/>
          <p:nvPr/>
        </p:nvSpPr>
        <p:spPr>
          <a:xfrm>
            <a:off x="6488124" y="4546854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rodadas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= 1 exemplo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= 9.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modelos, 10 notas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nota é 0 ou 1 — só a média faz sentido.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repetida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37210" y="123444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57250" y="150876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RepeatedKFold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14884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o k-fold várias vezes, com sorteios diferentes.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de repetições reduz o efeito da sorte de UM sorteio.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quer uma estimativa ainda mais estável.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287024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RepeatedKFold, na mão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RepeatedKFold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roda o k-fold várias vezes, cada vez com um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 diferente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tira a média de TODAS as notas.</a:t>
            </a:r>
            <a:endParaRPr lang="en-US" sz="1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94360" y="2606040"/>
          <a:ext cx="11002975" cy="18288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repetição (sorteio diferente)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5 notas do k-fold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repetição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 · 0,90 · 0,70 · 0,85 · 0,75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repetição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 · 0,80 · 0,75 · 0,90 · 0,85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repetição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 · 0,80 · 0,80 · 0,70 · 0,85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43434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914400" y="448970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78231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das 15 notas = 0,80   ·   sem repetir, você poderia ter ficado com 0,78 ou 0,83 — só pela sorte do sorteio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repetido 3× = 15 notas. Uma repetição só balança (0,78 a 0,83); repetir e mediar espreme a sorte e firma a estimativa.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GroupKFold: o grupo inteiro de um lado só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6362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linhas de um mesmo grupo ficam JUNTAS — ou todas no treino, ou todas no teste, nunca dos dois lados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11002975" cy="1828800"/>
          </a:xfrm>
          <a:prstGeom prst="roundRect">
            <a:avLst>
              <a:gd name="adj" fmla="val 450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10271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GroupKFold, cross_val_score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gkf = GroupKFold(n_splits=5)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cross_val_score(modelo, X, y, cv=gkf, groups=paciente)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'groups' = o id do grupo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sempre que houver repetição por pessoa/loja/sensor. Sem isso, a acurácia parece ótima e desaba na vida real.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do GRUPO: o modelo decora a pessoa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exames de 3 pacientes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de cada). O sorteio aleatório manda exames do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paciente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os dois lados.</a:t>
            </a:r>
            <a:endParaRPr lang="en-US" sz="1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94360" y="2697480"/>
          <a:ext cx="6309360" cy="281635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 ← P1 já visto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 ← P2 já visto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 ← P3 já visto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2697480"/>
            <a:ext cx="3703320" cy="2697480"/>
          </a:xfrm>
          <a:prstGeom prst="roundRect">
            <a:avLst>
              <a:gd name="adj" fmla="val 305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156448" y="29900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DENUNCIA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56448" y="3493008"/>
            <a:ext cx="31181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0,95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ótimo.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NOVO (P9): 0,68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desaba na vida real.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decorou QUEM, não a doença.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 chegam SEMPRE pacientes novos. O teste tem de imitar isso — nenhum paciente dos dois lados. É o vazamento da Aula 05, pela identidade do grupo.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tempo: por que o aleatório vaza o futuro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188720"/>
          </a:xfrm>
          <a:prstGeom prst="roundRect">
            <a:avLst>
              <a:gd name="adj" fmla="val 6923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data, sortear as linhas coloca 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 no treino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modelo 'vê' o que ainda não aconteceu (vazamento temporal, da Aula 05).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aleatório mistura datas: treina com dezembro para prever novembro.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por tempo: treinar sempre no passado e testar no futuro.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esquema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— janelas que crescem no tempo.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TimeSeriesSplit: treina no passado, testa no futuro</a:t>
            </a:r>
            <a:endParaRPr lang="en-US" sz="2700" dirty="0"/>
          </a:p>
        </p:txBody>
      </p:sp>
      <p:pic>
        <p:nvPicPr>
          <p:cNvPr id="5" name="Image 0" descr="fig_cv/f_ts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417320"/>
            <a:ext cx="740664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rodada o treino cresce (passado) e o teste é o próximo trecho (futuro). Nunca se testa em algo anterior ao treino.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corte temporal ou vários?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2000–2015 e segurar 2016–2021 é um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temporal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TimeSeriesSplit com um corte só.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788920"/>
            <a:ext cx="5318608" cy="3200400"/>
          </a:xfrm>
          <a:prstGeom prst="roundRect">
            <a:avLst>
              <a:gd name="adj" fmla="val 2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Hold-out temporal (1 corte)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67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2000–2015 · teste 2016–2021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estimativa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barata e realista.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2016–2021 pode ser um período atípico → a nota depende da sorte daquele pedaço.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78728" y="2788920"/>
            <a:ext cx="5318608" cy="3200400"/>
          </a:xfrm>
          <a:prstGeom prst="roundRect">
            <a:avLst>
              <a:gd name="adj" fmla="val 257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98768" y="30632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TimeSeriesSplit (vários)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3703320"/>
            <a:ext cx="467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passado, testa o próximo trecho — repetido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estimativas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mais estável; testa épocas diferentes.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'sobra' de dado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mais antigos nunca são teste — é inerente ao tempo, não desperdício.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só ESTIMAM. Aprovado o modelo, re-treine com TODOS os dados (2000–2021) para colocar em produção e prever 2022.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sem vazar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dentro da CV e a maldição do vencedor.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com Pipeline (o certo)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pré-processamento (padronizar, imputar) tem de ser refeito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dobra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só com o treino daquela dobra.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11002975" cy="1828800"/>
          </a:xfrm>
          <a:prstGeom prst="roundRect">
            <a:avLst>
              <a:gd name="adj" fmla="val 450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10271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Pipeline([("prep", StandardScaler()), ("clf", modelo)])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cross_val_score(pipe, X, y, cv=5)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o fit do scaler acontece SÓ no treino de cada dobra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Pipeline, padronizar antes da CV usa as médias do teste → vazamento e nota otimista (recap da Aula 05).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esquema usar? Tabela de decisão</a:t>
            </a:r>
            <a:endParaRPr lang="en-US" sz="2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91297"/>
              </p:ext>
            </p:extLst>
          </p:nvPr>
        </p:nvGraphicFramePr>
        <p:xfrm>
          <a:off x="594360" y="1691640"/>
          <a:ext cx="11000232" cy="3968496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do dado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(padrão)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a proporção das classes em cada dobra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/ dado comum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KFold (k=5 ou 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rodízio simples já basta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Repetição por pessoa/loja/sensor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GroupKFold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grupo inteiro de um lado só (sem vazar)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com data (série temporal)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TimeSeriesSplit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 no passado, testa no futuro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Pouquíssimos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 / RepeatedKFold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aproveita ao máximo cada exemplo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 boas práticas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um corte só (sem CV).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Padronizar/imputar antes da CV (vaza).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aleatório com grupos ou com tempo.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e medir na mesma CV.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desvio-padrão.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com k=5/10; estratificado em classificação.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dentro de um Pipeline.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com repetição; TimeSeriesSplit com data.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 ao ajustar hiperparâmetros.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média ± desvio.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próxima: busca de hiperparâmetros (grid/random search) — que vive DENTRO da validação cruzada.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DE3798-55EC-4E59-85A2-59BE66EE7A6E}"/>
</file>

<file path=customXml/itemProps2.xml><?xml version="1.0" encoding="utf-8"?>
<ds:datastoreItem xmlns:ds="http://schemas.openxmlformats.org/officeDocument/2006/customXml" ds:itemID="{FEBFB70D-DD86-4D97-8554-F975049541C8}"/>
</file>

<file path=customXml/itemProps3.xml><?xml version="1.0" encoding="utf-8"?>
<ds:datastoreItem xmlns:ds="http://schemas.openxmlformats.org/officeDocument/2006/customXml" ds:itemID="{4F84713B-8367-4668-9104-FC6299717BCB}"/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2601</Words>
  <Application>Microsoft Office PowerPoint</Application>
  <PresentationFormat>Widescreen</PresentationFormat>
  <Paragraphs>344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Giovani Giulio</cp:lastModifiedBy>
  <cp:revision>4</cp:revision>
  <dcterms:created xsi:type="dcterms:W3CDTF">2026-09-06T04:44:57Z</dcterms:created>
  <dcterms:modified xsi:type="dcterms:W3CDTF">2026-09-08T11:08:25Z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