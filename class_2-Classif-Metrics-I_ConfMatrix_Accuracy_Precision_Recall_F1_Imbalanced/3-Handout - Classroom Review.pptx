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9" r:id="rId5"/>
    <p:sldId id="260" r:id="rId6"/>
    <p:sldId id="261" r:id="rId7"/>
    <p:sldId id="262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80" r:id="rId18"/>
    <p:sldId id="274" r:id="rId19"/>
    <p:sldId id="281" r:id="rId20"/>
    <p:sldId id="275" r:id="rId21"/>
    <p:sldId id="282" r:id="rId22"/>
    <p:sldId id="276" r:id="rId23"/>
    <p:sldId id="283" r:id="rId24"/>
    <p:sldId id="277" r:id="rId25"/>
    <p:sldId id="284" r:id="rId26"/>
    <p:sldId id="278" r:id="rId27"/>
    <p:sldId id="285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524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D076-AE04-251E-6584-3EDA600A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C78DF-BF5B-AC69-ACB4-BA1D9C0DD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79858-1A63-4E8E-4E0C-A0072E982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088A3-74AF-4DA2-F3D9-475AFEBCA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04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B6D7-4867-98FE-4CCC-774D8649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ECEF7-8F53-1886-48CD-27D362A98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137A6-1B7D-FC0B-3200-D8F7BBEA1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EE2AD-F481-8FF1-F1D0-2BB4611B0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94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F792-E307-C26D-0188-045F988E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2196C-5A3A-A56E-54AC-A35A0BA07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6351B-6F7E-210E-30A0-D3109F568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F63B7-9417-AB11-7CF5-236351B49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92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3404-D755-B865-29CD-DB9A0B40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B6310-0475-5531-D05D-19E5F4428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B6188-7AD5-E72A-FA92-5AD71B938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EEE6-B9CB-4BBD-03D9-3B2F95359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7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8975-7DAC-4B50-218D-D238F73B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4D305-3A3E-3740-9C7C-6A3D6E044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7D564-35FD-2B7A-3C16-103FB12CB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99CB9-A37B-53BA-2D58-0BF889CEB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392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3258-A547-B1DF-C893-FC69DAFE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53389-5902-3A28-D887-635946ED9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361A9-D595-DEEE-EB47-010561459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8EAE2-20BD-4EB2-5851-B382A392C2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254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BF4D-16B8-A4D0-2F5B-5FC2CF63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9B818-143D-0A73-DE16-85EC5CA18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83E03-D69A-1F80-2060-D92A09B1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DE351-EDE1-71F3-11AE-2C2765A46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AULA 02 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94360" y="44805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· 11/08/2026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revisar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dúvidas ficaram: o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precisão/recall e a relação entre a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harmônica (F1)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do limiar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DE HOJE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O trade-off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precisão e recall puxam para lados opostos.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O limiar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ao baixar ou subir o corte de decisão.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— F1 e a média harmônica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ela pune o desequilíbrio.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questões do formulário, com o porquê.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26680" y="3200400"/>
            <a:ext cx="3886200" cy="2697480"/>
          </a:xfrm>
          <a:prstGeom prst="roundRect">
            <a:avLst>
              <a:gd name="adj" fmla="val 305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019288" y="34930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3995928"/>
            <a:ext cx="33009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métrica perfeita.</a:t>
            </a:r>
            <a:endParaRPr lang="en-US" sz="14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limiar e a métrica é uma decisão que depende do custo do erro.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limiar</a:t>
            </a: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o trade-off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recall puxam para lados opostos.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0BAE2-CECF-D9D3-7160-3A019B7A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860292-3972-01C5-AEC7-831633720B65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C2E452-E68F-E755-EF81-E3CCF6CFEDA4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5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7FEC95-9B3A-953F-ED55-ECDB206E59D9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trade-off, visualmente</a:t>
            </a:r>
            <a:endParaRPr lang="en-US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4FAE765-1224-DF2B-93D0-957B2D99E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0197"/>
            <a:ext cx="12192000" cy="427760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38BBBCF-5692-B290-36F3-0F0F22CCD848}"/>
              </a:ext>
            </a:extLst>
          </p:cNvPr>
          <p:cNvSpPr txBox="1"/>
          <p:nvPr/>
        </p:nvSpPr>
        <p:spPr>
          <a:xfrm>
            <a:off x="594360" y="5513270"/>
            <a:ext cx="631742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5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recall</a:t>
            </a:r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5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recall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4900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trade-off, visualmente</a:t>
            </a:r>
            <a:endParaRPr lang="en-US" sz="2800" dirty="0"/>
          </a:p>
        </p:txBody>
      </p:sp>
      <p:pic>
        <p:nvPicPr>
          <p:cNvPr id="5" name="Image 0" descr="figuras_rev02/f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6126480" cy="3291840"/>
          </a:xfrm>
          <a:prstGeom prst="rect">
            <a:avLst/>
          </a:prstGeom>
        </p:spPr>
      </p:pic>
      <p:pic>
        <p:nvPicPr>
          <p:cNvPr id="8" name="Picture 2" descr="f1_matriz_esquema.png">
            <a:extLst>
              <a:ext uri="{FF2B5EF4-FFF2-40B4-BE49-F238E27FC236}">
                <a16:creationId xmlns:a16="http://schemas.microsoft.com/office/drawing/2014/main" id="{F9B1835B-3F19-85B3-4C4F-B1828CF0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751" y="73779"/>
            <a:ext cx="4304249" cy="2687081"/>
          </a:xfrm>
          <a:prstGeom prst="rect">
            <a:avLst/>
          </a:prstGeom>
        </p:spPr>
      </p:pic>
      <p:sp>
        <p:nvSpPr>
          <p:cNvPr id="10" name="Shape 3">
            <a:extLst>
              <a:ext uri="{FF2B5EF4-FFF2-40B4-BE49-F238E27FC236}">
                <a16:creationId xmlns:a16="http://schemas.microsoft.com/office/drawing/2014/main" id="{DC52F3A0-4BDA-2C2A-FE13-C051A18B1D8F}"/>
              </a:ext>
            </a:extLst>
          </p:cNvPr>
          <p:cNvSpPr/>
          <p:nvPr/>
        </p:nvSpPr>
        <p:spPr>
          <a:xfrm>
            <a:off x="7887750" y="4397636"/>
            <a:ext cx="2449987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060587F-FBA4-A4E1-E48F-0CEC3973AE95}"/>
              </a:ext>
            </a:extLst>
          </p:cNvPr>
          <p:cNvSpPr/>
          <p:nvPr/>
        </p:nvSpPr>
        <p:spPr>
          <a:xfrm>
            <a:off x="8001602" y="4562228"/>
            <a:ext cx="26305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</a:t>
            </a:r>
            <a:r>
              <a:rPr lang="en-US" sz="11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</a:t>
            </a:r>
            <a:r>
              <a:rPr lang="en-US" sz="1100" b="1" dirty="0" err="1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acertei</a:t>
            </a:r>
            <a:r>
              <a:rPr lang="en-US" sz="11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os </a:t>
            </a:r>
            <a:r>
              <a:rPr lang="en-US" sz="1100" b="1" dirty="0" err="1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alarmes</a:t>
            </a:r>
            <a:r>
              <a:rPr lang="en-US" sz="11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?'</a:t>
            </a:r>
            <a:endParaRPr lang="en-US" sz="11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0199E1D-B0F5-A85B-E1FA-76355A0E7023}"/>
              </a:ext>
            </a:extLst>
          </p:cNvPr>
          <p:cNvSpPr/>
          <p:nvPr/>
        </p:nvSpPr>
        <p:spPr>
          <a:xfrm>
            <a:off x="8001602" y="4854836"/>
            <a:ext cx="20576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FP)</a:t>
            </a:r>
            <a:endParaRPr lang="en-US" sz="20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5E76D543-7B43-361E-89DE-A5CCADFAFF2E}"/>
              </a:ext>
            </a:extLst>
          </p:cNvPr>
          <p:cNvSpPr/>
          <p:nvPr/>
        </p:nvSpPr>
        <p:spPr>
          <a:xfrm>
            <a:off x="7887751" y="2563950"/>
            <a:ext cx="3237449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A6AD83-F4FC-5579-A3B2-CF4939C16968}"/>
              </a:ext>
            </a:extLst>
          </p:cNvPr>
          <p:cNvSpPr/>
          <p:nvPr/>
        </p:nvSpPr>
        <p:spPr>
          <a:xfrm>
            <a:off x="7974709" y="2728542"/>
            <a:ext cx="33028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(SENSIBILIDADE)</a:t>
            </a:r>
            <a:r>
              <a:rPr lang="en-US" sz="11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'</a:t>
            </a:r>
            <a:r>
              <a:rPr lang="en-US" sz="1100" b="1" dirty="0" err="1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peguei</a:t>
            </a:r>
            <a:r>
              <a:rPr lang="en-US" sz="11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00" b="1" dirty="0" err="1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</a:t>
            </a:r>
            <a:r>
              <a:rPr lang="en-US" sz="11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?'</a:t>
            </a:r>
            <a:endParaRPr lang="en-US" sz="11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A1E8771-083E-30D6-B94E-752FCF46200B}"/>
              </a:ext>
            </a:extLst>
          </p:cNvPr>
          <p:cNvSpPr/>
          <p:nvPr/>
        </p:nvSpPr>
        <p:spPr>
          <a:xfrm>
            <a:off x="7974709" y="3021150"/>
            <a:ext cx="22518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FN)</a:t>
            </a:r>
            <a:endParaRPr lang="en-US" sz="20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49BBF16-5061-C384-9901-57AF171DD637}"/>
              </a:ext>
            </a:extLst>
          </p:cNvPr>
          <p:cNvSpPr txBox="1"/>
          <p:nvPr/>
        </p:nvSpPr>
        <p:spPr>
          <a:xfrm>
            <a:off x="7887751" y="3590583"/>
            <a:ext cx="29263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o FN (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doente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C1D8AC6-7BEA-DA47-DDD2-DFDE4D5970B0}"/>
              </a:ext>
            </a:extLst>
          </p:cNvPr>
          <p:cNvSpPr txBox="1"/>
          <p:nvPr/>
        </p:nvSpPr>
        <p:spPr>
          <a:xfrm>
            <a:off x="7863479" y="5412358"/>
            <a:ext cx="24742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o FP (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E0C28AF-D53C-5D55-F7A4-082872B4ECB6}"/>
              </a:ext>
            </a:extLst>
          </p:cNvPr>
          <p:cNvSpPr txBox="1"/>
          <p:nvPr/>
        </p:nvSpPr>
        <p:spPr>
          <a:xfrm>
            <a:off x="7863479" y="5659957"/>
            <a:ext cx="39410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quando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quem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B255279-0D40-AEED-BF13-9380A120DE1B}"/>
              </a:ext>
            </a:extLst>
          </p:cNvPr>
          <p:cNvSpPr txBox="1"/>
          <p:nvPr/>
        </p:nvSpPr>
        <p:spPr>
          <a:xfrm>
            <a:off x="7887750" y="3813643"/>
            <a:ext cx="41506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quando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existe o trade-off</a:t>
            </a:r>
            <a:endParaRPr lang="en-US" sz="2800" dirty="0"/>
          </a:p>
        </p:txBody>
      </p:sp>
      <p:pic>
        <p:nvPicPr>
          <p:cNvPr id="5" name="Image 0" descr="figuras_rev02/f_limi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923544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vermelha é o limiar: à direita dela, o modelo diz 'positivo'. Movê-la para a esquerda captura mais doentes (barras teal), mas engole mais saudáveis (barras cinza) — recall sobe, precisão cai.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código: a probabilidade por trás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286000"/>
          </a:xfrm>
          <a:prstGeom prst="roundRect">
            <a:avLst>
              <a:gd name="adj" fmla="val 36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71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 = modelo.predict_proba(X_te)[:, 1]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prob. de alto risco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decisão padrão é: positivo se proba &gt;= 0,50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(proba &gt;= 0.50).astype(int)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mudar esse 0,50 é 'mexer no limiar'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devolve só 0/1: devolve uma probabilidade. O limiar é o corte que transforma essa probabilidade em decisão — e é ele que ajustamos.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código: comparar limiares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1002975" cy="2103120"/>
          </a:xfrm>
          <a:prstGeom prst="roundRect">
            <a:avLst>
              <a:gd name="adj" fmla="val 3913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limiar in [0.50, 0.30, 0.20]: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(proba &gt;= limiar).astype(int)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recall_score(y_te, pred)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precision_score(y_te, pred)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print(limiar, round(r,2), round(p,2))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977640"/>
          <a:ext cx="6583680" cy="15361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real no dataset de pacientes: ao baixar de 0,50 para 0,20, o recall sobe de 0,42 para 0,61 e a precisão cai de 0,57 para 0,47. Exatamente o trade-off.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e a média harmônica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ela pune o desequilíbrio.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intuição: exige as duas altas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 · (precisão · recall) / (precisão + recall)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 para o menor valor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F1 só é alto quando precisão E recall são altos ao mesmo tempo.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mascarar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alto não compensa um baixo — P=0,9 com R=0,1 dá F1=0,18.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é útil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desbalanceados, resume o equilíbrio entre os dois erros num só número.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F1: por que média harmônica?</a:t>
            </a:r>
            <a:endParaRPr lang="en-US" sz="2800" dirty="0"/>
          </a:p>
        </p:txBody>
      </p:sp>
      <p:pic>
        <p:nvPicPr>
          <p:cNvPr id="5" name="Image 0" descr="figuras_rev02/f_harmon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371600"/>
            <a:ext cx="5943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 barras: quando precisão e recall são parecidos, harmônica ≈ aritmética. Mas com P=0,9 e R=0,1, a aritmética dá 0,50 e o F1 (harmônica) dá só 0,18.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código: aritmética vs harmônica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1002975" cy="2377440"/>
          </a:xfrm>
          <a:prstGeom prst="roundRect">
            <a:avLst>
              <a:gd name="adj" fmla="val 3462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f1_score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R = 0.9, 0.1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aritmetica = (P + R) / 2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0.50  (engana)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harmonica  = 2*P*R / (P + R)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0.18  (o F1)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f1_score(y_te, y_pred)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mesmo cálculo, no sklearn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aritmética 'perdoa' o recall baixo; a harmônica não. É por isso que o F1 usa a harmônica — e não a média simples.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23317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do formulário da aula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questões — a resposta correta (●) e o porquê. As duas mais erradas viram foco da revisão.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 — Falso Negativo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matriz de confusão de uma triagem (positivo = doente), o que é um Falso Negativo (FN)?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Um paciente saudável que o modelo classificou como doente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Um paciente doente que o modelo classificou como saudável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Um paciente doente corretamente identificado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Um paciente saudável corretamente identificado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a verdade era POSITIVA (doente) e o modelo disse NEGATIVO (saudável) — deixou </a:t>
            </a:r>
            <a:r>
              <a:rPr lang="en-US" sz="13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</a:t>
            </a: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 — Cálculo da precisão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obteve VP = 20, FP = 30, FN = 10, VN = 140. Qual é a precisão?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20/30 = 0,67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20/160 = 0,125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10/30 = 0,3333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20/50 = 0,40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= VP / (VP + FP) = 20 / (20 + 30) = 20/50 = 0,40. Ela olha os alarmes disparados (VP + FP), não os doentes reais.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 — Precisão vs recall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afirmação distingue corretamente precisão e recall?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penaliza o FP; recall penaliza o FN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penaliza o FN; recall penaliza o FP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medem a mesma coisa de formas diferentes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 faz sentido em regressão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99DFE-711C-6670-3906-5A3850D0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9CE4D7-22D1-8226-75FF-8AD7465F2E48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690169-A2C9-1AAA-C398-2D26C262F5DA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18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8A81D3-A280-BD68-5D7D-FC635FB157F3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 — Precisão vs recall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A54409-6BF6-A2F7-1415-D73B478F181F}"/>
              </a:ext>
            </a:extLst>
          </p:cNvPr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afirmação distingue corretamente precisão e recall?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76080F-4AC1-0C3A-7B81-A885F205FD84}"/>
              </a:ext>
            </a:extLst>
          </p:cNvPr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Precisão penaliza o FP; recall penaliza o FN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Precisão penaliza o FN; recall penaliza o FP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As duas medem a mesma coisa de formas diferentes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Precisão só faz sentido em regressão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52CFDA3-6252-8FB1-0742-502D6987CFA0}"/>
              </a:ext>
            </a:extLst>
          </p:cNvPr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E8F24A-82C8-2505-652A-E261C6969B1E}"/>
              </a:ext>
            </a:extLst>
          </p:cNvPr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41CEED-0823-A704-7394-BB22DB2C46C0}"/>
              </a:ext>
            </a:extLst>
          </p:cNvPr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tem o FP no denominador (falsos alarmes a derrubam); recall tem o FN (doentes perdidos a derrubam).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9832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 — A armadilha da acurácia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base com 95% de negativos, um modelo teve 95% de acurácia. Por que isso não garante um bom modelo?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prever sempre a classe majoritária já atinge ~95%, sem detectar a classe rara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95% é uma acurácia baixa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acurácia só vale para regressão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acurácia ignora os verdadeiros negativos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C7BB8-6E1B-B6A6-0DF3-E9BC2609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A1CF93-3FD7-7A6C-E783-668A837E75EA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BC29A7-871B-337B-7ED3-46CDAE12A802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19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22FE60-2765-44B4-4CD7-16317F4CD134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 — A armadilha da acurácia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E91888-3E68-A9A0-2585-0644F018E813}"/>
              </a:ext>
            </a:extLst>
          </p:cNvPr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base com 95% de negativos, um modelo teve 95% de acurácia. Por que isso não garante um bom modelo?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09AA86-1806-D8C7-0D5B-7D8BB60D698F}"/>
              </a:ext>
            </a:extLst>
          </p:cNvPr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Porque prever sempre a classe majoritária já atinge ~95%, sem detectar a classe rara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Porque 95% é uma acurácia baixa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Porque a acurácia só vale para regressão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Porque a acurácia ignora os verdadeiros negativos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7123B5F-2EBF-2B3A-6A99-0C6363F7C9AD}"/>
              </a:ext>
            </a:extLst>
          </p:cNvPr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341300E-DDFE-1627-69FA-E0728815AB42}"/>
              </a:ext>
            </a:extLst>
          </p:cNvPr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BCCBC69-91B0-876A-739A-AAD168324514}"/>
              </a:ext>
            </a:extLst>
          </p:cNvPr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dummy que sempre responde 'negativo' acerta 95% e não pega nenhum positivo. Em dados desbalanceados, a acurácia engana — por isso olhamos recall e precisão.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92467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 — A média harmônica do F1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F1 usa a média harmônica de precisão e recall, em vez da aritmética?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mais fácil de calcular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harmônica ignora o recall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harmônica é sempre maior que a aritmética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harmônica puxa para o menor valor, impedindo que um número alto mascare um baixo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0633-EEDE-EF75-0AC0-BDC4F8D3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25BDD8-DC66-9083-5632-03CDBAF6CAC7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32EC3E-CFE7-3970-B5BE-9AE65DCB48AC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20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79F434-7DF4-B6C1-A738-7B1755750A8F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 — A média harmônica do F1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F012FB-B377-7CA3-79C8-132FB92DCB6F}"/>
              </a:ext>
            </a:extLst>
          </p:cNvPr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F1 usa a média harmônica de precisão e recall, em vez da aritmética?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6CD9BB-0256-4A19-6A20-8E87E2F85716}"/>
              </a:ext>
            </a:extLst>
          </p:cNvPr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Porque é mais fácil de calcular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Porque a harmônica ignora o recall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Porque a harmônica é sempre maior que a aritmética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Porque a harmônica puxa para o menor valor, impedindo que um número alto mascare um baixo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84A482-037E-1C82-F7C0-B672B9D8EA08}"/>
              </a:ext>
            </a:extLst>
          </p:cNvPr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521A1C-3B5F-76A4-FE27-29F48CD938A7}"/>
              </a:ext>
            </a:extLst>
          </p:cNvPr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0294F84-F688-3138-64ED-356B81FC7FAD}"/>
              </a:ext>
            </a:extLst>
          </p:cNvPr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harmônica</a:t>
            </a: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alta se precisão E recall forem altos: P=0,9 e R=0,1 dão F1=0,18 (a aritmética daria 0,50).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91099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 — Baixar o limiar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com precisão e recall quando você BAIXA o limiar (marca mais exemplos como positivos)?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sobe e recall cai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sobe e precisão tende a cair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sobem sempre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dois muda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99AA-3A4C-E388-7B00-768479F2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64E235-5A1E-5FB7-F14E-9525761C197F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2C34ED-7A94-53A2-BC02-7F656C1D73DF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21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21BCA9-9BC1-6F1E-6456-70AFA028A572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 — Baixar o limiar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88CCD7-4348-799E-63A8-8A3A3889B68B}"/>
              </a:ext>
            </a:extLst>
          </p:cNvPr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com precisão e recall quando você BAIXA o limiar (marca mais exemplos como positivos)?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8176DA-9915-8823-E532-6EF53378A711}"/>
              </a:ext>
            </a:extLst>
          </p:cNvPr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sobe e recall cai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sobe e precisão tende a cair</a:t>
            </a:r>
            <a:endParaRPr lang="en-US" sz="1400" b="1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Ambos sobem sempre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dois muda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261600-2C8E-BBA9-E2D8-6238C7367D18}"/>
              </a:ext>
            </a:extLst>
          </p:cNvPr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EE4D7A-2576-D4F9-EF5C-223E7B3B8201}"/>
              </a:ext>
            </a:extLst>
          </p:cNvPr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B6C391-452B-3A83-4016-5715C4E6CDD8}"/>
              </a:ext>
            </a:extLst>
          </p:cNvPr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mais gente como positiva pega mais doentes (recall ↑), mas inclui mais falsos alarmes (precisão ↓).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64307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 — Escolher a métrica pelo custo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triagem de doença grave, deixar de detectar um doente (FN) é o erro mais custoso. Qual métrica priorizar?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F896-C1C2-6B6E-FD91-E15A22A1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7FC4A9-DDB3-16AA-53E2-BC80E10DF333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3F99A-AE77-1C80-3BD5-659DCBF2F0CC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22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17AB80-FBC1-D9C1-0250-C1C14608D8B0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 — Escolher a métrica pelo custo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8D642D-894B-4A72-99B1-5771C9FB6D88}"/>
              </a:ext>
            </a:extLst>
          </p:cNvPr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triagem de doença grave, deixar de detectar um doente (FN) é o erro mais custoso. Qual métrica priorizar?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DBAD75-5B5D-E861-B281-EA5CC17FC69C}"/>
              </a:ext>
            </a:extLst>
          </p:cNvPr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Precisão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Especificidade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Recall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Acurácia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0C2C21-6D0F-E14D-BDEE-67EAFC860BBD}"/>
              </a:ext>
            </a:extLst>
          </p:cNvPr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38DAC2-19D5-75BC-68F5-EBD9B88A8E96}"/>
              </a:ext>
            </a:extLst>
          </p:cNvPr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F4919D-A7AC-BB76-18B7-8A8E5FC901EE}"/>
              </a:ext>
            </a:extLst>
          </p:cNvPr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caro é o FN. O recall = VP / (VP + FN) é justamente a métrica que pune o FN — então é a que se prioriza aqui.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29270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 — Macro vs weighted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classification_report, qual é a diferença entre 'macro avg' e 'weighted avg'?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pondera pelo número de exemplos; weighted é a média simples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só existe em problemas binários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são idênticas</a:t>
            </a:r>
            <a:endParaRPr lang="en-US" sz="1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é a média simples entre classes (cada classe pesa igual); weighted pondera pelo support (a classe grande pesa mais)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B604-2B46-CBE6-2F07-06453C50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CA5544-9133-92FB-A779-075710E55D54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FD00B3-37FF-740F-A708-821C6ECF1389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11/08/2026    ·    23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2680AC-4932-B75D-2239-BF862125C702}"/>
              </a:ext>
            </a:extLst>
          </p:cNvPr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 — Macro vs weighted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C05E42-0A3D-8EA3-C7E8-9586BBCE2E08}"/>
              </a:ext>
            </a:extLst>
          </p:cNvPr>
          <p:cNvSpPr/>
          <p:nvPr/>
        </p:nvSpPr>
        <p:spPr>
          <a:xfrm>
            <a:off x="594360" y="118872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classification_report, qual é a diferença entre 'macro avg' e 'weighted avg'?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273F42-C611-A00D-2551-E22A8B00F703}"/>
              </a:ext>
            </a:extLst>
          </p:cNvPr>
          <p:cNvSpPr/>
          <p:nvPr/>
        </p:nvSpPr>
        <p:spPr>
          <a:xfrm>
            <a:off x="594360" y="192024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Macro pondera pelo número de exemplos; weighted é a média simples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Macro só existe em problemas binários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As duas são idênticas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Macro é a média simples entre classes (cada classe pesa igual); weighted pondera pelo support (a classe grande pesa mais)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4EAF983-FA05-71DB-EEB7-E310E3927609}"/>
              </a:ext>
            </a:extLst>
          </p:cNvPr>
          <p:cNvSpPr/>
          <p:nvPr/>
        </p:nvSpPr>
        <p:spPr>
          <a:xfrm>
            <a:off x="594360" y="4370832"/>
            <a:ext cx="11002975" cy="1554480"/>
          </a:xfrm>
          <a:prstGeom prst="roundRect">
            <a:avLst>
              <a:gd name="adj" fmla="val 529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9AC3FC-5C1C-34ED-5403-89BE1978AE5F}"/>
              </a:ext>
            </a:extLst>
          </p:cNvPr>
          <p:cNvSpPr/>
          <p:nvPr/>
        </p:nvSpPr>
        <p:spPr>
          <a:xfrm>
            <a:off x="914400" y="449884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09E8DF-CBFC-BA44-25B2-5F7D320F4A03}"/>
              </a:ext>
            </a:extLst>
          </p:cNvPr>
          <p:cNvSpPr/>
          <p:nvPr/>
        </p:nvSpPr>
        <p:spPr>
          <a:xfrm>
            <a:off x="914400" y="4809744"/>
            <a:ext cx="10362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= média simples entre as classes (dá voz à classe rara); weighted = média ponderada pelo support (a classe grande domina). Em dados desbalanceados, a macro denuncia a classe rara.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12736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D552E4-6818-48D1-9F15-A3BB690507F3}"/>
</file>

<file path=customXml/itemProps2.xml><?xml version="1.0" encoding="utf-8"?>
<ds:datastoreItem xmlns:ds="http://schemas.openxmlformats.org/officeDocument/2006/customXml" ds:itemID="{95F02B4A-0C21-4036-B618-29A0311A371A}"/>
</file>

<file path=customXml/itemProps3.xml><?xml version="1.0" encoding="utf-8"?>
<ds:datastoreItem xmlns:ds="http://schemas.openxmlformats.org/officeDocument/2006/customXml" ds:itemID="{8C6CA869-2EDA-4916-9995-2F831D819056}"/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2159</Words>
  <Application>Microsoft Office PowerPoint</Application>
  <PresentationFormat>Widescreen</PresentationFormat>
  <Paragraphs>260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Aula 2 Revisao</dc:title>
  <dc:subject>PptxGenJS Presentation</dc:subject>
  <dc:creator>Consultoria</dc:creator>
  <cp:lastModifiedBy>Giovani Giulio</cp:lastModifiedBy>
  <cp:revision>2</cp:revision>
  <dcterms:created xsi:type="dcterms:W3CDTF">2026-08-11T08:45:03Z</dcterms:created>
  <dcterms:modified xsi:type="dcterms:W3CDTF">2026-08-11T09:48:55Z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