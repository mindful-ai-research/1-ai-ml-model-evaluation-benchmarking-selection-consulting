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9" r:id="rId18"/>
    <p:sldId id="259" r:id="rId3"/>
    <p:sldId id="260" r:id="rId4"/>
    <p:sldId id="261" r:id="rId5"/>
    <p:sldId id="262" r:id="rId6"/>
    <p:sldId id="270" r:id="rId19"/>
    <p:sldId id="263" r:id="rId7"/>
    <p:sldId id="264" r:id="rId8"/>
    <p:sldId id="265" r:id="rId9"/>
    <p:sldId id="266" r:id="rId10"/>
    <p:sldId id="271" r:id="rId20"/>
    <p:sldId id="267" r:id="rId11"/>
    <p:sldId id="272" r:id="rId2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slide" Target="slides/slide15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22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39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96596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VALIDAÇÃO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251460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CV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37033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aninhada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Nested CV explicado do zero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82935" y="6428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hiperparâmetro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 (o modelo aprende)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do treino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ajusta sozinho, no fit.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pesos de uma regressão, os cortes de uma árvore.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mexe nele à mão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98768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Hiperparâmetro (você define)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98768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 ANTES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COMO o modelo aprende.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 do k-NN, a profundidade da árvore, o C da regularização.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vamos ajustar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de bolo: hiperparâmetro = a temperatura e o tempo do forno (você escolhe antes); parâmetro = como a massa cresce por dentro (resultado).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Nested CV explicado do zero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82935" y="6428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trabalho: escolher o hiperparâmetro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não escolhe o hiperparâmetro. </a:t>
            </a: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</a:t>
            </a: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testa alguns valores e vê qual vai melhor na validação.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743200"/>
          <a:ext cx="7315200" cy="20116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de C testado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 na validação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  ← melhor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38160" y="2743200"/>
            <a:ext cx="3474720" cy="2286000"/>
          </a:xfrm>
          <a:prstGeom prst="roundRect">
            <a:avLst>
              <a:gd name="adj" fmla="val 36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430768" y="30358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 SENTIDO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30768" y="3538728"/>
            <a:ext cx="28895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ficaria com C = 1 (0,85).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cuidado —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nota serve para ESCOLHER — não para reportar como desempenho final.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valores e comparar na validação: isso é a 'busca de hiperparâmetros' (grid/random search).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Nested CV explicado do zero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82935" y="6428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cilada: escolher e medir no mesmo lugar mente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143000"/>
          </a:xfrm>
          <a:prstGeom prst="roundRect">
            <a:avLst>
              <a:gd name="adj" fmla="val 72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nota que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escolheu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C também é a nota que você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ela sai otimista.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ficou com o MELHOR de várias tentativas — e o melhor sempre pega um tanto de sorte.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você testa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o inchaço: o campeão de 100 tentativas quase sempre teve a sorte a favor.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medido em dados que a escolha NUNCA viu.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'maldição do vencedor'. O Nested CV existe justamente para dar esse número honesto.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Nested CV explicado do zero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82935" y="6428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do Nested CV: dois laços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laços com funções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um ESCOLHE o hiperparâmetro, o outro MEDE — em dados separados.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 INTERNO — escolhe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treino, testa os valores de C e fica com o melhor.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 EXTERNO — mede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um pedaço à parte e só o usa para dar a nota.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segredo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interno roda DENTRO do treino do externo — quem escolhe nunca toca em quem mede.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Aninhada = um laço dentro do outro. Interno escolhe, externo mede.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Nested CV explicado do zero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82935" y="6428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a passo — rodada externa 1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1005840"/>
          </a:xfrm>
          <a:prstGeom prst="roundRect">
            <a:avLst>
              <a:gd name="adj" fmla="val 8182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exemplos em 3 partes: 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C</a:t>
            </a: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Nesta rodada, o teste externo é 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o treino é 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+ C</a:t>
            </a: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514600"/>
          <a:ext cx="11002975" cy="1828800"/>
        </p:xfrm>
        <a:graphic>
          <a:graphicData uri="http://schemas.openxmlformats.org/drawingml/2006/table">
            <a:tbl>
              <a:tblPr/>
              <a:tblGrid>
                <a:gridCol w="73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laço INTERNO: testa o C dentro de B + 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0,1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  ← escolhe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4251960"/>
            <a:ext cx="11002975" cy="960120"/>
          </a:xfrm>
          <a:prstGeom prst="roundRect">
            <a:avLst>
              <a:gd name="adj" fmla="val 8571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6"/>
          <p:cNvSpPr/>
          <p:nvPr/>
        </p:nvSpPr>
        <p:spPr>
          <a:xfrm>
            <a:off x="914400" y="4398264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O LAÇO EXTERNO MEDE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4690872"/>
            <a:ext cx="103628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 com C = 1 em B + C   →   mede em A   →   0,83   (A nunca entrou na escolha)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pedaço A ficou de fora da escolha inteira — por isso a nota nele é honesta.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Nested CV explicado do zero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82935" y="6428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rodadas, de uma vez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1005840"/>
          </a:xfrm>
          <a:prstGeom prst="roundRect">
            <a:avLst>
              <a:gd name="adj" fmla="val 8182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parte tem a sua vez de ser o teste externo. Em cada uma, o interno 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reescolhe</a:t>
            </a: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C do zero.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514600"/>
          <a:ext cx="11002975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externo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escolhido (laço interno)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 no teste externo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448056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914400" y="4626864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HONESTA</a:t>
            </a:r>
            <a:endParaRPr lang="en-US" sz="1100" dirty="0"/>
          </a:p>
        </p:txBody>
      </p:sp>
      <p:sp>
        <p:nvSpPr>
          <p:cNvPr id="7" name="Text 7"/>
          <p:cNvSpPr/>
          <p:nvPr/>
        </p:nvSpPr>
        <p:spPr>
          <a:xfrm>
            <a:off x="914400" y="4919472"/>
            <a:ext cx="1036289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média(0,83 · 0,81 · 0,85) = 0,83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rodada refaz TUDO: escolhe o C no treino e mede numa parte que a escolha não viu.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Nested CV explicado do zero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82935" y="6428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Peraí, o C mudou (1 → 10 → 1)?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— e está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Nested CV não mede 'o quão bom é o C = 1'.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mede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quão bom é o PROCESSO de escolher o C e treinar.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o C varia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rodada escolhe do zero, com dados um pouco diferentes.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que vale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das notas externas (0,83), não um C específico.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assim: você está auditando o seu MÉTODO de escolher, não um valor fixo.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Nested CV explicado do zero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82935" y="6428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Então qual modelo vai para produção?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Nested CV te deu o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honesto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(0,83) — não o modelo final.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entregar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UMA busca (GridSearchCV) em TODOS os 30 exemplos → sai um único C.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C vai para produção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modelo que você usa de verdade.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do Nested CV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a auditoria feita antes, que te deixa dizer 'espero ~0,83' sem mentir.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CV responde 'quão confiável é meu processo?'. A busca final responde 'qual C eu entrego?'.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Nested CV explicado do zero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82935" y="6428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analogia da prova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interno = simulados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qual método de estudo é o melhor.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cuidado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melhor simulado calhou de ter o que você mais sabia — não é a sua nota real.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98768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externo = prova real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98768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medir, com questões inéditas, quão bom é 'escolher pelo simulado e estudar'.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nota que vale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 que a escolha nunca viu.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Medir-se pelo melhor simulado superestima; a prova real (dados novos) é o número honesto.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Nested CV explicado do zero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682935" y="6428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Resumo: quando usar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Nested CV quando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ajusta hiperparâmetros E quer reportar um desempenho honesto na mesma base pequena.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quando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tem um teste separado e intocado: busca no treino + 1 medição no teste já basta.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 ouro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escolhe não mede — sempre em dados separados.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457200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4718304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5010912"/>
            <a:ext cx="1036289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 escolhe · externo mede · a nota honesta é a média das rodadas externas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Ciência de Dados 1 · Nested CV explicado do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80192" y="64282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GridSearchCV × Nested CV: quem escolhe e quem mede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Os dois aparecem hoje, e é fácil confundi-los. O que separa um do outro é o que sobra na mão no fim.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590288"/>
            <a:ext cx="11003249" cy="11704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6968" y="4882896"/>
            <a:ext cx="104180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A FRASE QUE RESOLVE A CONFUSÃO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5340096"/>
            <a:ext cx="10418033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O Nested CV </a:t>
            </a:r>
            <a:r>
              <a:rPr sz="950" b="1">
                <a:solidFill>
                  <a:srgbClr val="0B5A54"/>
                </a:solidFill>
                <a:latin typeface="Calibri"/>
              </a:rPr>
              <a:t>não substitui</a:t>
            </a:r>
            <a:r>
              <a:rPr sz="950" b="0">
                <a:solidFill>
                  <a:srgbClr val="475569"/>
                </a:solidFill>
                <a:latin typeface="Calibri"/>
              </a:rPr>
              <a:t> o GridSearchCV — ele </a:t>
            </a:r>
            <a:r>
              <a:rPr sz="950" b="1">
                <a:solidFill>
                  <a:srgbClr val="0B5A54"/>
                </a:solidFill>
                <a:latin typeface="Calibri"/>
              </a:rPr>
              <a:t>roda o GridSearchCV por dentro</a:t>
            </a:r>
            <a:r>
              <a:rPr sz="950" b="0">
                <a:solidFill>
                  <a:srgbClr val="475569"/>
                </a:solidFill>
                <a:latin typeface="Calibri"/>
              </a:rPr>
              <a:t>. Um escolhe o modelo; o outro mede o quanto se pode confiar nessa escolha.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5532120" cy="2670048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49469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GRIDSEARCHCV  ·  ESCOLHE E ENTREGA O 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32888"/>
            <a:ext cx="4946904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50" b="1">
                <a:solidFill>
                  <a:srgbClr val="0B5A54"/>
                </a:solidFill>
                <a:latin typeface="Calibri"/>
              </a:rPr>
              <a:t>O que ele faz — </a:t>
            </a:r>
            <a:r>
              <a:rPr sz="1050" b="0">
                <a:solidFill>
                  <a:srgbClr val="475569"/>
                </a:solidFill>
                <a:latin typeface="Calibri"/>
              </a:rPr>
              <a:t>varre a grade com validação cruzada dentro do treino e devolve a combinação vencedora.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50" b="1">
                <a:solidFill>
                  <a:srgbClr val="0B5A54"/>
                </a:solidFill>
                <a:latin typeface="Calibri"/>
              </a:rPr>
              <a:t>O que sobra na mão — </a:t>
            </a:r>
            <a:r>
              <a:rPr sz="1050" b="0">
                <a:solidFill>
                  <a:srgbClr val="475569"/>
                </a:solidFill>
                <a:latin typeface="Calibri"/>
              </a:rPr>
              <a:t>o </a:t>
            </a:r>
            <a:r>
              <a:rPr sz="1050" b="1">
                <a:solidFill>
                  <a:srgbClr val="12303A"/>
                </a:solidFill>
                <a:latin typeface="Calibri"/>
              </a:rPr>
              <a:t>best_params_</a:t>
            </a:r>
            <a:r>
              <a:rPr sz="1050" b="0">
                <a:solidFill>
                  <a:srgbClr val="475569"/>
                </a:solidFill>
                <a:latin typeface="Calibri"/>
              </a:rPr>
              <a:t> e o </a:t>
            </a:r>
            <a:r>
              <a:rPr sz="1050" b="1">
                <a:solidFill>
                  <a:srgbClr val="12303A"/>
                </a:solidFill>
                <a:latin typeface="Calibri"/>
              </a:rPr>
              <a:t>best_estimator_</a:t>
            </a:r>
            <a:r>
              <a:rPr sz="1050" b="0">
                <a:solidFill>
                  <a:srgbClr val="475569"/>
                </a:solidFill>
                <a:latin typeface="Calibri"/>
              </a:rPr>
              <a:t> já treinado: o modelo que você entrega.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50" b="1">
                <a:solidFill>
                  <a:srgbClr val="0B5A54"/>
                </a:solidFill>
                <a:latin typeface="Calibri"/>
              </a:rPr>
              <a:t>A nota que ele imprime — </a:t>
            </a:r>
            <a:r>
              <a:rPr sz="1050" b="0">
                <a:solidFill>
                  <a:srgbClr val="475569"/>
                </a:solidFill>
                <a:latin typeface="Calibri"/>
              </a:rPr>
              <a:t>o </a:t>
            </a:r>
            <a:r>
              <a:rPr sz="1050" b="1">
                <a:solidFill>
                  <a:srgbClr val="12303A"/>
                </a:solidFill>
                <a:latin typeface="Calibri"/>
              </a:rPr>
              <a:t>best_score_</a:t>
            </a:r>
            <a:r>
              <a:rPr sz="1050" b="0">
                <a:solidFill>
                  <a:srgbClr val="475569"/>
                </a:solidFill>
                <a:latin typeface="Calibri"/>
              </a:rPr>
              <a:t> é de validação e é o MÁXIMO de várias tentativas: vem inflada. Para um número honesto ele depende de um </a:t>
            </a:r>
            <a:r>
              <a:rPr sz="1050" b="1">
                <a:solidFill>
                  <a:srgbClr val="12303A"/>
                </a:solidFill>
                <a:latin typeface="Calibri"/>
              </a:rPr>
              <a:t>teste separado</a:t>
            </a:r>
            <a:r>
              <a:rPr sz="1050" b="0">
                <a:solidFill>
                  <a:srgbClr val="475569"/>
                </a:solidFill>
                <a:latin typeface="Calibri"/>
              </a:rPr>
              <a:t>, tocado uma única vez.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783080"/>
            <a:ext cx="5105369" cy="2670048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84848" y="2075688"/>
            <a:ext cx="452015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NESTED CV  ·  NÃO ESCOLHE NADA, SÓ AUDITA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532888"/>
            <a:ext cx="4520153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50" b="1">
                <a:solidFill>
                  <a:srgbClr val="0B5A54"/>
                </a:solidFill>
                <a:latin typeface="Calibri"/>
              </a:rPr>
              <a:t>O que ele faz — </a:t>
            </a:r>
            <a:r>
              <a:rPr sz="1050" b="0">
                <a:solidFill>
                  <a:srgbClr val="475569"/>
                </a:solidFill>
                <a:latin typeface="Calibri"/>
              </a:rPr>
              <a:t>roda o GridSearchCV inteiro K vezes, cada vez medindo num pedaço que aquela busca não viu.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50" b="1">
                <a:solidFill>
                  <a:srgbClr val="0B5A54"/>
                </a:solidFill>
                <a:latin typeface="Calibri"/>
              </a:rPr>
              <a:t>O que sobra na mão — </a:t>
            </a:r>
            <a:r>
              <a:rPr sz="1050" b="1">
                <a:solidFill>
                  <a:srgbClr val="B91C1C"/>
                </a:solidFill>
                <a:latin typeface="Calibri"/>
              </a:rPr>
              <a:t>nenhum modelo</a:t>
            </a:r>
            <a:r>
              <a:rPr sz="1050" b="0">
                <a:solidFill>
                  <a:srgbClr val="475569"/>
                </a:solidFill>
                <a:latin typeface="Calibri"/>
              </a:rPr>
              <a:t>. Só um número: a média ± desvio das K rodadas externas.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50" b="1">
                <a:solidFill>
                  <a:srgbClr val="0B5A54"/>
                </a:solidFill>
                <a:latin typeface="Calibri"/>
              </a:rPr>
              <a:t>A nota que ele dá — </a:t>
            </a:r>
            <a:r>
              <a:rPr sz="1050" b="0">
                <a:solidFill>
                  <a:srgbClr val="475569"/>
                </a:solidFill>
                <a:latin typeface="Calibri"/>
              </a:rPr>
              <a:t>é honesta por construção: quem escolheu nunca viu o pedaço que mediu. E não precisa de teste separado — o papel de teste </a:t>
            </a:r>
            <a:r>
              <a:rPr sz="1050" b="1">
                <a:solidFill>
                  <a:srgbClr val="12303A"/>
                </a:solidFill>
                <a:latin typeface="Calibri"/>
              </a:rPr>
              <a:t>roda</a:t>
            </a:r>
            <a:r>
              <a:rPr sz="1050" b="0">
                <a:solidFill>
                  <a:srgbClr val="475569"/>
                </a:solidFill>
                <a:latin typeface="Calibri"/>
              </a:rPr>
              <a:t> entre as K partes.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A busca em grade é o assunto da PRÓXIMA aula — como montar a grade, o custo, o que fazer quando ela explode. Hoje ela entra só como a ferramenta que o laço interno usa.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Ciência de Dados 1 · Nested CV explicado do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80192" y="64282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O mesmo código, com uma linha a mais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Nested CV não é outro algoritmo: é o GridSearchCV passado para dentro de um cross_val_score.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407408"/>
            <a:ext cx="11003249" cy="135331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6968" y="4700016"/>
            <a:ext cx="104180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ESSA LINHA FAZ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5157216"/>
            <a:ext cx="1041803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O </a:t>
            </a:r>
            <a:r>
              <a:rPr sz="950" b="1">
                <a:solidFill>
                  <a:srgbClr val="12303A"/>
                </a:solidFill>
                <a:latin typeface="Calibri"/>
              </a:rPr>
              <a:t>cross_val_score</a:t>
            </a:r>
            <a:r>
              <a:rPr sz="950" b="0">
                <a:solidFill>
                  <a:srgbClr val="475569"/>
                </a:solidFill>
                <a:latin typeface="Calibri"/>
              </a:rPr>
              <a:t> trata a busca inteira como se fosse </a:t>
            </a:r>
            <a:r>
              <a:rPr sz="950" b="1">
                <a:solidFill>
                  <a:srgbClr val="0B5A54"/>
                </a:solidFill>
                <a:latin typeface="Calibri"/>
              </a:rPr>
              <a:t>um modelo qualquer</a:t>
            </a:r>
            <a:r>
              <a:rPr sz="950" b="0">
                <a:solidFill>
                  <a:srgbClr val="475569"/>
                </a:solidFill>
                <a:latin typeface="Calibri"/>
              </a:rPr>
              <a:t>: em cada uma das 5 dobras externas ele chama o </a:t>
            </a:r>
            <a:r>
              <a:rPr sz="950" b="1">
                <a:solidFill>
                  <a:srgbClr val="12303A"/>
                </a:solidFill>
                <a:latin typeface="Calibri"/>
              </a:rPr>
              <a:t>fit</a:t>
            </a:r>
            <a:r>
              <a:rPr sz="950" b="0">
                <a:solidFill>
                  <a:srgbClr val="475569"/>
                </a:solidFill>
                <a:latin typeface="Calibri"/>
              </a:rPr>
              <a:t> da busca — que por dentro roda a sua própria CV de 5 dobras — e depois pontua na dobra externa. </a:t>
            </a:r>
            <a:r>
              <a:rPr sz="950" b="1">
                <a:solidFill>
                  <a:srgbClr val="0B5A54"/>
                </a:solidFill>
                <a:latin typeface="Calibri"/>
              </a:rPr>
              <a:t>Cinco buscas independentes, cinco notas</a:t>
            </a:r>
            <a:r>
              <a:rPr sz="950" b="0">
                <a:solidFill>
                  <a:srgbClr val="475569"/>
                </a:solidFill>
                <a:latin typeface="Calibri"/>
              </a:rPr>
              <a:t>; nenhuma viu o pedaço em que foi medida.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11003249" cy="2423160"/>
          </a:xfrm>
          <a:prstGeom prst="roundRect">
            <a:avLst>
              <a:gd name="adj" fmla="val 2700"/>
            </a:avLst>
          </a:prstGeom>
          <a:solidFill>
            <a:srgbClr val="0B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10271729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# O CAMINHO COMUM — a busca escolhe; um teste separado mede, UMA vez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X_tr, X_te, y_tr, y_te = train_test_split(X, y, test_size=0.3)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busca = GridSearchCV(pipe, grade, cv=5).fit(X_tr, y_tr)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busca.best_params_</a:t>
            </a:r>
            <a:r>
              <a:rPr sz="1000">
                <a:solidFill>
                  <a:srgbClr val="9CD3CC"/>
                </a:solidFill>
                <a:latin typeface="Consolas"/>
              </a:rPr>
              <a:t>        # o modelo que você entrega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busca.score(X_te, y_te)</a:t>
            </a:r>
            <a:r>
              <a:rPr sz="1000">
                <a:solidFill>
                  <a:srgbClr val="9CD3CC"/>
                </a:solidFill>
                <a:latin typeface="Consolas"/>
              </a:rPr>
              <a:t>   # a nota honesta -&gt; UM número, de UM corte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# HOJE — o MESMO objeto, agora medido por um laço externo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busca = GridSearchCV(pipe, grade, cv=5)</a:t>
            </a:r>
            <a:r>
              <a:rPr sz="1000">
                <a:solidFill>
                  <a:srgbClr val="9CD3CC"/>
                </a:solidFill>
                <a:latin typeface="Consolas"/>
              </a:rPr>
              <a:t>     # idêntico: nada mudou aqui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notas = cross_val_score(busca, X, y, cv=5)</a:t>
            </a:r>
            <a:r>
              <a:rPr sz="1000">
                <a:solidFill>
                  <a:srgbClr val="9CD3CC"/>
                </a:solidFill>
                <a:latin typeface="Consolas"/>
              </a:rPr>
              <a:t>  # &lt;&lt;&lt; a única linha nova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notas.mean(), notas.std()</a:t>
            </a:r>
            <a:r>
              <a:rPr sz="1000">
                <a:solidFill>
                  <a:srgbClr val="9CD3CC"/>
                </a:solidFill>
                <a:latin typeface="Consolas"/>
              </a:rPr>
              <a:t>                   # K números -&gt; média E incerteza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Custo: combinações × dobras internas × dobras externas. Uma grade 3×3 com cv 5 e 5 vira 225 ajustes — contra 45 da busca sozinha.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Ciência de Dados 1 · Nested CV explicado do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80192" y="64282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O que muda — e o que NÃO muda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 nota do Nested CV costuma sair MENOR que a da busca sozinha. Isso é o método funcionando, não piorando.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407408"/>
            <a:ext cx="11003249" cy="135331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6968" y="4700016"/>
            <a:ext cx="104180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ERRO DE LEITURA MAIS COMUM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5157216"/>
            <a:ext cx="1041803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Ver a nota do Nested (0,83) menor que o </a:t>
            </a:r>
            <a:r>
              <a:rPr sz="950" b="1">
                <a:solidFill>
                  <a:srgbClr val="12303A"/>
                </a:solidFill>
                <a:latin typeface="Calibri"/>
              </a:rPr>
              <a:t>best_score_</a:t>
            </a:r>
            <a:r>
              <a:rPr sz="950" b="0">
                <a:solidFill>
                  <a:srgbClr val="475569"/>
                </a:solidFill>
                <a:latin typeface="Calibri"/>
              </a:rPr>
              <a:t> (0,88) e concluir que o modelo piorou. </a:t>
            </a:r>
            <a:r>
              <a:rPr sz="950" b="1">
                <a:solidFill>
                  <a:srgbClr val="0B5A54"/>
                </a:solidFill>
                <a:latin typeface="Calibri"/>
              </a:rPr>
              <a:t>Não piorou — os dois números medem coisas diferentes</a:t>
            </a:r>
            <a:r>
              <a:rPr sz="950" b="0">
                <a:solidFill>
                  <a:srgbClr val="475569"/>
                </a:solidFill>
                <a:latin typeface="Calibri"/>
              </a:rPr>
              <a:t>: 0,88 é o melhor de nove tentativas na validação; 0,83 é o que se espera em dados novos. A diferença entre eles É o otimismo da busca.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5532120" cy="246888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49469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VOCÊ GANHA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32888"/>
            <a:ext cx="4946904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50" b="1">
                <a:solidFill>
                  <a:srgbClr val="0B5A54"/>
                </a:solidFill>
                <a:latin typeface="Calibri"/>
              </a:rPr>
              <a:t>Uma nota que não depende da sorte de um corte. </a:t>
            </a:r>
            <a:r>
              <a:rPr sz="1050" b="0">
                <a:solidFill>
                  <a:srgbClr val="475569"/>
                </a:solidFill>
                <a:latin typeface="Calibri"/>
              </a:rPr>
              <a:t>São K medições em vez de uma, e o desvio-padrão vem junto — dá para dizer "0,83 ± 0,03".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50" b="1">
                <a:solidFill>
                  <a:srgbClr val="0B5A54"/>
                </a:solidFill>
                <a:latin typeface="Calibri"/>
              </a:rPr>
              <a:t>Não precisa reservar um teste fixo. </a:t>
            </a:r>
            <a:r>
              <a:rPr sz="1050" b="0">
                <a:solidFill>
                  <a:srgbClr val="475569"/>
                </a:solidFill>
                <a:latin typeface="Calibri"/>
              </a:rPr>
              <a:t>Todo dado é medido uma vez e treinado nas outras — o que importa quando a base é pequena.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50" b="1">
                <a:solidFill>
                  <a:srgbClr val="0B5A54"/>
                </a:solidFill>
                <a:latin typeface="Calibri"/>
              </a:rPr>
              <a:t>O teste não "queima". </a:t>
            </a:r>
            <a:r>
              <a:rPr sz="1050" b="0">
                <a:solidFill>
                  <a:srgbClr val="475569"/>
                </a:solidFill>
                <a:latin typeface="Calibri"/>
              </a:rPr>
              <a:t>Dá para refinar a grade e rodar de novo: o pedaço de medição volta a ser inédito para aquela busca.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783080"/>
            <a:ext cx="5105369" cy="246888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84848" y="2075688"/>
            <a:ext cx="452015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VOCÊ NÃO GANHA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532888"/>
            <a:ext cx="4520153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50" b="1">
                <a:solidFill>
                  <a:srgbClr val="B91C1C"/>
                </a:solidFill>
                <a:latin typeface="Calibri"/>
              </a:rPr>
              <a:t>Não sai modelo. </a:t>
            </a:r>
            <a:r>
              <a:rPr sz="1050" b="0">
                <a:solidFill>
                  <a:srgbClr val="475569"/>
                </a:solidFill>
                <a:latin typeface="Calibri"/>
              </a:rPr>
              <a:t>Não devolve um </a:t>
            </a:r>
            <a:r>
              <a:rPr sz="1050" b="1">
                <a:solidFill>
                  <a:srgbClr val="12303A"/>
                </a:solidFill>
                <a:latin typeface="Calibri"/>
              </a:rPr>
              <a:t>best_estimator_</a:t>
            </a:r>
            <a:r>
              <a:rPr sz="1050" b="0">
                <a:solidFill>
                  <a:srgbClr val="475569"/>
                </a:solidFill>
                <a:latin typeface="Calibri"/>
              </a:rPr>
              <a:t> para produção — ele mede o PROCESSO. O modelo sai de uma busca final em toda a base.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50" b="1">
                <a:solidFill>
                  <a:srgbClr val="B91C1C"/>
                </a:solidFill>
                <a:latin typeface="Calibri"/>
              </a:rPr>
              <a:t>Não melhora nada. </a:t>
            </a:r>
            <a:r>
              <a:rPr sz="1050" b="0">
                <a:solidFill>
                  <a:srgbClr val="475569"/>
                </a:solidFill>
                <a:latin typeface="Calibri"/>
              </a:rPr>
              <a:t>A nota fica abaixo do </a:t>
            </a:r>
            <a:r>
              <a:rPr sz="1050" b="1">
                <a:solidFill>
                  <a:srgbClr val="12303A"/>
                </a:solidFill>
                <a:latin typeface="Calibri"/>
              </a:rPr>
              <a:t>best_score_</a:t>
            </a:r>
            <a:r>
              <a:rPr sz="1050" b="0">
                <a:solidFill>
                  <a:srgbClr val="475569"/>
                </a:solidFill>
                <a:latin typeface="Calibri"/>
              </a:rPr>
              <a:t> porque o otimismo foi removido. O modelo é o mesmo; a régua é que ficou honesta.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50" b="1">
                <a:solidFill>
                  <a:srgbClr val="B91C1C"/>
                </a:solidFill>
                <a:latin typeface="Calibri"/>
              </a:rPr>
              <a:t>Não dispensa a regra de ouro. </a:t>
            </a:r>
            <a:r>
              <a:rPr sz="1050" b="0">
                <a:solidFill>
                  <a:srgbClr val="475569"/>
                </a:solidFill>
                <a:latin typeface="Calibri"/>
              </a:rPr>
              <a:t>É a MESMA regra de sempre — quem escolhe não mede — só que aplicada K vezes em vez de uma.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Ciência de Dados 1 · Nested CV explicado do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80192" y="64282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Qual dos dois usar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407408"/>
            <a:ext cx="11003249" cy="135331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6968" y="4700016"/>
            <a:ext cx="104180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NA PRÁTICA, OS DOIS JUNTOS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5157216"/>
            <a:ext cx="1041803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Primeiro o Nested CV, para </a:t>
            </a:r>
            <a:r>
              <a:rPr sz="950" b="1">
                <a:solidFill>
                  <a:srgbClr val="0B5A54"/>
                </a:solidFill>
                <a:latin typeface="Calibri"/>
              </a:rPr>
              <a:t>auditar o processo</a:t>
            </a:r>
            <a:r>
              <a:rPr sz="950" b="0">
                <a:solidFill>
                  <a:srgbClr val="475569"/>
                </a:solidFill>
                <a:latin typeface="Calibri"/>
              </a:rPr>
              <a:t> e chegar ao número que você vai anunciar. Depois uma única busca em </a:t>
            </a:r>
            <a:r>
              <a:rPr sz="950" b="1">
                <a:solidFill>
                  <a:srgbClr val="0B5A54"/>
                </a:solidFill>
                <a:latin typeface="Calibri"/>
              </a:rPr>
              <a:t>toda</a:t>
            </a:r>
            <a:r>
              <a:rPr sz="950" b="0">
                <a:solidFill>
                  <a:srgbClr val="475569"/>
                </a:solidFill>
                <a:latin typeface="Calibri"/>
              </a:rPr>
              <a:t> a base, para produzir o modelo que vai para produção. O Nested responde </a:t>
            </a:r>
            <a:r>
              <a:rPr sz="950" b="1">
                <a:solidFill>
                  <a:srgbClr val="12303A"/>
                </a:solidFill>
                <a:latin typeface="Calibri"/>
              </a:rPr>
              <a:t>"quão confiável é o meu jeito de escolher?"</a:t>
            </a:r>
            <a:r>
              <a:rPr sz="950" b="0">
                <a:solidFill>
                  <a:srgbClr val="475569"/>
                </a:solidFill>
                <a:latin typeface="Calibri"/>
              </a:rPr>
              <a:t>; a busca final responde </a:t>
            </a:r>
            <a:r>
              <a:rPr sz="950" b="1">
                <a:solidFill>
                  <a:srgbClr val="12303A"/>
                </a:solidFill>
                <a:latin typeface="Calibri"/>
              </a:rPr>
              <a:t>"qual C eu entrego?"</a:t>
            </a:r>
            <a:r>
              <a:rPr sz="950" b="0">
                <a:solidFill>
                  <a:srgbClr val="475569"/>
                </a:solidFill>
                <a:latin typeface="Calibri"/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17320"/>
          <a:ext cx="11003249" cy="2852928"/>
        </p:xfrm>
        <a:graphic>
          <a:graphicData uri="http://schemas.openxmlformats.org/drawingml/2006/table">
            <a:tbl>
              <a:tblPr/>
              <a:tblGrid>
                <a:gridCol w="3931920"/>
                <a:gridCol w="2514600"/>
                <a:gridCol w="4556729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 sua situação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 que basta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 quê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2303A"/>
                          </a:solidFill>
                          <a:latin typeface="Calibri"/>
                        </a:rPr>
                        <a:t>Base grande, com um teste separado que ninguém nunca tocou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2303A"/>
                          </a:solidFill>
                          <a:latin typeface="Calibri"/>
                        </a:rPr>
                        <a:t>GridSearchCV no treino
+ 1 medição no teste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2303A"/>
                          </a:solidFill>
                          <a:latin typeface="Calibri"/>
                        </a:rPr>
                        <a:t>o teste já é, por construção, o pedaço que a escolha não viu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2303A"/>
                          </a:solidFill>
                          <a:latin typeface="Calibri"/>
                        </a:rPr>
                        <a:t>Base pequena: reservar 30% para teste dói de verdade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2303A"/>
                          </a:solidFill>
                          <a:latin typeface="Calibri"/>
                        </a:rPr>
                        <a:t>Nested CV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2303A"/>
                          </a:solidFill>
                          <a:latin typeface="Calibri"/>
                        </a:rPr>
                        <a:t>todo dado é medido uma vez; a nota ainda vem com desvio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2303A"/>
                          </a:solidFill>
                          <a:latin typeface="Calibri"/>
                        </a:rPr>
                        <a:t>Você já olhou o teste — refinou a grade depois de ver o resultado nele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2303A"/>
                          </a:solidFill>
                          <a:latin typeface="Calibri"/>
                        </a:rPr>
                        <a:t>Nested CV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2303A"/>
                          </a:solidFill>
                          <a:latin typeface="Calibri"/>
                        </a:rPr>
                        <a:t>aquele teste deixou de ser imparcial ao influenciar uma decisão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2303A"/>
                          </a:solidFill>
                          <a:latin typeface="Calibri"/>
                        </a:rPr>
                        <a:t>Você precisa do modelo que vai para produção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2303A"/>
                          </a:solidFill>
                          <a:latin typeface="Calibri"/>
                        </a:rPr>
                        <a:t>GridSearchCV em toda a base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2303A"/>
                          </a:solidFill>
                          <a:latin typeface="Calibri"/>
                        </a:rPr>
                        <a:t>só ele devolve best_params_ e best_estimator_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2303A"/>
                          </a:solidFill>
                          <a:latin typeface="Calibri"/>
                        </a:rPr>
                        <a:t>Você precisa anunciar "espero ~0,83 em dados novos"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2303A"/>
                          </a:solidFill>
                          <a:latin typeface="Calibri"/>
                        </a:rPr>
                        <a:t>Nested CV antes,
GridSearchCV depois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2303A"/>
                          </a:solidFill>
                          <a:latin typeface="Calibri"/>
                        </a:rPr>
                        <a:t>um dá o número que você anuncia; o outro, o modelo que você entrega</a:t>
                      </a:r>
                    </a:p>
                  </a:txBody>
                  <a:tcPr marL="91440" marR="91440" marT="36576" marB="36576">
                    <a:lnT w="0">
                      <a:noFill/>
                    </a:lnT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A52186506F641B6D0943FD8590E16" ma:contentTypeVersion="3" ma:contentTypeDescription="Crie um novo documento." ma:contentTypeScope="" ma:versionID="892c9e91ca2da4b656e9e1873602cb98">
  <xsd:schema xmlns:xsd="http://www.w3.org/2001/XMLSchema" xmlns:xs="http://www.w3.org/2001/XMLSchema" xmlns:p="http://schemas.microsoft.com/office/2006/metadata/properties" xmlns:ns2="4619301c-9bea-416d-958d-6c0d9dcf89c5" targetNamespace="http://schemas.microsoft.com/office/2006/metadata/properties" ma:root="true" ma:fieldsID="8b2a4b9bb00df620f25170aaf9638c53" ns2:_="">
    <xsd:import namespace="4619301c-9bea-416d-958d-6c0d9dcf89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301c-9bea-416d-958d-6c0d9dcf89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300F166-8E88-4F29-B411-16D7935B0E37}"/>
</file>

<file path=customXml/itemProps2.xml><?xml version="1.0" encoding="utf-8"?>
<ds:datastoreItem xmlns:ds="http://schemas.openxmlformats.org/officeDocument/2006/customXml" ds:itemID="{9853E504-86EF-44BC-B65A-9A0C4FE6CDFC}"/>
</file>

<file path=customXml/itemProps3.xml><?xml version="1.0" encoding="utf-8"?>
<ds:datastoreItem xmlns:ds="http://schemas.openxmlformats.org/officeDocument/2006/customXml" ds:itemID="{E908D740-4D6C-4169-94CA-791FEF805D04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1114</Words>
  <Application>Microsoft Office PowerPoint</Application>
  <PresentationFormat>Widescreen</PresentationFormat>
  <Paragraphs>130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Giovani Giulio</cp:lastModifiedBy>
  <cp:revision>2</cp:revision>
  <dcterms:created xsi:type="dcterms:W3CDTF">2026-09-06T22:53:28Z</dcterms:created>
  <dcterms:modified xsi:type="dcterms:W3CDTF">2026-09-12T19:48:55Z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0x010100D00A52186506F641B6D0943FD8590E16</vt:lpwstr>
  </property>
</Properties>
</file>