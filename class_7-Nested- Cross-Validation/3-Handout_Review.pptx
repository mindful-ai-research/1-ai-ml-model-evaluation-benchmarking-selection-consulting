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9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Desafio 1 · Ciência de Dados 1 — gabarito: o que a resposta deveria conter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15/09/2026    ·   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110032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CIÊNCIA DE DADOS 1 · DESAFIO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14600"/>
            <a:ext cx="1100324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2303A"/>
                </a:solidFill>
                <a:latin typeface="Cambria"/>
              </a:rPr>
              <a:t>Gabarito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Como o desafio foi montado — e por que o seu caderno é diferente do meu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Desafio 1 · Ciência de Dados 1 — gabarito: o que a resposta deveria conter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15/09/2026    ·  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1003249" cy="1481328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81912"/>
            <a:ext cx="10180289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Todos receberam os </a:t>
            </a:r>
            <a:r>
              <a:rPr sz="1600" b="1">
                <a:solidFill>
                  <a:srgbClr val="12303A"/>
                </a:solidFill>
                <a:latin typeface="Calibri"/>
              </a:rPr>
              <a:t>mesmos seis exercícios</a:t>
            </a:r>
            <a:r>
              <a:rPr sz="1600" b="0">
                <a:solidFill>
                  <a:srgbClr val="475569"/>
                </a:solidFill>
                <a:latin typeface="Calibri"/>
              </a:rPr>
              <a:t>, mas em </a:t>
            </a:r>
            <a:r>
              <a:rPr sz="1600" b="1">
                <a:solidFill>
                  <a:srgbClr val="12303A"/>
                </a:solidFill>
                <a:latin typeface="Calibri"/>
              </a:rPr>
              <a:t>ordem embaralhada</a:t>
            </a:r>
            <a:r>
              <a:rPr sz="1600" b="0">
                <a:solidFill>
                  <a:srgbClr val="475569"/>
                </a:solidFill>
                <a:latin typeface="Calibri"/>
              </a:rPr>
              <a:t> e com </a:t>
            </a:r>
            <a:r>
              <a:rPr sz="1600" b="1">
                <a:solidFill>
                  <a:srgbClr val="12303A"/>
                </a:solidFill>
                <a:latin typeface="Calibri"/>
              </a:rPr>
              <a:t>CSVs gerados individualmente</a:t>
            </a:r>
            <a:r>
              <a:rPr sz="1600" b="0">
                <a:solidFill>
                  <a:srgbClr val="475569"/>
                </a:solidFill>
                <a:latin typeface="Calibri"/>
              </a:rPr>
              <a:t>. Por isso a correção é por TIPO de exercício, e cada resposta foi conferida contra o gabarito calculado a partir dos dados daquele aluno.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43200"/>
            <a:ext cx="5532120" cy="24597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3035808"/>
            <a:ext cx="4946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ERA IGUAL PARA TODOS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493008"/>
            <a:ext cx="4946904" cy="1472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Os seis enunciados, palavra por palavra, e o código de cada célula.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A estrutura dos dados: mesma quantidade de linhas, mesmas colunas, mesmo tipo de armadilha em cada exercício.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Os pesos de cada exercício e de cada item.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743200"/>
            <a:ext cx="5105369" cy="24597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84848" y="3035808"/>
            <a:ext cx="45201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MUDAVA DE ALUNO PARA ALUNO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493008"/>
            <a:ext cx="4520153" cy="1472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Os números dentro dos CSVs — logo, todos os VP, FP, FN, recall, AUC, MAE, R² e a profundidade da árvore.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A ordem em que os seis exercícios apareciam no caderno.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Consequência: </a:t>
            </a:r>
            <a:r>
              <a:rPr sz="1250" b="0">
                <a:solidFill>
                  <a:srgbClr val="475569"/>
                </a:solidFill>
                <a:latin typeface="Calibri"/>
              </a:rPr>
              <a:t>a resposta certa do colega pode ser um número diferente do seu. O que vale é a conta bater com os SEUS dados.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Nestes slides eu uso o conjunto de referência do professor. Compare o raciocínio, não os valores.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Exercício 1 (1,5) — Dois modelos e o custo do erro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Desafio 1 · Ciência de Dados 1 — gabarito: o que a resposta deveria conter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15/09/2026    ·    3</a:t>
            </a:r>
          </a:p>
        </p:txBody>
      </p:sp>
      <p:pic>
        <p:nvPicPr>
          <p:cNvPr id="5" name="Picture 4" descr="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43" y="875659"/>
            <a:ext cx="4550283" cy="29556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23560" y="1024128"/>
            <a:ext cx="5971032" cy="168249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16168" y="1316736"/>
            <a:ext cx="5385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ENUNCIADO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6168" y="1773936"/>
            <a:ext cx="5385816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Um modelo detecta </a:t>
            </a:r>
            <a:r>
              <a:rPr sz="1200" b="1">
                <a:solidFill>
                  <a:srgbClr val="12303A"/>
                </a:solidFill>
                <a:latin typeface="Calibri"/>
              </a:rPr>
              <a:t>falha</a:t>
            </a:r>
            <a:r>
              <a:rPr sz="1200" b="0">
                <a:solidFill>
                  <a:srgbClr val="475569"/>
                </a:solidFill>
                <a:latin typeface="Calibri"/>
              </a:rPr>
              <a:t> em um equipamento. Um </a:t>
            </a:r>
            <a:r>
              <a:rPr sz="1200" b="1">
                <a:solidFill>
                  <a:srgbClr val="12303A"/>
                </a:solidFill>
                <a:latin typeface="Calibri"/>
              </a:rPr>
              <a:t>FN</a:t>
            </a:r>
            <a:r>
              <a:rPr sz="1200" b="0">
                <a:solidFill>
                  <a:srgbClr val="475569"/>
                </a:solidFill>
                <a:latin typeface="Calibri"/>
              </a:rPr>
              <a:t> (falha não detectada) causa uma parada cara; um </a:t>
            </a:r>
            <a:r>
              <a:rPr sz="1200" b="1">
                <a:solidFill>
                  <a:srgbClr val="12303A"/>
                </a:solidFill>
                <a:latin typeface="Calibri"/>
              </a:rPr>
              <a:t>FP</a:t>
            </a:r>
            <a:r>
              <a:rPr sz="1200" b="0">
                <a:solidFill>
                  <a:srgbClr val="475569"/>
                </a:solidFill>
                <a:latin typeface="Calibri"/>
              </a:rPr>
              <a:t> (alarme falso) é barato (só uma checagem). O gráfico mostra a matriz de confusão de dois modelos, A e 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1343" y="3716321"/>
            <a:ext cx="11003249" cy="272491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3951" y="3716321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A RESPOSTA DEVERIA CONTER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951" y="4173521"/>
            <a:ext cx="10418033" cy="2029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12303A"/>
                </a:solidFill>
                <a:latin typeface="Calibri"/>
              </a:rPr>
              <a:t>a) (0,60)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Calcule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o 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recall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e a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precisão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de A e de B.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12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12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os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quatro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números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: recall e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precisão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de A e de B, 0,15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cada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calculados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com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os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dados do SEU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caderno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12303A"/>
                </a:solidFill>
                <a:latin typeface="Calibri"/>
              </a:rPr>
              <a:t>b) (0,45) 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Qual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modelo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você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escolhe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para ESTE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caso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?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Justifique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pelo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custo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dos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erros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12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12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escolher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o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modelo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(0,25) e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justificar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pelo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custo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do FN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(0,20) — a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falha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não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detectada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é o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erro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caro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, o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alarme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falso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não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12303A"/>
                </a:solidFill>
                <a:latin typeface="Calibri"/>
              </a:rPr>
              <a:t>c) (0,45) 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O que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você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faria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com o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limiar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do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modelo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escolhido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para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melhorar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ainda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mais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o que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importa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aqui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?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Explique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o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efeito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em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recall e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precisão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12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12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baixar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o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limiar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(0,20),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dizer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que o 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recall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sobe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(0,125) e que a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precisão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cai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(0,125).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Exercício 2 (1,5) — Acurácia alta = modelo bom?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Desafio 1 · Ciência de Dados 1 — gabarito: o que a resposta deveria conter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15/09/2026    ·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024128"/>
            <a:ext cx="5971032" cy="121615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16168" y="1316736"/>
            <a:ext cx="5385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ENUNCIADO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6168" y="1773936"/>
            <a:ext cx="53858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O código dá VP, VN, FP, FN (limiar 0,5), a proporção de positivos e as curvas ROC e PR.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08960"/>
            <a:ext cx="11003249" cy="2980944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3401568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A RESPOSTA DEVERIA CONTER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58768"/>
            <a:ext cx="10418033" cy="1993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00" b="1">
                <a:solidFill>
                  <a:srgbClr val="12303A"/>
                </a:solidFill>
                <a:latin typeface="Calibri"/>
              </a:rPr>
              <a:t>a) (0,45) </a:t>
            </a:r>
            <a:r>
              <a:rPr sz="1000" b="0">
                <a:solidFill>
                  <a:srgbClr val="12303A"/>
                </a:solidFill>
                <a:latin typeface="Calibri"/>
              </a:rPr>
              <a:t>Calcule </a:t>
            </a:r>
            <a:r>
              <a:rPr sz="1000" b="1">
                <a:solidFill>
                  <a:srgbClr val="12303A"/>
                </a:solidFill>
                <a:latin typeface="Calibri"/>
              </a:rPr>
              <a:t>acurácia</a:t>
            </a:r>
            <a:r>
              <a:rPr sz="1000" b="0">
                <a:solidFill>
                  <a:srgbClr val="12303A"/>
                </a:solidFill>
                <a:latin typeface="Calibri"/>
              </a:rPr>
              <a:t>, </a:t>
            </a:r>
            <a:r>
              <a:rPr sz="1000" b="1">
                <a:solidFill>
                  <a:srgbClr val="12303A"/>
                </a:solidFill>
                <a:latin typeface="Calibri"/>
              </a:rPr>
              <a:t>recall</a:t>
            </a:r>
            <a:r>
              <a:rPr sz="1000" b="0">
                <a:solidFill>
                  <a:srgbClr val="12303A"/>
                </a:solidFill>
                <a:latin typeface="Calibri"/>
              </a:rPr>
              <a:t> e </a:t>
            </a:r>
            <a:r>
              <a:rPr sz="1000" b="1">
                <a:solidFill>
                  <a:srgbClr val="12303A"/>
                </a:solidFill>
                <a:latin typeface="Calibri"/>
              </a:rPr>
              <a:t>precisão</a:t>
            </a:r>
            <a:r>
              <a:rPr sz="1000" b="0">
                <a:solidFill>
                  <a:srgbClr val="12303A"/>
                </a:solidFill>
                <a:latin typeface="Calibri"/>
              </a:rPr>
              <a:t> a partir de VP, VN, FP e FN.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00" b="1">
                <a:solidFill>
                  <a:srgbClr val="0B5A54"/>
                </a:solidFill>
                <a:latin typeface="Calibri"/>
              </a:rPr>
              <a:t>Resp. esperada — </a:t>
            </a:r>
            <a:r>
              <a:rPr sz="1000" b="0">
                <a:solidFill>
                  <a:srgbClr val="475569"/>
                </a:solidFill>
                <a:latin typeface="Calibri"/>
              </a:rPr>
              <a:t>acurácia, recall e precisão — 0,15 cada, a partir de VP, VN, FP e FN.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00" b="1">
                <a:solidFill>
                  <a:srgbClr val="12303A"/>
                </a:solidFill>
                <a:latin typeface="Calibri"/>
              </a:rPr>
              <a:t>b) (0,60) </a:t>
            </a:r>
            <a:r>
              <a:rPr sz="1000" b="0">
                <a:solidFill>
                  <a:srgbClr val="12303A"/>
                </a:solidFill>
                <a:latin typeface="Calibri"/>
              </a:rPr>
              <a:t>O desenvolvedor disse que o modelo é bom </a:t>
            </a:r>
            <a:r>
              <a:rPr sz="1000" b="1">
                <a:solidFill>
                  <a:srgbClr val="12303A"/>
                </a:solidFill>
                <a:latin typeface="Calibri"/>
              </a:rPr>
              <a:t>porque a acurácia é alta</a:t>
            </a:r>
            <a:r>
              <a:rPr sz="1000" b="0">
                <a:solidFill>
                  <a:srgbClr val="12303A"/>
                </a:solidFill>
                <a:latin typeface="Calibri"/>
              </a:rPr>
              <a:t>. Ele está certo? Justifique usando a </a:t>
            </a:r>
            <a:r>
              <a:rPr sz="1000" b="1">
                <a:solidFill>
                  <a:srgbClr val="12303A"/>
                </a:solidFill>
                <a:latin typeface="Calibri"/>
              </a:rPr>
              <a:t>proporção de positivos</a:t>
            </a:r>
            <a:r>
              <a:rPr sz="1000" b="0">
                <a:solidFill>
                  <a:srgbClr val="12303A"/>
                </a:solidFill>
                <a:latin typeface="Calibri"/>
              </a:rPr>
              <a:t> e o que a ROC e a PR mostram.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00" b="1">
                <a:solidFill>
                  <a:srgbClr val="0B5A54"/>
                </a:solidFill>
                <a:latin typeface="Calibri"/>
              </a:rPr>
              <a:t>Resp. esperada — </a:t>
            </a:r>
            <a:r>
              <a:rPr sz="1000" b="0">
                <a:solidFill>
                  <a:srgbClr val="475569"/>
                </a:solidFill>
                <a:latin typeface="Calibri"/>
              </a:rPr>
              <a:t>dizer que </a:t>
            </a:r>
            <a:r>
              <a:rPr sz="1000" b="1">
                <a:solidFill>
                  <a:srgbClr val="12303A"/>
                </a:solidFill>
                <a:latin typeface="Calibri"/>
              </a:rPr>
              <a:t>não</a:t>
            </a:r>
            <a:r>
              <a:rPr sz="1000" b="0">
                <a:solidFill>
                  <a:srgbClr val="475569"/>
                </a:solidFill>
                <a:latin typeface="Calibri"/>
              </a:rPr>
              <a:t> está certo (0,15); apontar a </a:t>
            </a:r>
            <a:r>
              <a:rPr sz="1000" b="1">
                <a:solidFill>
                  <a:srgbClr val="12303A"/>
                </a:solidFill>
                <a:latin typeface="Calibri"/>
              </a:rPr>
              <a:t>classe rara</a:t>
            </a:r>
            <a:r>
              <a:rPr sz="1000" b="0">
                <a:solidFill>
                  <a:srgbClr val="475569"/>
                </a:solidFill>
                <a:latin typeface="Calibri"/>
              </a:rPr>
              <a:t>, citando a proporção de positivos (0,20); e a segunda metade da justificativa (0,25): </a:t>
            </a:r>
            <a:r>
              <a:rPr sz="1000" b="1">
                <a:solidFill>
                  <a:srgbClr val="12303A"/>
                </a:solidFill>
                <a:latin typeface="Calibri"/>
              </a:rPr>
              <a:t>a ROC é otimista no desbalanceado</a:t>
            </a:r>
            <a:r>
              <a:rPr sz="1000" b="0">
                <a:solidFill>
                  <a:srgbClr val="475569"/>
                </a:solidFill>
                <a:latin typeface="Calibri"/>
              </a:rPr>
              <a:t> OU </a:t>
            </a:r>
            <a:r>
              <a:rPr sz="1000" b="1">
                <a:solidFill>
                  <a:srgbClr val="12303A"/>
                </a:solidFill>
                <a:latin typeface="Calibri"/>
              </a:rPr>
              <a:t>a PR lida contra a linha de base</a:t>
            </a:r>
            <a:r>
              <a:rPr sz="1000" b="0">
                <a:solidFill>
                  <a:srgbClr val="475569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00" b="1">
                <a:solidFill>
                  <a:srgbClr val="12303A"/>
                </a:solidFill>
                <a:latin typeface="Calibri"/>
              </a:rPr>
              <a:t>c) (0,45) </a:t>
            </a:r>
            <a:r>
              <a:rPr sz="1000" b="0">
                <a:solidFill>
                  <a:srgbClr val="12303A"/>
                </a:solidFill>
                <a:latin typeface="Calibri"/>
              </a:rPr>
              <a:t>Se o modelo passasse a acertar </a:t>
            </a:r>
            <a:r>
              <a:rPr sz="1000" b="1">
                <a:solidFill>
                  <a:srgbClr val="12303A"/>
                </a:solidFill>
                <a:latin typeface="Calibri"/>
              </a:rPr>
              <a:t>2 dos FN</a:t>
            </a:r>
            <a:r>
              <a:rPr sz="1000" b="0">
                <a:solidFill>
                  <a:srgbClr val="12303A"/>
                </a:solidFill>
                <a:latin typeface="Calibri"/>
              </a:rPr>
              <a:t> (viram VP), qual seria o </a:t>
            </a:r>
            <a:r>
              <a:rPr sz="1000" b="1">
                <a:solidFill>
                  <a:srgbClr val="12303A"/>
                </a:solidFill>
                <a:latin typeface="Calibri"/>
              </a:rPr>
              <a:t>novo recall</a:t>
            </a:r>
            <a:r>
              <a:rPr sz="1000" b="0">
                <a:solidFill>
                  <a:srgbClr val="12303A"/>
                </a:solidFill>
                <a:latin typeface="Calibri"/>
              </a:rPr>
              <a:t>? Mostre a conta.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00" b="1">
                <a:solidFill>
                  <a:srgbClr val="0B5A54"/>
                </a:solidFill>
                <a:latin typeface="Calibri"/>
              </a:rPr>
              <a:t>Resp. esperada — </a:t>
            </a:r>
            <a:r>
              <a:rPr sz="1000" b="0">
                <a:solidFill>
                  <a:srgbClr val="475569"/>
                </a:solidFill>
                <a:latin typeface="Calibri"/>
              </a:rPr>
              <a:t>montar </a:t>
            </a:r>
            <a:r>
              <a:rPr sz="1000" b="1">
                <a:solidFill>
                  <a:srgbClr val="12303A"/>
                </a:solidFill>
                <a:latin typeface="Calibri"/>
              </a:rPr>
              <a:t>(VP+2) ÷ (VP+FN)</a:t>
            </a:r>
            <a:r>
              <a:rPr sz="1000" b="0">
                <a:solidFill>
                  <a:srgbClr val="475569"/>
                </a:solidFill>
                <a:latin typeface="Calibri"/>
              </a:rPr>
              <a:t> mantendo o denominador (0,25) e dar o </a:t>
            </a:r>
            <a:r>
              <a:rPr sz="1000" b="1">
                <a:solidFill>
                  <a:srgbClr val="12303A"/>
                </a:solidFill>
                <a:latin typeface="Calibri"/>
              </a:rPr>
              <a:t>valor</a:t>
            </a:r>
            <a:r>
              <a:rPr sz="1000" b="0">
                <a:solidFill>
                  <a:srgbClr val="475569"/>
                </a:solidFill>
                <a:latin typeface="Calibri"/>
              </a:rPr>
              <a:t> (0,20).</a:t>
            </a:r>
          </a:p>
        </p:txBody>
      </p:sp>
      <p:pic>
        <p:nvPicPr>
          <p:cNvPr id="5" name="Picture 4" descr="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064603"/>
            <a:ext cx="4651303" cy="18066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Exercício 3 (2,0) — Limiar, matriz de confusão e ROC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Desafio 1 · Ciência de Dados 1 — gabarito: o que a resposta deveria conter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15/09/2026    ·    5</a:t>
            </a:r>
          </a:p>
        </p:txBody>
      </p:sp>
      <p:pic>
        <p:nvPicPr>
          <p:cNvPr id="5" name="Picture 4" descr="g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210" y="1024128"/>
            <a:ext cx="2570019" cy="18745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23560" y="1024128"/>
            <a:ext cx="5971032" cy="145389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16168" y="1316736"/>
            <a:ext cx="5385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ENUNCIADO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6168" y="1773936"/>
            <a:ext cx="5385816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O gráfico mostra a nota de 15 e-mails (cor = spam real ou não) com o limiar em </a:t>
            </a:r>
            <a:r>
              <a:rPr sz="1200" b="1">
                <a:solidFill>
                  <a:srgbClr val="12303A"/>
                </a:solidFill>
                <a:latin typeface="Calibri"/>
              </a:rPr>
              <a:t>0,5</a:t>
            </a:r>
            <a:r>
              <a:rPr sz="1200" b="0">
                <a:solidFill>
                  <a:srgbClr val="475569"/>
                </a:solidFill>
                <a:latin typeface="Calibri"/>
              </a:rPr>
              <a:t> (spam = positivo).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08960"/>
            <a:ext cx="5532120" cy="2843784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3401568"/>
            <a:ext cx="4946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A RESPOSTA DEVERIA CONTER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58768"/>
            <a:ext cx="4946904" cy="1856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50" b="1">
                <a:solidFill>
                  <a:srgbClr val="12303A"/>
                </a:solidFill>
                <a:latin typeface="Calibri"/>
              </a:rPr>
              <a:t>a) (0,50) </a:t>
            </a:r>
            <a:r>
              <a:rPr sz="950" b="0">
                <a:solidFill>
                  <a:srgbClr val="12303A"/>
                </a:solidFill>
                <a:latin typeface="Calibri"/>
              </a:rPr>
              <a:t>Com o limiar 0,5, defina VP, VN, FP e FN.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50" b="1">
                <a:solidFill>
                  <a:srgbClr val="0B5A54"/>
                </a:solidFill>
                <a:latin typeface="Calibri"/>
              </a:rPr>
              <a:t>Resp. esperada — </a:t>
            </a:r>
            <a:r>
              <a:rPr sz="950" b="0">
                <a:solidFill>
                  <a:srgbClr val="475569"/>
                </a:solidFill>
                <a:latin typeface="Calibri"/>
              </a:rPr>
              <a:t>VP, VN, FP e FN contados no gráfico — 0,125 cada.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50" b="1">
                <a:solidFill>
                  <a:srgbClr val="12303A"/>
                </a:solidFill>
                <a:latin typeface="Calibri"/>
              </a:rPr>
              <a:t>b) (0,40) </a:t>
            </a:r>
            <a:r>
              <a:rPr sz="950" b="0">
                <a:solidFill>
                  <a:srgbClr val="12303A"/>
                </a:solidFill>
                <a:latin typeface="Calibri"/>
              </a:rPr>
              <a:t>O ideal é o </a:t>
            </a:r>
            <a:r>
              <a:rPr sz="950" b="1">
                <a:solidFill>
                  <a:srgbClr val="12303A"/>
                </a:solidFill>
                <a:latin typeface="Calibri"/>
              </a:rPr>
              <a:t>maior recall possível</a:t>
            </a:r>
            <a:r>
              <a:rPr sz="950" b="0">
                <a:solidFill>
                  <a:srgbClr val="12303A"/>
                </a:solidFill>
                <a:latin typeface="Calibri"/>
              </a:rPr>
              <a:t>. O que fazer com o limiar? Explique.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50" b="1">
                <a:solidFill>
                  <a:srgbClr val="0B5A54"/>
                </a:solidFill>
                <a:latin typeface="Calibri"/>
              </a:rPr>
              <a:t>Resp. esperada — </a:t>
            </a:r>
            <a:r>
              <a:rPr sz="950" b="1">
                <a:solidFill>
                  <a:srgbClr val="12303A"/>
                </a:solidFill>
                <a:latin typeface="Calibri"/>
              </a:rPr>
              <a:t>baixar</a:t>
            </a:r>
            <a:r>
              <a:rPr sz="950" b="0">
                <a:solidFill>
                  <a:srgbClr val="475569"/>
                </a:solidFill>
                <a:latin typeface="Calibri"/>
              </a:rPr>
              <a:t> o limiar (0,25) e explicar o mecanismo (0,15): mais e-mails passam a ser chamados de spam, então menos FN.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108960"/>
            <a:ext cx="5105369" cy="2843784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84848" y="3401568"/>
            <a:ext cx="45201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(continuação)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3858768"/>
            <a:ext cx="4520153" cy="1856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50" b="1">
                <a:solidFill>
                  <a:srgbClr val="12303A"/>
                </a:solidFill>
                <a:latin typeface="Calibri"/>
              </a:rPr>
              <a:t>c) (0,40) </a:t>
            </a:r>
            <a:r>
              <a:rPr sz="950" b="0">
                <a:solidFill>
                  <a:srgbClr val="12303A"/>
                </a:solidFill>
                <a:latin typeface="Calibri"/>
              </a:rPr>
              <a:t>Avalie a </a:t>
            </a:r>
            <a:r>
              <a:rPr sz="950" b="1">
                <a:solidFill>
                  <a:srgbClr val="12303A"/>
                </a:solidFill>
                <a:latin typeface="Calibri"/>
              </a:rPr>
              <a:t>ROC/AUC</a:t>
            </a:r>
            <a:r>
              <a:rPr sz="950" b="0">
                <a:solidFill>
                  <a:srgbClr val="12303A"/>
                </a:solidFill>
                <a:latin typeface="Calibri"/>
              </a:rPr>
              <a:t>: o que ela representa e o que faria a curva melhorar?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50" b="1">
                <a:solidFill>
                  <a:srgbClr val="0B5A54"/>
                </a:solidFill>
                <a:latin typeface="Calibri"/>
              </a:rPr>
              <a:t>Resp. esperada — </a:t>
            </a:r>
            <a:r>
              <a:rPr sz="950" b="1">
                <a:solidFill>
                  <a:srgbClr val="12303A"/>
                </a:solidFill>
                <a:latin typeface="Calibri"/>
              </a:rPr>
              <a:t>o que a AUC mede</a:t>
            </a:r>
            <a:r>
              <a:rPr sz="950" b="0">
                <a:solidFill>
                  <a:srgbClr val="475569"/>
                </a:solidFill>
                <a:latin typeface="Calibri"/>
              </a:rPr>
              <a:t> (0,25): a probabilidade de dar nota maior a um spam do que a um não-spam sorteados ao acaso — a separação em todos os limiares; e </a:t>
            </a:r>
            <a:r>
              <a:rPr sz="950" b="1">
                <a:solidFill>
                  <a:srgbClr val="12303A"/>
                </a:solidFill>
                <a:latin typeface="Calibri"/>
              </a:rPr>
              <a:t>o que a melhoraria</a:t>
            </a:r>
            <a:r>
              <a:rPr sz="950" b="0">
                <a:solidFill>
                  <a:srgbClr val="475569"/>
                </a:solidFill>
                <a:latin typeface="Calibri"/>
              </a:rPr>
              <a:t> (0,15): notas que separem melhor as classes, não mexer no limiar.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50" b="1">
                <a:solidFill>
                  <a:srgbClr val="12303A"/>
                </a:solidFill>
                <a:latin typeface="Calibri"/>
              </a:rPr>
              <a:t>d) (0,70) </a:t>
            </a:r>
            <a:r>
              <a:rPr sz="950" b="0">
                <a:solidFill>
                  <a:srgbClr val="12303A"/>
                </a:solidFill>
                <a:latin typeface="Calibri"/>
              </a:rPr>
              <a:t>Agora suba o limiar para </a:t>
            </a:r>
            <a:r>
              <a:rPr sz="950" b="1">
                <a:solidFill>
                  <a:srgbClr val="12303A"/>
                </a:solidFill>
                <a:latin typeface="Calibri"/>
              </a:rPr>
              <a:t>0,7</a:t>
            </a:r>
            <a:r>
              <a:rPr sz="950" b="0">
                <a:solidFill>
                  <a:srgbClr val="12303A"/>
                </a:solidFill>
                <a:latin typeface="Calibri"/>
              </a:rPr>
              <a:t>: dê os </a:t>
            </a:r>
            <a:r>
              <a:rPr sz="950" b="1">
                <a:solidFill>
                  <a:srgbClr val="12303A"/>
                </a:solidFill>
                <a:latin typeface="Calibri"/>
              </a:rPr>
              <a:t>novos VP, FP e FN</a:t>
            </a:r>
            <a:r>
              <a:rPr sz="950" b="0">
                <a:solidFill>
                  <a:srgbClr val="12303A"/>
                </a:solidFill>
                <a:latin typeface="Calibri"/>
              </a:rPr>
              <a:t> e </a:t>
            </a:r>
            <a:r>
              <a:rPr sz="950" b="1">
                <a:solidFill>
                  <a:srgbClr val="12303A"/>
                </a:solidFill>
                <a:latin typeface="Calibri"/>
              </a:rPr>
              <a:t>recalcule precisão e recall</a:t>
            </a:r>
            <a:r>
              <a:rPr sz="950" b="0">
                <a:solidFill>
                  <a:srgbClr val="12303A"/>
                </a:solidFill>
                <a:latin typeface="Calibri"/>
              </a:rPr>
              <a:t>. Compare com o de 0,5.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50" b="1">
                <a:solidFill>
                  <a:srgbClr val="0B5A54"/>
                </a:solidFill>
                <a:latin typeface="Calibri"/>
              </a:rPr>
              <a:t>Resp. esperada — </a:t>
            </a:r>
            <a:r>
              <a:rPr sz="950" b="0">
                <a:solidFill>
                  <a:srgbClr val="475569"/>
                </a:solidFill>
                <a:latin typeface="Calibri"/>
              </a:rPr>
              <a:t>os </a:t>
            </a:r>
            <a:r>
              <a:rPr sz="950" b="1">
                <a:solidFill>
                  <a:srgbClr val="12303A"/>
                </a:solidFill>
                <a:latin typeface="Calibri"/>
              </a:rPr>
              <a:t>novos VP, FP e FN</a:t>
            </a:r>
            <a:r>
              <a:rPr sz="950" b="0">
                <a:solidFill>
                  <a:srgbClr val="475569"/>
                </a:solidFill>
                <a:latin typeface="Calibri"/>
              </a:rPr>
              <a:t> em 0,7 (0,25); o </a:t>
            </a:r>
            <a:r>
              <a:rPr sz="950" b="1">
                <a:solidFill>
                  <a:srgbClr val="12303A"/>
                </a:solidFill>
                <a:latin typeface="Calibri"/>
              </a:rPr>
              <a:t>recall recalculado</a:t>
            </a:r>
            <a:r>
              <a:rPr sz="950" b="0">
                <a:solidFill>
                  <a:srgbClr val="475569"/>
                </a:solidFill>
                <a:latin typeface="Calibri"/>
              </a:rPr>
              <a:t> (0,15); a </a:t>
            </a:r>
            <a:r>
              <a:rPr sz="950" b="1">
                <a:solidFill>
                  <a:srgbClr val="12303A"/>
                </a:solidFill>
                <a:latin typeface="Calibri"/>
              </a:rPr>
              <a:t>precisão recalculada</a:t>
            </a:r>
            <a:r>
              <a:rPr sz="950" b="0">
                <a:solidFill>
                  <a:srgbClr val="475569"/>
                </a:solidFill>
                <a:latin typeface="Calibri"/>
              </a:rPr>
              <a:t> (0,15); e a </a:t>
            </a:r>
            <a:r>
              <a:rPr sz="950" b="1">
                <a:solidFill>
                  <a:srgbClr val="12303A"/>
                </a:solidFill>
                <a:latin typeface="Calibri"/>
              </a:rPr>
              <a:t>comparação explícita com 0,5</a:t>
            </a:r>
            <a:r>
              <a:rPr sz="950" b="0">
                <a:solidFill>
                  <a:srgbClr val="475569"/>
                </a:solidFill>
                <a:latin typeface="Calibri"/>
              </a:rPr>
              <a:t> (0,15).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Exercício 4 (1,5) — Log loss: o preço da confiança errada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Desafio 1 · Ciência de Dados 1 — gabarito: o que a resposta deveria conter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15/09/2026    · 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18852" y="1024128"/>
            <a:ext cx="4875740" cy="121615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71252" y="1316736"/>
            <a:ext cx="4430732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dirty="0">
                <a:solidFill>
                  <a:srgbClr val="0B5A54"/>
                </a:solidFill>
                <a:latin typeface="Calibri"/>
              </a:rPr>
              <a:t>O ENUNCIADO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4990" y="1773936"/>
            <a:ext cx="4496993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 dirty="0" err="1">
                <a:solidFill>
                  <a:srgbClr val="475569"/>
                </a:solidFill>
                <a:latin typeface="Calibri"/>
              </a:rPr>
              <a:t>Dois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modelos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(A e B)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preveem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os mesmos 5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exemplos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648" y="3584448"/>
            <a:ext cx="11003249" cy="278892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16256" y="3877056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dirty="0">
                <a:solidFill>
                  <a:srgbClr val="0B5A54"/>
                </a:solidFill>
                <a:latin typeface="Calibri"/>
              </a:rPr>
              <a:t>O QUE A RESPOSTA DEVERIA CONTER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255" y="4277467"/>
            <a:ext cx="10418033" cy="247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12303A"/>
                </a:solidFill>
                <a:latin typeface="Calibri"/>
              </a:rPr>
              <a:t>a) (0,50)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Os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dois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têm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a MESMA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acurácia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. Por que o 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log loss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difere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12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12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B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erra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um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exemplo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com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muita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confiança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— o log loss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pesa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a PROBABILIDADE dada à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classe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certa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, a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acurácia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só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olha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a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decisão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binária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. Item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único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: a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resposta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fecha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ou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não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fecha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12303A"/>
                </a:solidFill>
                <a:latin typeface="Calibri"/>
              </a:rPr>
              <a:t>b) (0,40) 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Qual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modelo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é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preferível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e por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quê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12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12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escolher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o 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(0,20) e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justificar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pela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calibração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/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menor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log loss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(0,20).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12303A"/>
                </a:solidFill>
                <a:latin typeface="Calibri"/>
              </a:rPr>
              <a:t>c) (0,60)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Olhando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a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perda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por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exemplo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de B, qual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exemplo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mais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pesa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no log loss?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Explique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com o valor.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12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12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identificar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o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exemplo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de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maior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perda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(0,30),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citar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o 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valor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dessa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perda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(0,20) e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dizer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por que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ele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domina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a soma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(0,10) — o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enunciado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escreve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"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explique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com o valor".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16F1E7A-47DF-11C1-2B7C-5D6CDCB924D2}"/>
              </a:ext>
            </a:extLst>
          </p:cNvPr>
          <p:cNvSpPr txBox="1"/>
          <p:nvPr/>
        </p:nvSpPr>
        <p:spPr>
          <a:xfrm>
            <a:off x="6692346" y="2295144"/>
            <a:ext cx="3412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dirty="0" err="1">
                <a:solidFill>
                  <a:schemeClr val="tx1"/>
                </a:solidFill>
                <a:effectLst/>
                <a:latin typeface="+mn-lt"/>
              </a:rPr>
              <a:t>acuracia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 A: 0.8 | </a:t>
            </a:r>
            <a:r>
              <a:rPr lang="pt-BR" sz="1800" b="0" i="0" dirty="0" err="1">
                <a:solidFill>
                  <a:schemeClr val="tx1"/>
                </a:solidFill>
                <a:effectLst/>
                <a:latin typeface="+mn-lt"/>
              </a:rPr>
              <a:t>acuracia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 B: 0.8 log </a:t>
            </a:r>
            <a:r>
              <a:rPr lang="pt-BR" sz="1800" b="0" i="0" dirty="0" err="1">
                <a:solidFill>
                  <a:schemeClr val="tx1"/>
                </a:solidFill>
                <a:effectLst/>
                <a:latin typeface="+mn-lt"/>
              </a:rPr>
              <a:t>loss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 A: 0.435 | log </a:t>
            </a:r>
            <a:r>
              <a:rPr lang="pt-BR" sz="1800" b="0" i="0" dirty="0" err="1">
                <a:solidFill>
                  <a:schemeClr val="tx1"/>
                </a:solidFill>
                <a:effectLst/>
                <a:latin typeface="+mn-lt"/>
              </a:rPr>
              <a:t>loss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 B: 0.875</a:t>
            </a:r>
            <a:endParaRPr lang="pt-BR" dirty="0"/>
          </a:p>
        </p:txBody>
      </p:sp>
      <p:pic>
        <p:nvPicPr>
          <p:cNvPr id="5" name="Picture 4" descr="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84" y="960120"/>
            <a:ext cx="6517096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Exercício 5 (2,0) — MAE, RMSE, R² e MAPE: qual usar?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Desafio 1 · Ciência de Dados 1 — gabarito: o que a resposta deveria conter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15/09/2026    · 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9836" y="1024128"/>
            <a:ext cx="4274755" cy="121615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09542" y="1316736"/>
            <a:ext cx="3792441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dirty="0">
                <a:solidFill>
                  <a:srgbClr val="0B5A54"/>
                </a:solidFill>
                <a:latin typeface="Calibri"/>
              </a:rPr>
              <a:t>O ENUNCIADO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9543" y="1880824"/>
            <a:ext cx="4274754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MAE, RMSE, R² e MAPE para duas colunas de escalas diferentes.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2325" y="3802583"/>
            <a:ext cx="5532120" cy="24976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4933" y="3942385"/>
            <a:ext cx="4946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A RESPOSTA DEVERIA CONTER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933" y="4399585"/>
            <a:ext cx="4946904" cy="2212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00" b="1" dirty="0">
                <a:solidFill>
                  <a:srgbClr val="12303A"/>
                </a:solidFill>
                <a:latin typeface="Calibri"/>
              </a:rPr>
              <a:t>a) (0,40) 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Na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Coluna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A, por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que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MAE e RMSE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ficam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tão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diferentes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9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9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o RMSE </a:t>
            </a:r>
            <a:r>
              <a:rPr sz="900" b="1" dirty="0" err="1">
                <a:solidFill>
                  <a:srgbClr val="12303A"/>
                </a:solidFill>
                <a:latin typeface="Calibri"/>
              </a:rPr>
              <a:t>eleva</a:t>
            </a:r>
            <a:r>
              <a:rPr sz="900" b="1" dirty="0">
                <a:solidFill>
                  <a:srgbClr val="12303A"/>
                </a:solidFill>
                <a:latin typeface="Calibri"/>
              </a:rPr>
              <a:t> o </a:t>
            </a:r>
            <a:r>
              <a:rPr sz="900" b="1" dirty="0" err="1">
                <a:solidFill>
                  <a:srgbClr val="12303A"/>
                </a:solidFill>
                <a:latin typeface="Calibri"/>
              </a:rPr>
              <a:t>erro</a:t>
            </a:r>
            <a:r>
              <a:rPr sz="900" b="1" dirty="0">
                <a:solidFill>
                  <a:srgbClr val="12303A"/>
                </a:solidFill>
                <a:latin typeface="Calibri"/>
              </a:rPr>
              <a:t> ao </a:t>
            </a:r>
            <a:r>
              <a:rPr sz="900" b="1" dirty="0" err="1">
                <a:solidFill>
                  <a:srgbClr val="12303A"/>
                </a:solidFill>
                <a:latin typeface="Calibri"/>
              </a:rPr>
              <a:t>quadrado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(0,20) e por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isso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900" b="1" dirty="0">
                <a:solidFill>
                  <a:srgbClr val="12303A"/>
                </a:solidFill>
                <a:latin typeface="Calibri"/>
              </a:rPr>
              <a:t>o outlier </a:t>
            </a:r>
            <a:r>
              <a:rPr sz="900" b="1" dirty="0" err="1">
                <a:solidFill>
                  <a:srgbClr val="12303A"/>
                </a:solidFill>
                <a:latin typeface="Calibri"/>
              </a:rPr>
              <a:t>domina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a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conta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(0,20).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00" b="1" dirty="0">
                <a:solidFill>
                  <a:srgbClr val="12303A"/>
                </a:solidFill>
                <a:latin typeface="Calibri"/>
              </a:rPr>
              <a:t>b) (0,40)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Dá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para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comparar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o MAE da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Coluna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A com o da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Coluna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B para dizer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onde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o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modelo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é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melhor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? Por quê?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9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9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900" b="1" dirty="0">
                <a:solidFill>
                  <a:srgbClr val="12303A"/>
                </a:solidFill>
                <a:latin typeface="Calibri"/>
              </a:rPr>
              <a:t>não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dá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para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comparar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(0,20),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porque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MAE e RMSE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ficam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900" b="1" dirty="0">
                <a:solidFill>
                  <a:srgbClr val="12303A"/>
                </a:solidFill>
                <a:latin typeface="Calibri"/>
              </a:rPr>
              <a:t>na </a:t>
            </a:r>
            <a:r>
              <a:rPr sz="900" b="1" dirty="0" err="1">
                <a:solidFill>
                  <a:srgbClr val="12303A"/>
                </a:solidFill>
                <a:latin typeface="Calibri"/>
              </a:rPr>
              <a:t>unidade</a:t>
            </a:r>
            <a:r>
              <a:rPr sz="900" b="1" dirty="0">
                <a:solidFill>
                  <a:srgbClr val="12303A"/>
                </a:solidFill>
                <a:latin typeface="Calibri"/>
              </a:rPr>
              <a:t> de </a:t>
            </a:r>
            <a:r>
              <a:rPr sz="900" b="1" dirty="0" err="1">
                <a:solidFill>
                  <a:srgbClr val="12303A"/>
                </a:solidFill>
                <a:latin typeface="Calibri"/>
              </a:rPr>
              <a:t>cada</a:t>
            </a:r>
            <a:r>
              <a:rPr sz="900" b="1" dirty="0">
                <a:solidFill>
                  <a:srgbClr val="12303A"/>
                </a:solidFill>
                <a:latin typeface="Calibri"/>
              </a:rPr>
              <a:t> </a:t>
            </a:r>
            <a:r>
              <a:rPr sz="900" b="1" dirty="0" err="1">
                <a:solidFill>
                  <a:srgbClr val="12303A"/>
                </a:solidFill>
                <a:latin typeface="Calibri"/>
              </a:rPr>
              <a:t>coluna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(0,20).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6587" y="3697356"/>
            <a:ext cx="5105369" cy="2730875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72813" y="3744764"/>
            <a:ext cx="45201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(continuação)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9196" y="4055661"/>
            <a:ext cx="4520153" cy="2212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00" b="1" dirty="0">
                <a:solidFill>
                  <a:srgbClr val="12303A"/>
                </a:solidFill>
                <a:latin typeface="Calibri"/>
              </a:rPr>
              <a:t>c) (0,40) 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Por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que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o MAPE da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Coluna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B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fica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tão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alto?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9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9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o MAPE </a:t>
            </a:r>
            <a:r>
              <a:rPr sz="900" b="1" dirty="0">
                <a:solidFill>
                  <a:srgbClr val="12303A"/>
                </a:solidFill>
                <a:latin typeface="Calibri"/>
              </a:rPr>
              <a:t>divide </a:t>
            </a:r>
            <a:r>
              <a:rPr sz="900" b="1" dirty="0" err="1">
                <a:solidFill>
                  <a:srgbClr val="12303A"/>
                </a:solidFill>
                <a:latin typeface="Calibri"/>
              </a:rPr>
              <a:t>pelo</a:t>
            </a:r>
            <a:r>
              <a:rPr sz="900" b="1" dirty="0">
                <a:solidFill>
                  <a:srgbClr val="12303A"/>
                </a:solidFill>
                <a:latin typeface="Calibri"/>
              </a:rPr>
              <a:t> valor real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(0,20) e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valores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900" b="1" dirty="0" err="1">
                <a:solidFill>
                  <a:srgbClr val="12303A"/>
                </a:solidFill>
                <a:latin typeface="Calibri"/>
              </a:rPr>
              <a:t>perto</a:t>
            </a:r>
            <a:r>
              <a:rPr sz="900" b="1" dirty="0">
                <a:solidFill>
                  <a:srgbClr val="12303A"/>
                </a:solidFill>
                <a:latin typeface="Calibri"/>
              </a:rPr>
              <a:t> de zero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fazem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o percentual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explodir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(0,20).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00" b="1" dirty="0">
                <a:solidFill>
                  <a:srgbClr val="12303A"/>
                </a:solidFill>
                <a:latin typeface="Calibri"/>
              </a:rPr>
              <a:t>d) (0,40) 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Qual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medida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é a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mais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adequada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para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julgar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o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modelo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?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Justifique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9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9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escolher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o </a:t>
            </a:r>
            <a:r>
              <a:rPr sz="900" b="1" dirty="0">
                <a:solidFill>
                  <a:srgbClr val="12303A"/>
                </a:solidFill>
                <a:latin typeface="Calibri"/>
              </a:rPr>
              <a:t>R²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(0,25),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porque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é </a:t>
            </a:r>
            <a:r>
              <a:rPr sz="900" b="1" dirty="0" err="1">
                <a:solidFill>
                  <a:srgbClr val="12303A"/>
                </a:solidFill>
                <a:latin typeface="Calibri"/>
              </a:rPr>
              <a:t>adimensional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e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portanto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comparável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entre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escalas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(0,15).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00" b="1" dirty="0">
                <a:solidFill>
                  <a:srgbClr val="12303A"/>
                </a:solidFill>
                <a:latin typeface="Calibri"/>
              </a:rPr>
              <a:t>e) (0,40) 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Se o MAIOR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erro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da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Coluna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A </a:t>
            </a:r>
            <a:r>
              <a:rPr sz="900" b="1" dirty="0" err="1">
                <a:solidFill>
                  <a:srgbClr val="12303A"/>
                </a:solidFill>
                <a:latin typeface="Calibri"/>
              </a:rPr>
              <a:t>dobrasse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, qual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muda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12303A"/>
                </a:solidFill>
                <a:latin typeface="Calibri"/>
              </a:rPr>
              <a:t>mais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: </a:t>
            </a:r>
            <a:r>
              <a:rPr sz="900" b="1" dirty="0">
                <a:solidFill>
                  <a:srgbClr val="12303A"/>
                </a:solidFill>
                <a:latin typeface="Calibri"/>
              </a:rPr>
              <a:t>MAE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 ou </a:t>
            </a:r>
            <a:r>
              <a:rPr sz="900" b="1" dirty="0">
                <a:solidFill>
                  <a:srgbClr val="12303A"/>
                </a:solidFill>
                <a:latin typeface="Calibri"/>
              </a:rPr>
              <a:t>RMSE</a:t>
            </a:r>
            <a:r>
              <a:rPr sz="900" b="0" dirty="0">
                <a:solidFill>
                  <a:srgbClr val="12303A"/>
                </a:solidFill>
                <a:latin typeface="Calibri"/>
              </a:rPr>
              <a:t>? Por quê?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9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9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o </a:t>
            </a:r>
            <a:r>
              <a:rPr sz="900" b="1" dirty="0">
                <a:solidFill>
                  <a:srgbClr val="12303A"/>
                </a:solidFill>
                <a:latin typeface="Calibri"/>
              </a:rPr>
              <a:t>RMSE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muda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mais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(0,20),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porque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900" b="1" dirty="0" err="1">
                <a:solidFill>
                  <a:srgbClr val="12303A"/>
                </a:solidFill>
                <a:latin typeface="Calibri"/>
              </a:rPr>
              <a:t>eleva</a:t>
            </a:r>
            <a:r>
              <a:rPr sz="900" b="1" dirty="0">
                <a:solidFill>
                  <a:srgbClr val="12303A"/>
                </a:solidFill>
                <a:latin typeface="Calibri"/>
              </a:rPr>
              <a:t> ao </a:t>
            </a:r>
            <a:r>
              <a:rPr sz="900" b="1" dirty="0" err="1">
                <a:solidFill>
                  <a:srgbClr val="12303A"/>
                </a:solidFill>
                <a:latin typeface="Calibri"/>
              </a:rPr>
              <a:t>quadrado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—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dobrar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o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erro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quadruplica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a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contribuição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—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enquanto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o MAE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cresce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em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linha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Calibri"/>
              </a:rPr>
              <a:t>reta</a:t>
            </a:r>
            <a:r>
              <a:rPr sz="900" b="0" dirty="0">
                <a:solidFill>
                  <a:srgbClr val="475569"/>
                </a:solidFill>
                <a:latin typeface="Calibri"/>
              </a:rPr>
              <a:t> (0,20).</a:t>
            </a:r>
          </a:p>
        </p:txBody>
      </p:sp>
      <p:pic>
        <p:nvPicPr>
          <p:cNvPr id="5" name="Picture 4" descr="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77" y="1024128"/>
            <a:ext cx="11236320" cy="42566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Exercício 5 (2,0) — MAE, RMSE, R² e MAPE: qual usar?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Desafio 1 · Ciência de Dados 1 — gabarito: o que a resposta deveria conter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15/09/2026    · 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9836" y="1024128"/>
            <a:ext cx="4274755" cy="121615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09542" y="1316736"/>
            <a:ext cx="3792441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dirty="0">
                <a:solidFill>
                  <a:srgbClr val="0B5A54"/>
                </a:solidFill>
                <a:latin typeface="Calibri"/>
              </a:rPr>
              <a:t>O ENUNCIADO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9543" y="1880824"/>
            <a:ext cx="4274754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MAE, RMSE, R² e MAPE para duas colunas de escalas diferentes.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7703" y="1024128"/>
            <a:ext cx="5532120" cy="24976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0776" y="1045734"/>
            <a:ext cx="4946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A RESPOSTA DEVERIA CONTER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776" y="1330518"/>
            <a:ext cx="4946904" cy="22499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dirty="0">
                <a:solidFill>
                  <a:srgbClr val="12303A"/>
                </a:solidFill>
                <a:latin typeface="Calibri"/>
              </a:rPr>
              <a:t>a) (0,40) </a:t>
            </a:r>
            <a:r>
              <a:rPr sz="1400" b="0" dirty="0">
                <a:solidFill>
                  <a:srgbClr val="12303A"/>
                </a:solidFill>
                <a:latin typeface="Calibri"/>
              </a:rPr>
              <a:t>Na </a:t>
            </a:r>
            <a:r>
              <a:rPr sz="1400" b="0" dirty="0" err="1">
                <a:solidFill>
                  <a:srgbClr val="12303A"/>
                </a:solidFill>
                <a:latin typeface="Calibri"/>
              </a:rPr>
              <a:t>Coluna</a:t>
            </a:r>
            <a:r>
              <a:rPr sz="1400" b="0" dirty="0">
                <a:solidFill>
                  <a:srgbClr val="12303A"/>
                </a:solidFill>
                <a:latin typeface="Calibri"/>
              </a:rPr>
              <a:t> A, por </a:t>
            </a:r>
            <a:r>
              <a:rPr sz="1400" b="0" dirty="0" err="1">
                <a:solidFill>
                  <a:srgbClr val="12303A"/>
                </a:solidFill>
                <a:latin typeface="Calibri"/>
              </a:rPr>
              <a:t>que</a:t>
            </a:r>
            <a:r>
              <a:rPr sz="1400" b="0" dirty="0">
                <a:solidFill>
                  <a:srgbClr val="12303A"/>
                </a:solidFill>
                <a:latin typeface="Calibri"/>
              </a:rPr>
              <a:t> MAE e RMSE </a:t>
            </a:r>
            <a:r>
              <a:rPr sz="1400" b="0" dirty="0" err="1">
                <a:solidFill>
                  <a:srgbClr val="12303A"/>
                </a:solidFill>
                <a:latin typeface="Calibri"/>
              </a:rPr>
              <a:t>ficam</a:t>
            </a:r>
            <a:r>
              <a:rPr sz="14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2303A"/>
                </a:solidFill>
                <a:latin typeface="Calibri"/>
              </a:rPr>
              <a:t>tão</a:t>
            </a:r>
            <a:r>
              <a:rPr sz="14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2303A"/>
                </a:solidFill>
                <a:latin typeface="Calibri"/>
              </a:rPr>
              <a:t>diferentes</a:t>
            </a:r>
            <a:r>
              <a:rPr sz="1400" b="0" dirty="0">
                <a:solidFill>
                  <a:srgbClr val="12303A"/>
                </a:solidFill>
                <a:latin typeface="Calibri"/>
              </a:rPr>
              <a:t>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14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14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o RMSE </a:t>
            </a:r>
            <a:r>
              <a:rPr sz="1400" b="1" dirty="0" err="1">
                <a:solidFill>
                  <a:srgbClr val="12303A"/>
                </a:solidFill>
                <a:latin typeface="Calibri"/>
              </a:rPr>
              <a:t>eleva</a:t>
            </a:r>
            <a:r>
              <a:rPr sz="1400" b="1" dirty="0">
                <a:solidFill>
                  <a:srgbClr val="12303A"/>
                </a:solidFill>
                <a:latin typeface="Calibri"/>
              </a:rPr>
              <a:t> o </a:t>
            </a:r>
            <a:r>
              <a:rPr sz="1400" b="1" dirty="0" err="1">
                <a:solidFill>
                  <a:srgbClr val="12303A"/>
                </a:solidFill>
                <a:latin typeface="Calibri"/>
              </a:rPr>
              <a:t>erro</a:t>
            </a:r>
            <a:r>
              <a:rPr sz="1400" b="1" dirty="0">
                <a:solidFill>
                  <a:srgbClr val="12303A"/>
                </a:solidFill>
                <a:latin typeface="Calibri"/>
              </a:rPr>
              <a:t> ao </a:t>
            </a:r>
            <a:r>
              <a:rPr sz="1400" b="1" dirty="0" err="1">
                <a:solidFill>
                  <a:srgbClr val="12303A"/>
                </a:solidFill>
                <a:latin typeface="Calibri"/>
              </a:rPr>
              <a:t>quadrado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(0,20) e por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isso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400" b="1" dirty="0">
                <a:solidFill>
                  <a:srgbClr val="12303A"/>
                </a:solidFill>
                <a:latin typeface="Calibri"/>
              </a:rPr>
              <a:t>o outlier </a:t>
            </a:r>
            <a:r>
              <a:rPr sz="1400" b="1" dirty="0" err="1">
                <a:solidFill>
                  <a:srgbClr val="12303A"/>
                </a:solidFill>
                <a:latin typeface="Calibri"/>
              </a:rPr>
              <a:t>domina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a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conta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(0,20).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dirty="0">
                <a:solidFill>
                  <a:srgbClr val="12303A"/>
                </a:solidFill>
                <a:latin typeface="Calibri"/>
              </a:rPr>
              <a:t>b) (0,40) </a:t>
            </a:r>
            <a:r>
              <a:rPr sz="1400" b="0" dirty="0" err="1">
                <a:solidFill>
                  <a:srgbClr val="12303A"/>
                </a:solidFill>
                <a:latin typeface="Calibri"/>
              </a:rPr>
              <a:t>Dá</a:t>
            </a:r>
            <a:r>
              <a:rPr sz="1400" b="0" dirty="0">
                <a:solidFill>
                  <a:srgbClr val="12303A"/>
                </a:solidFill>
                <a:latin typeface="Calibri"/>
              </a:rPr>
              <a:t> para </a:t>
            </a:r>
            <a:r>
              <a:rPr sz="1400" b="0" dirty="0" err="1">
                <a:solidFill>
                  <a:srgbClr val="12303A"/>
                </a:solidFill>
                <a:latin typeface="Calibri"/>
              </a:rPr>
              <a:t>comparar</a:t>
            </a:r>
            <a:r>
              <a:rPr sz="1400" b="0" dirty="0">
                <a:solidFill>
                  <a:srgbClr val="12303A"/>
                </a:solidFill>
                <a:latin typeface="Calibri"/>
              </a:rPr>
              <a:t> o MAE da </a:t>
            </a:r>
            <a:r>
              <a:rPr sz="1400" b="0" dirty="0" err="1">
                <a:solidFill>
                  <a:srgbClr val="12303A"/>
                </a:solidFill>
                <a:latin typeface="Calibri"/>
              </a:rPr>
              <a:t>Coluna</a:t>
            </a:r>
            <a:r>
              <a:rPr sz="1400" b="0" dirty="0">
                <a:solidFill>
                  <a:srgbClr val="12303A"/>
                </a:solidFill>
                <a:latin typeface="Calibri"/>
              </a:rPr>
              <a:t> A com o da </a:t>
            </a:r>
            <a:r>
              <a:rPr sz="1400" b="0" dirty="0" err="1">
                <a:solidFill>
                  <a:srgbClr val="12303A"/>
                </a:solidFill>
                <a:latin typeface="Calibri"/>
              </a:rPr>
              <a:t>Coluna</a:t>
            </a:r>
            <a:r>
              <a:rPr sz="1400" b="0" dirty="0">
                <a:solidFill>
                  <a:srgbClr val="12303A"/>
                </a:solidFill>
                <a:latin typeface="Calibri"/>
              </a:rPr>
              <a:t> B para dizer </a:t>
            </a:r>
            <a:r>
              <a:rPr sz="1400" b="0" dirty="0" err="1">
                <a:solidFill>
                  <a:srgbClr val="12303A"/>
                </a:solidFill>
                <a:latin typeface="Calibri"/>
              </a:rPr>
              <a:t>onde</a:t>
            </a:r>
            <a:r>
              <a:rPr sz="1400" b="0" dirty="0">
                <a:solidFill>
                  <a:srgbClr val="12303A"/>
                </a:solidFill>
                <a:latin typeface="Calibri"/>
              </a:rPr>
              <a:t> o </a:t>
            </a:r>
            <a:r>
              <a:rPr sz="1400" b="0" dirty="0" err="1">
                <a:solidFill>
                  <a:srgbClr val="12303A"/>
                </a:solidFill>
                <a:latin typeface="Calibri"/>
              </a:rPr>
              <a:t>modelo</a:t>
            </a:r>
            <a:r>
              <a:rPr sz="1400" b="0" dirty="0">
                <a:solidFill>
                  <a:srgbClr val="12303A"/>
                </a:solidFill>
                <a:latin typeface="Calibri"/>
              </a:rPr>
              <a:t> é </a:t>
            </a:r>
            <a:r>
              <a:rPr sz="1400" b="0" dirty="0" err="1">
                <a:solidFill>
                  <a:srgbClr val="12303A"/>
                </a:solidFill>
                <a:latin typeface="Calibri"/>
              </a:rPr>
              <a:t>melhor</a:t>
            </a:r>
            <a:r>
              <a:rPr sz="1400" b="0" dirty="0">
                <a:solidFill>
                  <a:srgbClr val="12303A"/>
                </a:solidFill>
                <a:latin typeface="Calibri"/>
              </a:rPr>
              <a:t>? Por quê?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14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14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1400" b="1" dirty="0">
                <a:solidFill>
                  <a:srgbClr val="12303A"/>
                </a:solidFill>
                <a:latin typeface="Calibri"/>
              </a:rPr>
              <a:t>não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dá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para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comparar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(0,20),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porque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MAE e RMSE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ficam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400" b="1" dirty="0">
                <a:solidFill>
                  <a:srgbClr val="12303A"/>
                </a:solidFill>
                <a:latin typeface="Calibri"/>
              </a:rPr>
              <a:t>na </a:t>
            </a:r>
            <a:r>
              <a:rPr sz="1400" b="1" dirty="0" err="1">
                <a:solidFill>
                  <a:srgbClr val="12303A"/>
                </a:solidFill>
                <a:latin typeface="Calibri"/>
              </a:rPr>
              <a:t>unidade</a:t>
            </a:r>
            <a:r>
              <a:rPr sz="1400" b="1" dirty="0">
                <a:solidFill>
                  <a:srgbClr val="12303A"/>
                </a:solidFill>
                <a:latin typeface="Calibri"/>
              </a:rPr>
              <a:t> de </a:t>
            </a:r>
            <a:r>
              <a:rPr sz="1400" b="1" dirty="0" err="1">
                <a:solidFill>
                  <a:srgbClr val="12303A"/>
                </a:solidFill>
                <a:latin typeface="Calibri"/>
              </a:rPr>
              <a:t>cada</a:t>
            </a:r>
            <a:r>
              <a:rPr sz="1400" b="1" dirty="0">
                <a:solidFill>
                  <a:srgbClr val="12303A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2303A"/>
                </a:solidFill>
                <a:latin typeface="Calibri"/>
              </a:rPr>
              <a:t>coluna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(0,20).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8033" y="3697356"/>
            <a:ext cx="8433923" cy="2730875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72813" y="3744764"/>
            <a:ext cx="45201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(continuação)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2808" y="4055661"/>
            <a:ext cx="7796542" cy="2239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12303A"/>
                </a:solidFill>
                <a:latin typeface="Calibri"/>
              </a:rPr>
              <a:t>c) (0,40) 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Por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que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o MAPE da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Coluna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B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fica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tão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alto?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12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12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o MAPE 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divide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pelo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valor real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(0,20) e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valores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perto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de zero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fazem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o percentual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explodir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(0,20).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12303A"/>
                </a:solidFill>
                <a:latin typeface="Calibri"/>
              </a:rPr>
              <a:t>d) (0,40) 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Qual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medida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é a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mais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adequada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para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julgar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o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modelo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?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Justifique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12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12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escolher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o 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R²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(0,25),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porque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é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adimensional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e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portanto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comparável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entre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escalas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(0,15).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12303A"/>
                </a:solidFill>
                <a:latin typeface="Calibri"/>
              </a:rPr>
              <a:t>e) (0,40) 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Se o MAIOR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erro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da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Coluna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A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dobrasse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, qual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muda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2303A"/>
                </a:solidFill>
                <a:latin typeface="Calibri"/>
              </a:rPr>
              <a:t>mais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: 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MAE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 ou 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RMSE</a:t>
            </a:r>
            <a:r>
              <a:rPr sz="1200" b="0" dirty="0">
                <a:solidFill>
                  <a:srgbClr val="12303A"/>
                </a:solidFill>
                <a:latin typeface="Calibri"/>
              </a:rPr>
              <a:t>? Por quê?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 dirty="0">
                <a:solidFill>
                  <a:srgbClr val="0B5A54"/>
                </a:solidFill>
                <a:latin typeface="Calibri"/>
              </a:rPr>
              <a:t>Resp. </a:t>
            </a:r>
            <a:r>
              <a:rPr sz="1200" b="1" dirty="0" err="1">
                <a:solidFill>
                  <a:srgbClr val="0B5A54"/>
                </a:solidFill>
                <a:latin typeface="Calibri"/>
              </a:rPr>
              <a:t>esperada</a:t>
            </a:r>
            <a:r>
              <a:rPr sz="1200" b="1" dirty="0">
                <a:solidFill>
                  <a:srgbClr val="0B5A54"/>
                </a:solidFill>
                <a:latin typeface="Calibri"/>
              </a:rPr>
              <a:t> — 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o 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RMSE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muda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mais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(0,20),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porque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eleva</a:t>
            </a:r>
            <a:r>
              <a:rPr sz="1200" b="1" dirty="0">
                <a:solidFill>
                  <a:srgbClr val="12303A"/>
                </a:solidFill>
                <a:latin typeface="Calibri"/>
              </a:rPr>
              <a:t> ao </a:t>
            </a:r>
            <a:r>
              <a:rPr sz="1200" b="1" dirty="0" err="1">
                <a:solidFill>
                  <a:srgbClr val="12303A"/>
                </a:solidFill>
                <a:latin typeface="Calibri"/>
              </a:rPr>
              <a:t>quadrado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—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dobrar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o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erro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quadruplica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a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contribuição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—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enquanto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o MAE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cresce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em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linha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reta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(0,20).</a:t>
            </a:r>
          </a:p>
        </p:txBody>
      </p:sp>
    </p:spTree>
    <p:extLst>
      <p:ext uri="{BB962C8B-B14F-4D97-AF65-F5344CB8AC3E}">
        <p14:creationId xmlns:p14="http://schemas.microsoft.com/office/powerpoint/2010/main" val="416956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Exercício 6 (1,5) — Overfitting × underfitting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Desafio 1 · Ciência de Dados 1 — gabarito: o que a resposta deveria conter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15/09/2026    ·    8</a:t>
            </a:r>
          </a:p>
        </p:txBody>
      </p:sp>
      <p:pic>
        <p:nvPicPr>
          <p:cNvPr id="5" name="Picture 4" descr="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74" y="1019557"/>
            <a:ext cx="4348700" cy="257722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23560" y="1024128"/>
            <a:ext cx="5971032" cy="121615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16168" y="1316736"/>
            <a:ext cx="5385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ENUNCIADO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6168" y="1773936"/>
            <a:ext cx="53858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A acurácia de treino e teste por profundidade da árvore.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474" y="3785616"/>
            <a:ext cx="5532120" cy="264261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4082" y="3785616"/>
            <a:ext cx="4946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A RESPOSTA DEVERIA CONTER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082" y="4242816"/>
            <a:ext cx="4946904" cy="1947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a) (0,40) </a:t>
            </a:r>
            <a:r>
              <a:rPr sz="1150" b="0">
                <a:solidFill>
                  <a:srgbClr val="12303A"/>
                </a:solidFill>
                <a:latin typeface="Calibri"/>
              </a:rPr>
              <a:t>Aponte a região de </a:t>
            </a:r>
            <a:r>
              <a:rPr sz="1150" b="1">
                <a:solidFill>
                  <a:srgbClr val="12303A"/>
                </a:solidFill>
                <a:latin typeface="Calibri"/>
              </a:rPr>
              <a:t>underfitting</a:t>
            </a:r>
            <a:r>
              <a:rPr sz="1150" b="0">
                <a:solidFill>
                  <a:srgbClr val="12303A"/>
                </a:solidFill>
                <a:latin typeface="Calibri"/>
              </a:rPr>
              <a:t> e a de </a:t>
            </a:r>
            <a:r>
              <a:rPr sz="1150" b="1">
                <a:solidFill>
                  <a:srgbClr val="12303A"/>
                </a:solidFill>
                <a:latin typeface="Calibri"/>
              </a:rPr>
              <a:t>overfitting</a:t>
            </a:r>
            <a:r>
              <a:rPr sz="1150" b="0">
                <a:solidFill>
                  <a:srgbClr val="12303A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0B5A54"/>
                </a:solidFill>
                <a:latin typeface="Calibri"/>
              </a:rPr>
              <a:t>Resp. esperada — </a:t>
            </a:r>
            <a:r>
              <a:rPr sz="1150" b="0">
                <a:solidFill>
                  <a:srgbClr val="475569"/>
                </a:solidFill>
                <a:latin typeface="Calibri"/>
              </a:rPr>
              <a:t>underfitting nas profundidades </a:t>
            </a:r>
            <a:r>
              <a:rPr sz="1150" b="1">
                <a:solidFill>
                  <a:srgbClr val="12303A"/>
                </a:solidFill>
                <a:latin typeface="Calibri"/>
              </a:rPr>
              <a:t>baixas</a:t>
            </a:r>
            <a:r>
              <a:rPr sz="1150" b="0">
                <a:solidFill>
                  <a:srgbClr val="475569"/>
                </a:solidFill>
                <a:latin typeface="Calibri"/>
              </a:rPr>
              <a:t> (0,20); overfitting nas </a:t>
            </a:r>
            <a:r>
              <a:rPr sz="1150" b="1">
                <a:solidFill>
                  <a:srgbClr val="12303A"/>
                </a:solidFill>
                <a:latin typeface="Calibri"/>
              </a:rPr>
              <a:t>altas</a:t>
            </a:r>
            <a:r>
              <a:rPr sz="1150" b="0">
                <a:solidFill>
                  <a:srgbClr val="475569"/>
                </a:solidFill>
                <a:latin typeface="Calibri"/>
              </a:rPr>
              <a:t>, compatível com o pico do teste do SEU gráfico (0,20).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b) (0,35) </a:t>
            </a:r>
            <a:r>
              <a:rPr sz="1150" b="0">
                <a:solidFill>
                  <a:srgbClr val="12303A"/>
                </a:solidFill>
                <a:latin typeface="Calibri"/>
              </a:rPr>
              <a:t>O que acontece com treino e teste em cada região?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0B5A54"/>
                </a:solidFill>
                <a:latin typeface="Calibri"/>
              </a:rPr>
              <a:t>Resp. esperada — </a:t>
            </a:r>
            <a:r>
              <a:rPr sz="1150" b="0">
                <a:solidFill>
                  <a:srgbClr val="475569"/>
                </a:solidFill>
                <a:latin typeface="Calibri"/>
              </a:rPr>
              <a:t>underfitting: </a:t>
            </a:r>
            <a:r>
              <a:rPr sz="1150" b="1">
                <a:solidFill>
                  <a:srgbClr val="12303A"/>
                </a:solidFill>
                <a:latin typeface="Calibri"/>
              </a:rPr>
              <a:t>treino e teste baixos</a:t>
            </a:r>
            <a:r>
              <a:rPr sz="1150" b="0">
                <a:solidFill>
                  <a:srgbClr val="475569"/>
                </a:solidFill>
                <a:latin typeface="Calibri"/>
              </a:rPr>
              <a:t> (0,175); overfitting: </a:t>
            </a:r>
            <a:r>
              <a:rPr sz="1150" b="1">
                <a:solidFill>
                  <a:srgbClr val="12303A"/>
                </a:solidFill>
                <a:latin typeface="Calibri"/>
              </a:rPr>
              <a:t>o treino sobe rumo a 1,0 e o teste estaciona ou cai</a:t>
            </a:r>
            <a:r>
              <a:rPr sz="1150" b="0">
                <a:solidFill>
                  <a:srgbClr val="475569"/>
                </a:solidFill>
                <a:latin typeface="Calibri"/>
              </a:rPr>
              <a:t> (0,175).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354" y="3493008"/>
            <a:ext cx="5105369" cy="2935224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11962" y="3785616"/>
            <a:ext cx="45201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(continuação)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962" y="4242816"/>
            <a:ext cx="4520153" cy="1947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c) (0,30) </a:t>
            </a:r>
            <a:r>
              <a:rPr sz="1150" b="0">
                <a:solidFill>
                  <a:srgbClr val="12303A"/>
                </a:solidFill>
                <a:latin typeface="Calibri"/>
              </a:rPr>
              <a:t>Qual complexidade você escolheria e por quê?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0B5A54"/>
                </a:solidFill>
                <a:latin typeface="Calibri"/>
              </a:rPr>
              <a:t>Resp. esperada — </a:t>
            </a:r>
            <a:r>
              <a:rPr sz="1150" b="0">
                <a:solidFill>
                  <a:srgbClr val="475569"/>
                </a:solidFill>
                <a:latin typeface="Calibri"/>
              </a:rPr>
              <a:t>o critério — a profundidade de </a:t>
            </a:r>
            <a:r>
              <a:rPr sz="1150" b="1">
                <a:solidFill>
                  <a:srgbClr val="12303A"/>
                </a:solidFill>
                <a:latin typeface="Calibri"/>
              </a:rPr>
              <a:t>acurácia de TESTE máxima</a:t>
            </a:r>
            <a:r>
              <a:rPr sz="1150" b="0">
                <a:solidFill>
                  <a:srgbClr val="475569"/>
                </a:solidFill>
                <a:latin typeface="Calibri"/>
              </a:rPr>
              <a:t> (0,15) — e o </a:t>
            </a:r>
            <a:r>
              <a:rPr sz="1150" b="1">
                <a:solidFill>
                  <a:srgbClr val="12303A"/>
                </a:solidFill>
                <a:latin typeface="Calibri"/>
              </a:rPr>
              <a:t>número</a:t>
            </a:r>
            <a:r>
              <a:rPr sz="1150" b="0">
                <a:solidFill>
                  <a:srgbClr val="475569"/>
                </a:solidFill>
                <a:latin typeface="Calibri"/>
              </a:rPr>
              <a:t> (0,15).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12303A"/>
                </a:solidFill>
                <a:latin typeface="Calibri"/>
              </a:rPr>
              <a:t>d) (0,45) </a:t>
            </a:r>
            <a:r>
              <a:rPr sz="1150" b="0">
                <a:solidFill>
                  <a:srgbClr val="12303A"/>
                </a:solidFill>
                <a:latin typeface="Calibri"/>
              </a:rPr>
              <a:t>A partir de qual profundidade o </a:t>
            </a:r>
            <a:r>
              <a:rPr sz="1150" b="1">
                <a:solidFill>
                  <a:srgbClr val="12303A"/>
                </a:solidFill>
                <a:latin typeface="Calibri"/>
              </a:rPr>
              <a:t>vão treino−teste</a:t>
            </a:r>
            <a:r>
              <a:rPr sz="1150" b="0">
                <a:solidFill>
                  <a:srgbClr val="12303A"/>
                </a:solidFill>
                <a:latin typeface="Calibri"/>
              </a:rPr>
              <a:t> começa a se abrir, e o que isso indica?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1">
                <a:solidFill>
                  <a:srgbClr val="0B5A54"/>
                </a:solidFill>
                <a:latin typeface="Calibri"/>
              </a:rPr>
              <a:t>Resp. esperada — </a:t>
            </a:r>
            <a:r>
              <a:rPr sz="1150" b="0">
                <a:solidFill>
                  <a:srgbClr val="475569"/>
                </a:solidFill>
                <a:latin typeface="Calibri"/>
              </a:rPr>
              <a:t>a profundidade em que o </a:t>
            </a:r>
            <a:r>
              <a:rPr sz="1150" b="1">
                <a:solidFill>
                  <a:srgbClr val="12303A"/>
                </a:solidFill>
                <a:latin typeface="Calibri"/>
              </a:rPr>
              <a:t>vão abre</a:t>
            </a:r>
            <a:r>
              <a:rPr sz="1150" b="0">
                <a:solidFill>
                  <a:srgbClr val="475569"/>
                </a:solidFill>
                <a:latin typeface="Calibri"/>
              </a:rPr>
              <a:t> (0,25) e </a:t>
            </a:r>
            <a:r>
              <a:rPr sz="1150" b="1">
                <a:solidFill>
                  <a:srgbClr val="12303A"/>
                </a:solidFill>
                <a:latin typeface="Calibri"/>
              </a:rPr>
              <a:t>o que isso indica</a:t>
            </a:r>
            <a:r>
              <a:rPr sz="1150" b="0">
                <a:solidFill>
                  <a:srgbClr val="475569"/>
                </a:solidFill>
                <a:latin typeface="Calibri"/>
              </a:rPr>
              <a:t>: overfitting, perda de generalização (0,20).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A52186506F641B6D0943FD8590E16" ma:contentTypeVersion="3" ma:contentTypeDescription="Crie um novo documento." ma:contentTypeScope="" ma:versionID="892c9e91ca2da4b656e9e1873602cb98">
  <xsd:schema xmlns:xsd="http://www.w3.org/2001/XMLSchema" xmlns:xs="http://www.w3.org/2001/XMLSchema" xmlns:p="http://schemas.microsoft.com/office/2006/metadata/properties" xmlns:ns2="4619301c-9bea-416d-958d-6c0d9dcf89c5" targetNamespace="http://schemas.microsoft.com/office/2006/metadata/properties" ma:root="true" ma:fieldsID="8b2a4b9bb00df620f25170aaf9638c53" ns2:_="">
    <xsd:import namespace="4619301c-9bea-416d-958d-6c0d9dcf89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301c-9bea-416d-958d-6c0d9dcf89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174C6C-C3E6-47F4-B197-6A68E0364893}"/>
</file>

<file path=customXml/itemProps2.xml><?xml version="1.0" encoding="utf-8"?>
<ds:datastoreItem xmlns:ds="http://schemas.openxmlformats.org/officeDocument/2006/customXml" ds:itemID="{66BA28B3-76EE-4A83-BFFF-FA1F2C7D21C3}"/>
</file>

<file path=customXml/itemProps3.xml><?xml version="1.0" encoding="utf-8"?>
<ds:datastoreItem xmlns:ds="http://schemas.openxmlformats.org/officeDocument/2006/customXml" ds:itemID="{39F3994B-275D-4997-88D2-D9B72FA6E383}"/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2113</Words>
  <Application>Microsoft Office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Giovani Giulio Tristão Thibes Vieira</cp:lastModifiedBy>
  <cp:revision>5</cp:revision>
  <dcterms:created xsi:type="dcterms:W3CDTF">2026-09-07T20:41:26Z</dcterms:created>
  <dcterms:modified xsi:type="dcterms:W3CDTF">2026-09-15T12:29:49Z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0x010100D00A52186506F641B6D0943FD8590E16</vt:lpwstr>
  </property>
</Properties>
</file>