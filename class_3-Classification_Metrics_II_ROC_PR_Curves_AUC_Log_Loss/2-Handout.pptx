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87" r:id="rId3"/>
    <p:sldId id="257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9" r:id="rId20"/>
    <p:sldId id="280" r:id="rId21"/>
    <p:sldId id="289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603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7070F-4D58-2DBE-C3EB-E4DC2BC28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FDB76C-072F-F536-6F26-453024B6F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5D9639-69DA-7A34-695D-051E2C329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79888-2283-5173-EF22-714E5EE324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26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ESPECIALIZADA EM CIÊNCIA DE DADOS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256032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classificação II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94360" y="365760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ROC e PR, AUC, log-loss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44805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 ·  18/08/2026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curso, semana a semana (1/2)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902729"/>
              </p:ext>
            </p:extLst>
          </p:nvPr>
        </p:nvGraphicFramePr>
        <p:xfrm>
          <a:off x="594360" y="1554480"/>
          <a:ext cx="11000232" cy="45720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0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 (Dia/Mês)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04/08</a:t>
                      </a:r>
                      <a:endParaRPr lang="en-US" sz="135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Introdução: fundamentos da avaliação de modelos</a:t>
                      </a:r>
                      <a:endParaRPr lang="en-US" sz="135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11/08</a:t>
                      </a: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de classificação I (confusão, precisão, recall, F1)</a:t>
                      </a: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Lançamento</a:t>
                      </a: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do </a:t>
                      </a:r>
                      <a:r>
                        <a:rPr lang="en-US" sz="135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</a:t>
                      </a: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18/08</a:t>
                      </a:r>
                      <a:endParaRPr lang="en-US" sz="13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de classificação II (ROC-AUC, PR, log-loss)</a:t>
                      </a:r>
                      <a:endParaRPr lang="en-US" sz="13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25/08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de regressão (MAE, RMSE, R², resíduos)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Projeto: proposta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— 01/09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 hold-out e Pipeline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— 08/09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 cruzada I (k-fold, estratificado)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— 15/09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 cruzada II (grupos, temporal, aninhada)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— 22/09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</a:t>
                      </a: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exaustiva</a:t>
                      </a: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hiperparâmetros</a:t>
                      </a: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(grid search)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 err="1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</a:t>
                      </a: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dados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— 29/09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aleatória e menção a AutoML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da aula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11002975" cy="1371600"/>
          </a:xfrm>
          <a:prstGeom prst="roundRect">
            <a:avLst>
              <a:gd name="adj" fmla="val 6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10180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2, escolhíamos </a:t>
            </a:r>
            <a:r>
              <a:rPr lang="en-US" sz="21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</a:t>
            </a:r>
            <a:r>
              <a:rPr lang="en-US" sz="2100" b="1" dirty="0" err="1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</a:t>
            </a: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</a:t>
            </a: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valorizava</a:t>
            </a: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2100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queríamos</a:t>
            </a: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Hoje vamos avaliar o modelo em </a:t>
            </a:r>
            <a:r>
              <a:rPr lang="en-US" sz="21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</a:t>
            </a:r>
            <a:r>
              <a:rPr lang="en-US" sz="2100" b="1" dirty="0" err="1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limiares</a:t>
            </a:r>
            <a:r>
              <a:rPr lang="en-US" sz="21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uma vez</a:t>
            </a: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usando um </a:t>
            </a:r>
            <a:r>
              <a:rPr lang="en-US" sz="21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spam</a:t>
            </a: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como exemplo do começo ao fim.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32004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DE HOJE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611880"/>
            <a:ext cx="67665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Primeiro, a ideia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nota, ordenar, corte e erros — no filtro de spam, sem matemática.</a:t>
            </a:r>
            <a:endParaRPr lang="en-US" sz="1550" dirty="0"/>
          </a:p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e AUC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ordena bem, sem depender de um corte?</a:t>
            </a:r>
            <a:endParaRPr lang="en-US" sz="1550" dirty="0"/>
          </a:p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e AP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'sim' é raro, a visão honesta.</a:t>
            </a:r>
            <a:endParaRPr lang="en-US" sz="1550" dirty="0"/>
          </a:p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Log-loss—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 é </a:t>
            </a:r>
            <a:r>
              <a:rPr lang="en-US" sz="15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confiável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726680" y="3200400"/>
            <a:ext cx="3886200" cy="2697480"/>
          </a:xfrm>
          <a:prstGeom prst="roundRect">
            <a:avLst>
              <a:gd name="adj" fmla="val 3051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019288" y="349300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EXEMPLO DE HOJE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19288" y="3995928"/>
            <a:ext cx="330098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spam —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dá a cada e-mail uma nota de 'chance de ser spam'.</a:t>
            </a:r>
            <a:endParaRPr lang="en-US" sz="1400" dirty="0"/>
          </a:p>
          <a:p>
            <a:pPr marL="254000" indent="-254000">
              <a:buSzPct val="100000"/>
              <a:buChar char="•"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teoria vale para tudo —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doença, fraude, crédito — muda só o nome.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59436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da Aula 2: lá medíamos em um corte; aqui, o modelo em todos os cortes.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Primeiro, sem matemática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filtro de spam para entender a ideia toda.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dá uma nota a cada caso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234440"/>
          </a:xfrm>
          <a:prstGeom prst="roundRect">
            <a:avLst>
              <a:gd name="adj" fmla="val 6667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filtro de spam olha cada e-mail e devolve uma </a:t>
            </a:r>
            <a:r>
              <a:rPr lang="en-US" sz="18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 0 a 100</a:t>
            </a:r>
            <a:r>
              <a:rPr lang="en-US" sz="18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quanto maior, mais ele acha que é spam. </a:t>
            </a:r>
            <a:r>
              <a:rPr lang="en-US" sz="18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modelo faz isso — dá uma nota de 'quão provável é o sim'.</a:t>
            </a:r>
            <a:endParaRPr lang="en-US" sz="1800" dirty="0"/>
          </a:p>
        </p:txBody>
      </p:sp>
      <p:pic>
        <p:nvPicPr>
          <p:cNvPr id="7" name="Image 0" descr="figuras_aula3/f_spam_not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743200"/>
            <a:ext cx="7772400" cy="3063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59436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Repare: a nota ainda não é a decisão — é só o quanto o modelo suspeita de cada e-mail.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que serve a nota: ordenar os casos</a:t>
            </a:r>
            <a:endParaRPr lang="en-US" sz="2800" dirty="0"/>
          </a:p>
        </p:txBody>
      </p:sp>
      <p:pic>
        <p:nvPicPr>
          <p:cNvPr id="5" name="Image 0" descr="figuras_aula3/f_spam_r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42416"/>
            <a:ext cx="7772400" cy="3200400"/>
          </a:xfrm>
          <a:prstGeom prst="rect">
            <a:avLst/>
          </a:prstGeom>
        </p:spPr>
      </p:pic>
      <p:pic>
        <p:nvPicPr>
          <p:cNvPr id="8" name="Picture 2" descr="f1_matriz_esquema.png">
            <a:extLst>
              <a:ext uri="{FF2B5EF4-FFF2-40B4-BE49-F238E27FC236}">
                <a16:creationId xmlns:a16="http://schemas.microsoft.com/office/drawing/2014/main" id="{B63214FA-4C9B-C518-D41E-56B6A0F06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7823" y="3034803"/>
            <a:ext cx="3870064" cy="2416026"/>
          </a:xfrm>
          <a:prstGeom prst="rect">
            <a:avLst/>
          </a:prstGeom>
        </p:spPr>
      </p:pic>
      <p:sp>
        <p:nvSpPr>
          <p:cNvPr id="10" name="Shape 3">
            <a:extLst>
              <a:ext uri="{FF2B5EF4-FFF2-40B4-BE49-F238E27FC236}">
                <a16:creationId xmlns:a16="http://schemas.microsoft.com/office/drawing/2014/main" id="{FF948F55-4A70-3D76-7C92-F5CF85634BC7}"/>
              </a:ext>
            </a:extLst>
          </p:cNvPr>
          <p:cNvSpPr/>
          <p:nvPr/>
        </p:nvSpPr>
        <p:spPr>
          <a:xfrm>
            <a:off x="468854" y="4735587"/>
            <a:ext cx="7638969" cy="1208909"/>
          </a:xfrm>
          <a:prstGeom prst="roundRect">
            <a:avLst>
              <a:gd name="adj" fmla="val 6923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D2D79191-A729-FC21-75FA-F1F8CBC549FB}"/>
              </a:ext>
            </a:extLst>
          </p:cNvPr>
          <p:cNvSpPr/>
          <p:nvPr/>
        </p:nvSpPr>
        <p:spPr>
          <a:xfrm>
            <a:off x="880335" y="4735587"/>
            <a:ext cx="7067618" cy="1208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 vira decisão quando escolhemos um </a:t>
            </a:r>
            <a:r>
              <a:rPr lang="en-US" sz="18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(limiar)</a:t>
            </a:r>
            <a:r>
              <a:rPr lang="en-US" sz="18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acima dele, vai para o spam; abaixo, fica na caixa de entrada.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Então, duas perguntas diferentes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960120"/>
          </a:xfrm>
          <a:prstGeom prst="roundRect">
            <a:avLst>
              <a:gd name="adj" fmla="val 8571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nota em mãos, saem </a:t>
            </a:r>
            <a:r>
              <a:rPr lang="en-US" sz="18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perguntas independentes</a:t>
            </a:r>
            <a:r>
              <a:rPr lang="en-US" sz="18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 cada uma tem suas métricas: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2697480"/>
            <a:ext cx="5318608" cy="3017520"/>
          </a:xfrm>
          <a:prstGeom prst="roundRect">
            <a:avLst>
              <a:gd name="adj" fmla="val 2727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 nota ordena bem os casos?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467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positivos recebem nota maior que os negativos?</a:t>
            </a:r>
            <a:endParaRPr lang="en-US" sz="1500" dirty="0"/>
          </a:p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 do corte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qualidade do ranking, antes de decidir 0 ou 1.</a:t>
            </a:r>
            <a:endParaRPr lang="en-US" sz="1500" dirty="0"/>
          </a:p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ROC / AUC e curva PR / AP — o foco de hoje.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78728" y="2697480"/>
            <a:ext cx="5318608" cy="3017520"/>
          </a:xfrm>
          <a:prstGeom prst="roundRect">
            <a:avLst>
              <a:gd name="adj" fmla="val 272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598768" y="29718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No corte, a decisão acerta?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98768" y="3611880"/>
            <a:ext cx="467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fixado um limiar, quantos acertos e erros a decisão dá?</a:t>
            </a:r>
            <a:endParaRPr lang="en-US" sz="1500" dirty="0"/>
          </a:p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do corte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conforme o limiar escolhido (Aula 2).</a:t>
            </a:r>
            <a:endParaRPr lang="en-US" sz="1500" dirty="0"/>
          </a:p>
          <a:p>
            <a:pPr marL="254000" indent="-2540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precisão, recall e F1.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59436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pode ordenar muito bem (AUC alta) e ainda decidir mal num corte ruim — por isso medimos as duas coisas separadamente.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e AUC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contra falso alarme, varrendo todos os limiares.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 — definição, fórmula e exemplo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234440"/>
          </a:xfrm>
          <a:prstGeom prst="roundRect">
            <a:avLst>
              <a:gd name="adj" fmla="val 6667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581912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ROC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Y: TPR (recall) = VP / (VP + FN)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X: FPR (falso alarme) = FP / (FP + VN)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se o filtro ORDENA bem (spams com nota maior que e-mails bons), sem depender de um corte.</a:t>
            </a:r>
            <a:endParaRPr lang="en-US" sz="1550" dirty="0"/>
          </a:p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(spams pegos) no eixo Y contra o falso alarme (bons barrados) no eixo X, variando o corte de 100 até 0.</a:t>
            </a:r>
            <a:endParaRPr lang="en-US" sz="1550" dirty="0"/>
          </a:p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filtro aleatório fica na diagonal; um bom filtro sobe rápido antes de começar a barrar e-mails bons.</a:t>
            </a:r>
            <a:endParaRPr lang="en-US" sz="155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0842AFCA-D353-74F6-FB21-CCB81FD534F0}"/>
              </a:ext>
            </a:extLst>
          </p:cNvPr>
          <p:cNvSpPr/>
          <p:nvPr/>
        </p:nvSpPr>
        <p:spPr>
          <a:xfrm>
            <a:off x="7617132" y="416590"/>
            <a:ext cx="1750986" cy="502920"/>
          </a:xfrm>
          <a:prstGeom prst="roundRect">
            <a:avLst>
              <a:gd name="adj" fmla="val 8571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B84C7334-8F68-E603-031D-CB0F3267C0C3}"/>
              </a:ext>
            </a:extLst>
          </p:cNvPr>
          <p:cNvSpPr/>
          <p:nvPr/>
        </p:nvSpPr>
        <p:spPr>
          <a:xfrm>
            <a:off x="7694497" y="407958"/>
            <a:ext cx="250509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endParaRPr lang="en-US" sz="11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B6F69FCE-6E1C-9ACA-B451-E322B303F6D7}"/>
              </a:ext>
            </a:extLst>
          </p:cNvPr>
          <p:cNvSpPr/>
          <p:nvPr/>
        </p:nvSpPr>
        <p:spPr>
          <a:xfrm>
            <a:off x="7694497" y="612532"/>
            <a:ext cx="1556453" cy="215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/ (VP + FP)</a:t>
            </a:r>
            <a:endParaRPr lang="en-US" sz="20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B2E7411E-D286-C317-952E-AB6EFCBC7126}"/>
              </a:ext>
            </a:extLst>
          </p:cNvPr>
          <p:cNvSpPr/>
          <p:nvPr/>
        </p:nvSpPr>
        <p:spPr>
          <a:xfrm>
            <a:off x="9729916" y="417024"/>
            <a:ext cx="2211592" cy="502920"/>
          </a:xfrm>
          <a:prstGeom prst="roundRect">
            <a:avLst>
              <a:gd name="adj" fmla="val 8571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E6AE94A-1B48-8407-0F99-39F297510405}"/>
              </a:ext>
            </a:extLst>
          </p:cNvPr>
          <p:cNvSpPr/>
          <p:nvPr/>
        </p:nvSpPr>
        <p:spPr>
          <a:xfrm>
            <a:off x="9765775" y="428717"/>
            <a:ext cx="2301239" cy="146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(SENSIBILIDADE)</a:t>
            </a:r>
            <a:endParaRPr lang="en-US" sz="11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74E2CCA2-A62A-B1BA-A838-DEF5257857E8}"/>
              </a:ext>
            </a:extLst>
          </p:cNvPr>
          <p:cNvSpPr/>
          <p:nvPr/>
        </p:nvSpPr>
        <p:spPr>
          <a:xfrm>
            <a:off x="9765775" y="640195"/>
            <a:ext cx="1673621" cy="188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/ (VP + FN)</a:t>
            </a:r>
            <a:endParaRPr lang="en-US" sz="2000" dirty="0"/>
          </a:p>
        </p:txBody>
      </p:sp>
      <p:pic>
        <p:nvPicPr>
          <p:cNvPr id="23" name="Picture 2" descr="f1_matriz_esquema.png">
            <a:extLst>
              <a:ext uri="{FF2B5EF4-FFF2-40B4-BE49-F238E27FC236}">
                <a16:creationId xmlns:a16="http://schemas.microsoft.com/office/drawing/2014/main" id="{6FE53DD9-C320-9728-395A-606D45005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073" y="3884019"/>
            <a:ext cx="4164222" cy="25996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curva ROC</a:t>
            </a:r>
            <a:endParaRPr lang="en-US" sz="2800" dirty="0"/>
          </a:p>
        </p:txBody>
      </p:sp>
      <p:pic>
        <p:nvPicPr>
          <p:cNvPr id="5" name="Image 0" descr="figuras_aula3/f1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371600"/>
            <a:ext cx="5669280" cy="4636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9436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limiar vira um ponto (recall × falso alarme); ligando todos, temos a ROC. A área sob ela é a AUC.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— definição, fórmula e exemplo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627632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(ÁREA SOB A ROC)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= acaso     ·     1,0 = ordenação perfeita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 num único número quão bem o filtro ordena — ótimo para comparar dois filtros.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chance de um spam receber nota maior que um e-mail bom, sorteados ao acaso. Independe do corte.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0,80: em 80% dos pares (1 spam, 1 e-mail bom), o spam recebe a nota maior.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Forças e limites da ROC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Forças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todos os limiares em um número.</a:t>
            </a:r>
            <a:endParaRPr lang="en-US" sz="15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 do limiar escolhido.</a:t>
            </a:r>
            <a:endParaRPr lang="en-US" sz="15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para comparar e ordenar modelos.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598768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98768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otimista quando o positivo é muito raro.</a:t>
            </a:r>
            <a:endParaRPr lang="en-US" sz="15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diz qual limiar usar na prática.</a:t>
            </a:r>
            <a:endParaRPr lang="en-US" sz="15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classe rara, prefira a curva PR.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Precisão-Recall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positivo é raro, olhe precisão contra recall.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PR e AP — definição, fórmula e exemplo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234440"/>
          </a:xfrm>
          <a:prstGeom prst="roundRect">
            <a:avLst>
              <a:gd name="adj" fmla="val 6667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581912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PRECISÃO-RECALL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= VP / (VP + FP)   vs   recall = VP / (VP + FN)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(average precision) = área sob a curva PR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focar em acertar os spams sem barrar e-mails bons — melhor que a ROC quando o spam é raro.</a:t>
            </a:r>
            <a:endParaRPr lang="en-US" sz="1550" dirty="0"/>
          </a:p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(acerto dos alarmes) contra recall (cobertura dos spams), variando o corte; a AP é a </a:t>
            </a:r>
            <a:r>
              <a:rPr lang="en-US" sz="15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</p:txBody>
      </p:sp>
      <p:pic>
        <p:nvPicPr>
          <p:cNvPr id="17" name="Image 0" descr="figuras_aula3/f2_pr.png">
            <a:extLst>
              <a:ext uri="{FF2B5EF4-FFF2-40B4-BE49-F238E27FC236}">
                <a16:creationId xmlns:a16="http://schemas.microsoft.com/office/drawing/2014/main" id="{5F3BDF44-FE71-7E3A-695C-B83D40572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561" y="3420562"/>
            <a:ext cx="4087009" cy="3342118"/>
          </a:xfrm>
          <a:prstGeom prst="rect">
            <a:avLst/>
          </a:prstGeom>
        </p:spPr>
      </p:pic>
      <p:pic>
        <p:nvPicPr>
          <p:cNvPr id="19" name="Picture 2" descr="f1_matriz_esquema.png">
            <a:extLst>
              <a:ext uri="{FF2B5EF4-FFF2-40B4-BE49-F238E27FC236}">
                <a16:creationId xmlns:a16="http://schemas.microsoft.com/office/drawing/2014/main" id="{A6B5B417-7385-14CF-8F53-630C8F61D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5073" y="3554247"/>
            <a:ext cx="4164222" cy="25996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17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 otimista, PR honesta</a:t>
            </a:r>
            <a:endParaRPr lang="en-US" sz="2800" dirty="0"/>
          </a:p>
        </p:txBody>
      </p:sp>
      <p:pic>
        <p:nvPicPr>
          <p:cNvPr id="5" name="Image 0" descr="figuras_aula3/f3_roc_vs_p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554480"/>
            <a:ext cx="7223760" cy="34015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9436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classe rara há muitos negativos fáceis, que inflam a ROC. A PR foca em acertar os raros — prefira-a nesse caso.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18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Log-loss: a qualidade da probabilidade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basta ordenar; às vezes a probabilidade precisa ser confiável.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19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Log-loss — definição, fórmula e exemplo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581912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LOG-LOSS (UMA AMOSTRA)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[ y · log(p) + (1 − y) · log(1 − p) ]     ·     menor é melhor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checar se a NOTA é confiável: quando o filtro diz '95% spam', é mesmo perto de 95%? (p = nota; y = verdade).</a:t>
            </a:r>
            <a:endParaRPr lang="en-US" sz="1550" dirty="0"/>
          </a:p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o erro confiante — marcar um e-mail bom com nota altíssima e errar custa muito.</a:t>
            </a:r>
            <a:endParaRPr lang="en-US" sz="1550" dirty="0"/>
          </a:p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spam: se o filtro deu p = 0,9 → −log(0,9) = 0,11 (ótimo); se deu p = 0,1 → −log(0,1) = 2,30 (péssimo).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penalidade cresce depressa</a:t>
            </a:r>
            <a:endParaRPr lang="en-US" sz="2800" dirty="0"/>
          </a:p>
        </p:txBody>
      </p:sp>
      <p:pic>
        <p:nvPicPr>
          <p:cNvPr id="5" name="Image 0" descr="figuras_aula3/f4_log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417320"/>
            <a:ext cx="576072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9436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Errar com certeza (probabilidade baixa na classe certa) custa muito; acertar com confiança custa quase nada. Base de comparação: prever sempre a prevalência.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a métrica pela pergunta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objetivo pede uma métrica diferente.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o seu objetivo?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703608"/>
              </p:ext>
            </p:extLst>
          </p:nvPr>
        </p:nvGraphicFramePr>
        <p:xfrm>
          <a:off x="594360" y="2194560"/>
          <a:ext cx="11000232" cy="2560320"/>
        </p:xfrm>
        <a:graphic>
          <a:graphicData uri="http://schemas.openxmlformats.org/drawingml/2006/table">
            <a:tbl>
              <a:tblPr/>
              <a:tblGrid>
                <a:gridCol w="667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você quer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 indicada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Ordenar / comparar modelos (sem limiar fixo)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(ROC)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Achar os positivos raros e caros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(PR) e recall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Probabilidade confiável (calibrada)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Log-loss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9436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sempre pela pergunta; a métrica é uma decisão, não um padrão.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D3E80-587D-EC34-A4F7-20C733901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ADCD89-A530-E65F-9946-55561AC828DC}"/>
              </a:ext>
            </a:extLst>
          </p:cNvPr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03 - Consultoria Especializada em Ciência de Dados 1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F171B00-21BE-5C7E-D18A-E5E7329B7761}"/>
              </a:ext>
            </a:extLst>
          </p:cNvPr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20</a:t>
            </a:r>
            <a:endParaRPr lang="en-US" sz="8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6A49090-134C-C437-AA31-B91E98BDA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832" y="1147482"/>
            <a:ext cx="3209168" cy="324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510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BA93D3683C038409A0878309F352C61" ma:contentTypeVersion="1" ma:contentTypeDescription="Crie um novo documento." ma:contentTypeScope="" ma:versionID="5521c069b1a3eaafe6e2bb67c85a617f">
  <xsd:schema xmlns:xsd="http://www.w3.org/2001/XMLSchema" xmlns:xs="http://www.w3.org/2001/XMLSchema" xmlns:p="http://schemas.microsoft.com/office/2006/metadata/properties" xmlns:ns2="84be3ff4-bd35-45b6-b3b9-42b43ac23156" targetNamespace="http://schemas.microsoft.com/office/2006/metadata/properties" ma:root="true" ma:fieldsID="9963951f9e2b972418c543b238e30ba3" ns2:_="">
    <xsd:import namespace="84be3ff4-bd35-45b6-b3b9-42b43ac23156"/>
    <xsd:element name="properties">
      <xsd:complexType>
        <xsd:sequence>
          <xsd:element name="documentManagement">
            <xsd:complexType>
              <xsd:all>
                <xsd:element ref="ns2:Reference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be3ff4-bd35-45b6-b3b9-42b43ac23156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84be3ff4-bd35-45b6-b3b9-42b43ac23156" xsi:nil="true"/>
  </documentManagement>
</p:properties>
</file>

<file path=customXml/itemProps1.xml><?xml version="1.0" encoding="utf-8"?>
<ds:datastoreItem xmlns:ds="http://schemas.openxmlformats.org/officeDocument/2006/customXml" ds:itemID="{8503B039-2F45-45DE-9655-6CE3D6EFD75F}"/>
</file>

<file path=customXml/itemProps2.xml><?xml version="1.0" encoding="utf-8"?>
<ds:datastoreItem xmlns:ds="http://schemas.openxmlformats.org/officeDocument/2006/customXml" ds:itemID="{CFD5517B-2A66-46ED-8D1E-D0A7A8ED10B5}"/>
</file>

<file path=customXml/itemProps3.xml><?xml version="1.0" encoding="utf-8"?>
<ds:datastoreItem xmlns:ds="http://schemas.openxmlformats.org/officeDocument/2006/customXml" ds:itemID="{AAEB6C20-A7D4-4869-B470-9E0777184882}"/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1595</Words>
  <Application>Microsoft Office PowerPoint</Application>
  <PresentationFormat>Widescreen</PresentationFormat>
  <Paragraphs>191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CD1 Aula 3</dc:title>
  <dc:subject>PptxGenJS Presentation</dc:subject>
  <dc:creator>Consultoria</dc:creator>
  <cp:lastModifiedBy>Giovani Giulio</cp:lastModifiedBy>
  <cp:revision>4</cp:revision>
  <dcterms:created xsi:type="dcterms:W3CDTF">2026-08-09T14:18:40Z</dcterms:created>
  <dcterms:modified xsi:type="dcterms:W3CDTF">2026-08-15T06:10:56Z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0x010100CBA93D3683C038409A0878309F352C61</vt:lpwstr>
  </property>
</Properties>
</file>