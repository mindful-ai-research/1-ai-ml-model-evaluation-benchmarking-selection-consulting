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45.xml" ContentType="application/vnd.openxmlformats-officedocument.presentationml.slide+xml"/>
  <Override PartName="/ppt/slides/slide4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4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3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9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ustomXml" Target="../customXml/item3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customXml" Target="../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customXml" Target="../customXml/item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1965960"/>
            <a:ext cx="11003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CIÊNCIA DE DADOS 1 · REVISÃO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14600"/>
            <a:ext cx="1100324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12303A"/>
                </a:solidFill>
                <a:latin typeface="Cambria"/>
              </a:rPr>
              <a:t>Aula 08 — Busca de hiperparâmetros (Grid Search)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79" y="640080"/>
            <a:ext cx="393192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23000" b="1">
                <a:solidFill>
                  <a:srgbClr val="E9F5F3"/>
                </a:solidFill>
                <a:latin typeface="Cambria"/>
              </a:rPr>
              <a:t>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331720"/>
            <a:ext cx="1828800" cy="475488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432304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71800"/>
            <a:ext cx="7680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100" b="1">
                <a:solidFill>
                  <a:srgbClr val="12303A"/>
                </a:solidFill>
                <a:latin typeface="Cambria"/>
              </a:rPr>
              <a:t>Relembrando os conceitos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Parâmetro × hiperparâmetro, e a regra de ouro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O que o modelo aprende sozinho, o que você define, e quem pode escolher.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532120" cy="287121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75688"/>
            <a:ext cx="49469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PARÂMETRO × HIPERPARÂMETRO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8"/>
            <a:ext cx="4946904" cy="1883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Parâmetro: o modelo APRENDE no fit.</a:t>
            </a:r>
            <a:r>
              <a:rPr sz="1400" b="0">
                <a:solidFill>
                  <a:srgbClr val="475569"/>
                </a:solidFill>
                <a:latin typeface="Calibri"/>
              </a:rPr>
              <a:t> Os pesos da logística, os cortes de cada nó da árvore.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Hiperparâmetro: VOCÊ define antes de treinar.</a:t>
            </a:r>
            <a:r>
              <a:rPr sz="1400" b="0">
                <a:solidFill>
                  <a:srgbClr val="475569"/>
                </a:solidFill>
                <a:latin typeface="Calibri"/>
              </a:rPr>
              <a:t> O C da regularização, a profundidade máxima da árvore, o k do k-NN.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Na analogia do bolo:</a:t>
            </a:r>
            <a:r>
              <a:rPr sz="1400" b="0">
                <a:solidFill>
                  <a:srgbClr val="475569"/>
                </a:solidFill>
                <a:latin typeface="Calibri"/>
              </a:rPr>
              <a:t> o tempo e a temperatura são hiperparâmetros; como a massa cresce por dentro é o parâmetro.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83080"/>
            <a:ext cx="5105369" cy="287121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2075688"/>
            <a:ext cx="45201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A REGRA DE OURO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4848" y="2532888"/>
            <a:ext cx="4520153" cy="1883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Treino aprende, VALIDAÇÃO escolhe, TESTE confirma — uma vez só.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Quem escolhe não mede.</a:t>
            </a:r>
            <a:r>
              <a:rPr sz="1400" b="0">
                <a:solidFill>
                  <a:srgbClr val="475569"/>
                </a:solidFill>
                <a:latin typeface="Calibri"/>
              </a:rPr>
              <a:t> A busca inteira vive na validação cruzada, dentro do treino.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O teste fica guardado</a:t>
            </a:r>
            <a:r>
              <a:rPr sz="1400" b="0">
                <a:solidFill>
                  <a:srgbClr val="475569"/>
                </a:solidFill>
                <a:latin typeface="Calibri"/>
              </a:rPr>
              <a:t> e é tocado uma única vez, no fim, com o campeão (Aula 05).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É a questão 2 — a que mais derrubou a turma. Voltamos a ela na Parte 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A busca exaustiva e a conta do custo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O GridSearchCV testa TODAS as combinações da grade, cada uma com validação cruzada.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731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20824"/>
            <a:ext cx="1045460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2303A"/>
                </a:solidFill>
                <a:latin typeface="Consolas"/>
              </a:rPr>
              <a:t>treinos = (opções do eixo 1) × (opções do eixo 2) × … × (dobras da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071680"/>
              </p:ext>
            </p:extLst>
          </p:nvPr>
        </p:nvGraphicFramePr>
        <p:xfrm>
          <a:off x="594360" y="2788920"/>
          <a:ext cx="6675120" cy="137160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grade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combinações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treinos (5 dobras)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C {0,1; 1; 10} × class_weight {None, balanced}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3 × 2 = 6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2303A"/>
                          </a:solidFill>
                          <a:latin typeface="Calibri"/>
                        </a:rPr>
                        <a:t>6 × 5 = 30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+ um eixo com 4 opções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6 × 4 = 24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B5A54"/>
                          </a:solidFill>
                          <a:latin typeface="Calibri"/>
                        </a:rPr>
                        <a:t>24 × 5 = 120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E9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2788920"/>
            <a:ext cx="4005072" cy="281635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82128" y="3081527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QUE A CONTA ENSINA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3538727"/>
            <a:ext cx="3419856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Cada eixo novo MULTIPLICA o total</a:t>
            </a:r>
            <a:r>
              <a:rPr sz="1350" b="0">
                <a:solidFill>
                  <a:srgbClr val="475569"/>
                </a:solidFill>
                <a:latin typeface="Calibri"/>
              </a:rPr>
              <a:t> — não soma.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É por isso que a grade explode</a:t>
            </a:r>
            <a:r>
              <a:rPr sz="1350" b="0">
                <a:solidFill>
                  <a:srgbClr val="475569"/>
                </a:solidFill>
                <a:latin typeface="Calibri"/>
              </a:rPr>
              <a:t> e a Aula 09 troca o "testar tudo" por sortear com orçamento.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Boa prática:</a:t>
            </a:r>
            <a:r>
              <a:rPr sz="1350" b="0">
                <a:solidFill>
                  <a:srgbClr val="475569"/>
                </a:solidFill>
                <a:latin typeface="Calibri"/>
              </a:rPr>
              <a:t> comece com uma grade pequena e refine em volta do melhor.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Exaustiva = a grade inteira, sem atalho. Sortear combinações é a busca ALEATÓRIA, assunto de hoje.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O que sai da busca: quatro atributos, quatro papéis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Confundir os quatro é o que derrubou as questões 12 e 15.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783080"/>
          <a:ext cx="11000232" cy="26517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o que é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serve para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best_params_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um DICIONÁRIO: a combinação de melhor média de CV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saber o que venceu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best_score_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a MÉDIA de CV dessa combinação (validação, não teste)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B5A54"/>
                          </a:solidFill>
                          <a:latin typeface="Calibri"/>
                        </a:rPr>
                        <a:t>escolher — não para reportar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E9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best_estimator_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B5A54"/>
                          </a:solidFill>
                          <a:latin typeface="Calibri"/>
                        </a:rPr>
                        <a:t>o Pipeline com a melhor combinação, JÁ TREINADO (refit=True)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levar ao teste: .predict direto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cv_results_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a TABELA completa: média e desvio de cada combinação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2303A"/>
                          </a:solidFill>
                          <a:latin typeface="Calibri"/>
                        </a:rPr>
                        <a:t>ver o platô e o pódio inteiro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94360" y="4535424"/>
            <a:ext cx="11003249" cy="121615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4828032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NÚMERO QUE SE REPORTA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5285232"/>
            <a:ext cx="1041803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12303A"/>
                </a:solidFill>
                <a:latin typeface="Calibri"/>
              </a:rPr>
              <a:t>O do teste, tocado uma vez com o best_estimator_.</a:t>
            </a:r>
            <a:r>
              <a:rPr sz="1200" b="0">
                <a:solidFill>
                  <a:srgbClr val="475569"/>
                </a:solidFill>
                <a:latin typeface="Calibri"/>
              </a:rPr>
              <a:t> O best_score_ é o máximo de várias médias ruidosas — tende a ser otimista (maldição do vencedor, Aula 07).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Lendo o resultado: platô e sinal de alerta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Na tabela da aula: 0,61 · 0,68 · 0,71 · 0,79 · 0,70 · 0,74 — venceu C = 1, balanced.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532120" cy="260604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75688"/>
            <a:ext cx="49469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PLATÔ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8"/>
            <a:ext cx="4946904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Diferença dentro do desvio não é diferença.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Se várias combinações empatam,</a:t>
            </a:r>
            <a:r>
              <a:rPr sz="1400" b="0">
                <a:solidFill>
                  <a:srgbClr val="475569"/>
                </a:solidFill>
                <a:latin typeface="Calibri"/>
              </a:rPr>
              <a:t> escolha a mais SIMPLES: é mais estável e mais fácil de defender.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Por isso se olha o cv_results_ inteiro,</a:t>
            </a:r>
            <a:r>
              <a:rPr sz="1400" b="0">
                <a:solidFill>
                  <a:srgbClr val="475569"/>
                </a:solidFill>
                <a:latin typeface="Calibri"/>
              </a:rPr>
              <a:t> e não só o topo.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83080"/>
            <a:ext cx="5105369" cy="260604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2075688"/>
            <a:ext cx="45201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VALIDAÇÃO × TESTE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4848" y="2532888"/>
            <a:ext cx="4520153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Teste perto do best_score_ (0,76 × 0,79):</a:t>
            </a:r>
            <a:r>
              <a:rPr sz="1400" b="0">
                <a:solidFill>
                  <a:srgbClr val="475569"/>
                </a:solidFill>
                <a:latin typeface="Calibri"/>
              </a:rPr>
              <a:t> cenário saudável.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Teste MUITO abaixo:</a:t>
            </a:r>
            <a:r>
              <a:rPr sz="1400" b="0">
                <a:solidFill>
                  <a:srgbClr val="475569"/>
                </a:solidFill>
                <a:latin typeface="Calibri"/>
              </a:rPr>
              <a:t> a busca se sobreajustou — grade grande para poucos dados, topo por sorte nas dobras.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O que fazer:</a:t>
            </a:r>
            <a:r>
              <a:rPr sz="1400" b="0">
                <a:solidFill>
                  <a:srgbClr val="475569"/>
                </a:solidFill>
                <a:latin typeface="Calibri"/>
              </a:rPr>
              <a:t> encolher a grade, CV mais robusta, desconfiar de vazamento.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"Sobreajustar a busca" é exatamente a dúvida que a turma deixou no formulário. Ela ganha a Parte 3 inteira.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A dúvida, e o que quer dizer "forçar" a validação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115214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039112"/>
            <a:ext cx="10180289" cy="63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03A"/>
                </a:solidFill>
                <a:latin typeface="Calibri"/>
              </a:rPr>
              <a:t>Pergunta da turma: </a:t>
            </a:r>
            <a:r>
              <a:rPr sz="1550" b="0">
                <a:solidFill>
                  <a:srgbClr val="475569"/>
                </a:solidFill>
                <a:latin typeface="Calibri"/>
              </a:rPr>
              <a:t>"Uma dúvida que fiquei é: como a gente percebe, na prática, que uma busca de hiperparâmetros está começando a forçar demais os dados da validação?"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Sinal 1 — a validação sobe, a nested CV não acompanha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Árvore de decisão (Aula 01) nas músicas: grades cada vez maiores de max_depth (profundidade) × min_samples_leaf (mínimo de exemplos por folha).</a:t>
            </a:r>
          </a:p>
        </p:txBody>
      </p:sp>
      <p:pic>
        <p:nvPicPr>
          <p:cNvPr id="4" name="Picture 3" descr="cdrev08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" y="1737360"/>
            <a:ext cx="6185001" cy="4069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35240" y="1737360"/>
            <a:ext cx="3959352" cy="351129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7848" y="2029967"/>
            <a:ext cx="33741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LENDO O GRÁFICO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7848" y="2487168"/>
            <a:ext cx="3374136" cy="252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12303A"/>
                </a:solidFill>
                <a:latin typeface="Calibri"/>
              </a:rPr>
              <a:t>Até 16 combinações</a:t>
            </a:r>
            <a:r>
              <a:rPr sz="1300" b="0">
                <a:solidFill>
                  <a:srgbClr val="475569"/>
                </a:solidFill>
                <a:latin typeface="Calibri"/>
              </a:rPr>
              <a:t> as duas linhas andam juntas: a diferença é de 0,01.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12303A"/>
                </a:solidFill>
                <a:latin typeface="Calibri"/>
              </a:rPr>
              <a:t>De 16 para 196</a:t>
            </a:r>
            <a:r>
              <a:rPr sz="1300" b="0">
                <a:solidFill>
                  <a:srgbClr val="475569"/>
                </a:solidFill>
                <a:latin typeface="Calibri"/>
              </a:rPr>
              <a:t> o best_score_ sobe (0,378 → 0,433), mas a nested CV não sai do lugar (0,367 → 0,359).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12303A"/>
                </a:solidFill>
                <a:latin typeface="Calibri"/>
              </a:rPr>
              <a:t>A distância entre as duas linhas</a:t>
            </a:r>
            <a:r>
              <a:rPr sz="1300" b="0">
                <a:solidFill>
                  <a:srgbClr val="475569"/>
                </a:solidFill>
                <a:latin typeface="Calibri"/>
              </a:rPr>
              <a:t> é o termômetro: 0,011 com 16 combinações, 0,074 com 196. O modelo não melhorou; a escolha é que ficou mais sortuda.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A nested CV (Aula 07) mede com dobras que a busca não viu — por isso ela revela o otimismo sem gastar o teste guardado.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Sinal 2 — o teste do placebo: embaralhe os rótulos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Com o alvo sorteado, não há padrão nenhum a aprender. Tudo o que a busca "achar" é sorte.</a:t>
            </a:r>
          </a:p>
        </p:txBody>
      </p:sp>
      <p:pic>
        <p:nvPicPr>
          <p:cNvPr id="4" name="Picture 3" descr="cdrev08_place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114" y="1737360"/>
            <a:ext cx="5291050" cy="3063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35240" y="1737360"/>
            <a:ext cx="3959352" cy="326440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7848" y="2029967"/>
            <a:ext cx="33741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QUE APARECEU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7848" y="2487168"/>
            <a:ext cx="3374136" cy="2276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12303A"/>
                </a:solidFill>
                <a:latin typeface="Calibri"/>
              </a:rPr>
              <a:t>Com uma combinação só:</a:t>
            </a:r>
            <a:r>
              <a:rPr sz="1300" b="0">
                <a:solidFill>
                  <a:srgbClr val="475569"/>
                </a:solidFill>
                <a:latin typeface="Calibri"/>
              </a:rPr>
              <a:t> AP 0,147 — perto do acaso (0,122).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12303A"/>
                </a:solidFill>
                <a:latin typeface="Calibri"/>
              </a:rPr>
              <a:t>Com 1.960 combinações</a:t>
            </a:r>
            <a:r>
              <a:rPr sz="1300" b="0">
                <a:solidFill>
                  <a:srgbClr val="475569"/>
                </a:solidFill>
                <a:latin typeface="Calibri"/>
              </a:rPr>
              <a:t> (4 hiperparâmetros da árvore): AP 0,196, 60% acima do acaso, com rótulos SEM sentido.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12303A"/>
                </a:solidFill>
                <a:latin typeface="Calibri"/>
              </a:rPr>
              <a:t>Esse excesso é a medida do quanto a busca consegue "forçar"</a:t>
            </a:r>
            <a:r>
              <a:rPr sz="1300" b="0">
                <a:solidFill>
                  <a:srgbClr val="475569"/>
                </a:solidFill>
                <a:latin typeface="Calibri"/>
              </a:rPr>
              <a:t> a validação só por testar muitas opções.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1003249" cy="868680"/>
          </a:xfrm>
          <a:prstGeom prst="roundRect">
            <a:avLst>
              <a:gd name="adj" fmla="val 2700"/>
            </a:avLst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166360"/>
            <a:ext cx="10271729" cy="411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050">
                <a:solidFill>
                  <a:srgbClr val="FFFFFF"/>
                </a:solidFill>
                <a:latin typeface="Consolas"/>
              </a:rPr>
              <a:t>y_falso = y_tr.sample(frac=1, random_state=0).values</a:t>
            </a:r>
            <a:r>
              <a:rPr sz="1050">
                <a:solidFill>
                  <a:srgbClr val="9CD3CC"/>
                </a:solidFill>
                <a:latin typeface="Consolas"/>
              </a:rPr>
              <a:t>   # embaralha o alvo</a:t>
            </a:r>
          </a:p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050">
                <a:solidFill>
                  <a:srgbClr val="FFFFFF"/>
                </a:solidFill>
                <a:latin typeface="Consolas"/>
              </a:rPr>
              <a:t>GridSearchCV(pipe, grade, cv=cv, scoring="average_precision").fit(X_tr, y_falso).best_score_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Sinal 3 — troque a semente da CV e veja se o vencedor muda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 mesma busca, 10 vezes, só mudando o random_state do StratifiedKFold.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783080"/>
          <a:ext cx="11000232" cy="1810512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4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busca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vencedores diferentes em 10 rodadas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best_score_ variou de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grade da Aula 08 nas músicas (6 combinações, logística)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0,691 a 0,753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as 6 empatam: 0,706 a 0,721, desvio ±0,09 — é platô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grade grande nas músicas (196 combinações, árvore de decisão)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5A5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0,382 a 0,489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303A"/>
                          </a:solidFill>
                          <a:latin typeface="Calibri"/>
                        </a:rPr>
                        <a:t>o "campeão" é quase sorteado pela divisão das dobras</a:t>
                      </a:r>
                    </a:p>
                  </a:txBody>
                  <a:tcPr marT="36576" marB="36576">
                    <a:lnT w="0">
                      <a:noFill/>
                    </a:lnT>
                    <a:lnB w="0"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94360" y="3657600"/>
            <a:ext cx="5532120" cy="196596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3950208"/>
            <a:ext cx="49469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COMO 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4407408"/>
            <a:ext cx="4946904" cy="978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12303A"/>
                </a:solidFill>
                <a:latin typeface="Calibri"/>
              </a:rPr>
              <a:t>Se o vencedor troca a cada semente,</a:t>
            </a:r>
            <a:r>
              <a:rPr sz="1100" b="0">
                <a:solidFill>
                  <a:srgbClr val="475569"/>
                </a:solidFill>
                <a:latin typeface="Calibri"/>
              </a:rPr>
              <a:t> a busca não está achando um ótimo: está escolhendo entre empatados pelo ruído.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12303A"/>
                </a:solidFill>
                <a:latin typeface="Calibri"/>
              </a:rPr>
              <a:t>Note o tamanho do balanço:</a:t>
            </a:r>
            <a:r>
              <a:rPr sz="1100" b="0">
                <a:solidFill>
                  <a:srgbClr val="475569"/>
                </a:solidFill>
                <a:latin typeface="Calibri"/>
              </a:rPr>
              <a:t> de 0,06 a 0,11 só por trocar a semente — mais que a diferença entre as primeiras combinações.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657600"/>
            <a:ext cx="5105369" cy="196596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84848" y="3950208"/>
            <a:ext cx="45201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QUE FAZER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4407408"/>
            <a:ext cx="4520153" cy="978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12303A"/>
                </a:solidFill>
                <a:latin typeface="Calibri"/>
              </a:rPr>
              <a:t>Olhe o cv_results_ com o desvio</a:t>
            </a:r>
            <a:r>
              <a:rPr sz="1100" b="0">
                <a:solidFill>
                  <a:srgbClr val="475569"/>
                </a:solidFill>
                <a:latin typeface="Calibri"/>
              </a:rPr>
              <a:t> e trate como empate o que cabe dentro dele.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12303A"/>
                </a:solidFill>
                <a:latin typeface="Calibri"/>
              </a:rPr>
              <a:t>Prefira o mais simples do platô.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1">
                <a:solidFill>
                  <a:srgbClr val="12303A"/>
                </a:solidFill>
                <a:latin typeface="Calibri"/>
              </a:rPr>
              <a:t>Use RepeatedStratifiedKFold</a:t>
            </a:r>
            <a:r>
              <a:rPr sz="1100" b="0">
                <a:solidFill>
                  <a:srgbClr val="475569"/>
                </a:solidFill>
                <a:latin typeface="Calibri"/>
              </a:rPr>
              <a:t> para uma média menos dependente da semente.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Resumo da dúvida: cinco sinais e o que fazer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Nenhum sinal sozinho prova nada. Dois ou três juntos, sim.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532120" cy="320040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75688"/>
            <a:ext cx="49469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OS SINAIS DE QUE A BUSCA ESTÁ FORÇANDO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8"/>
            <a:ext cx="494690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1. </a:t>
            </a:r>
            <a:r>
              <a:rPr sz="1350" b="0">
                <a:solidFill>
                  <a:srgbClr val="475569"/>
                </a:solidFill>
                <a:latin typeface="Calibri"/>
              </a:rPr>
              <a:t>O best_score_ sobe com a grade, mas a nested CV não sobe junto.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2. </a:t>
            </a:r>
            <a:r>
              <a:rPr sz="1350" b="0">
                <a:solidFill>
                  <a:srgbClr val="475569"/>
                </a:solidFill>
                <a:latin typeface="Calibri"/>
              </a:rPr>
              <a:t>Com rótulos embaralhados, a busca fica bem acima do acaso.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3. </a:t>
            </a:r>
            <a:r>
              <a:rPr sz="1350" b="0">
                <a:solidFill>
                  <a:srgbClr val="475569"/>
                </a:solidFill>
                <a:latin typeface="Calibri"/>
              </a:rPr>
              <a:t>O vencedor muda quando você troca a semente da CV.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4. </a:t>
            </a:r>
            <a:r>
              <a:rPr sz="1350" b="0">
                <a:solidFill>
                  <a:srgbClr val="475569"/>
                </a:solidFill>
                <a:latin typeface="Calibri"/>
              </a:rPr>
              <a:t>As primeiras colocadas diferem menos que o desvio entre dobras.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2303A"/>
                </a:solidFill>
                <a:latin typeface="Calibri"/>
              </a:rPr>
              <a:t>5. </a:t>
            </a:r>
            <a:r>
              <a:rPr sz="1350" b="0">
                <a:solidFill>
                  <a:srgbClr val="475569"/>
                </a:solidFill>
                <a:latin typeface="Calibri"/>
              </a:rPr>
              <a:t>O vencedor está na BORDA da grade, num valor extremo e isolado.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83080"/>
            <a:ext cx="5105369" cy="320040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2075688"/>
            <a:ext cx="45201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QUE FAZER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4848" y="2532888"/>
            <a:ext cx="4520153" cy="17954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 dirty="0" err="1">
                <a:solidFill>
                  <a:srgbClr val="12303A"/>
                </a:solidFill>
                <a:latin typeface="Calibri"/>
              </a:rPr>
              <a:t>Encolha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 a grade: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poucos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valores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,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só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nos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hiperparâmetros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que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importam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 dirty="0" err="1">
                <a:solidFill>
                  <a:srgbClr val="12303A"/>
                </a:solidFill>
                <a:latin typeface="Calibri"/>
              </a:rPr>
              <a:t>Deixe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 a CV </a:t>
            </a:r>
            <a:r>
              <a:rPr sz="1350" b="1" dirty="0" err="1">
                <a:solidFill>
                  <a:srgbClr val="12303A"/>
                </a:solidFill>
                <a:latin typeface="Calibri"/>
              </a:rPr>
              <a:t>mais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 </a:t>
            </a:r>
            <a:r>
              <a:rPr sz="1350" b="1" dirty="0" err="1">
                <a:solidFill>
                  <a:srgbClr val="12303A"/>
                </a:solidFill>
                <a:latin typeface="Calibri"/>
              </a:rPr>
              <a:t>robusta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: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mais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dobras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ou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repetida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(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RepeatedStratifiedKFold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).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 dirty="0" err="1">
                <a:solidFill>
                  <a:srgbClr val="12303A"/>
                </a:solidFill>
                <a:latin typeface="Calibri"/>
              </a:rPr>
              <a:t>Meça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 com </a:t>
            </a:r>
            <a:r>
              <a:rPr sz="1350" b="1" dirty="0" err="1">
                <a:solidFill>
                  <a:srgbClr val="12303A"/>
                </a:solidFill>
                <a:latin typeface="Calibri"/>
              </a:rPr>
              <a:t>quem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 </a:t>
            </a:r>
            <a:r>
              <a:rPr sz="1350" b="1" dirty="0" err="1">
                <a:solidFill>
                  <a:srgbClr val="12303A"/>
                </a:solidFill>
                <a:latin typeface="Calibri"/>
              </a:rPr>
              <a:t>não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 </a:t>
            </a:r>
            <a:r>
              <a:rPr sz="1350" b="1" dirty="0" err="1">
                <a:solidFill>
                  <a:srgbClr val="12303A"/>
                </a:solidFill>
                <a:latin typeface="Calibri"/>
              </a:rPr>
              <a:t>escolheu</a:t>
            </a:r>
            <a:r>
              <a:rPr sz="1350" b="1" dirty="0">
                <a:solidFill>
                  <a:srgbClr val="12303A"/>
                </a:solidFill>
                <a:latin typeface="Calibri"/>
              </a:rPr>
              <a:t>: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nested CV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ou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teste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guardado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,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tocado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uma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475569"/>
                </a:solidFill>
                <a:latin typeface="Calibri"/>
              </a:rPr>
              <a:t>vez</a:t>
            </a:r>
            <a:r>
              <a:rPr sz="1350" b="0" dirty="0">
                <a:solidFill>
                  <a:srgbClr val="475569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dirty="0">
                <a:solidFill>
                  <a:srgbClr val="94A3B8"/>
                </a:solidFill>
                <a:latin typeface="Calibri"/>
              </a:rPr>
              <a:t>Na aula de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hoje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(09)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isso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volta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: a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busca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aleatória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controla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quantas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tentativas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você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faz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— e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menos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tentativas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,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menos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 chance de </a:t>
            </a:r>
            <a:r>
              <a:rPr sz="1150" b="0" dirty="0" err="1">
                <a:solidFill>
                  <a:srgbClr val="94A3B8"/>
                </a:solidFill>
                <a:latin typeface="Calibri"/>
              </a:rPr>
              <a:t>forçar</a:t>
            </a:r>
            <a:r>
              <a:rPr sz="1150" b="0" dirty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79" y="640080"/>
            <a:ext cx="393192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23000" b="1">
                <a:solidFill>
                  <a:srgbClr val="E9F5F3"/>
                </a:solidFill>
                <a:latin typeface="Cambria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331720"/>
            <a:ext cx="1828800" cy="475488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432304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PARTE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71800"/>
            <a:ext cx="7680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100" b="1">
                <a:solidFill>
                  <a:srgbClr val="12303A"/>
                </a:solidFill>
                <a:latin typeface="Cambria"/>
              </a:rPr>
              <a:t>O questionário, questão a questão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526280"/>
            <a:ext cx="749807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As 16 perguntas do formulário — a pergunta, depois a resposta.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Qual destes é um HIPERPARÂMETRO (e não um parâmetro)?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os pesos aprendidos por uma regressão logística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a profundidade máxima de uma árvore de decisão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os pontos de corte que a árvore escolhe em cada nó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o coeficiente angular estimado numa regressão linear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Qual destes é um HIPERPARÂMETRO (e não um parâmetro)?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B)  a profundidade máxima de uma árvore de decisão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86537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Parâmetro é o que o modelo APRENDE durante o fit (pesos, cortes, coeficientes). Hiperparâmetro é o que VOCÊ define antes de treinar: C da regularização, profundidade da árvore, k do k-NN. Na analogia do bolo, o parâmetro é como a massa cresce; o hiperparâmetro é o tempo e a temperatura que você escolheu.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2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A regra de ouro do ajuste de hiperparâmetros é: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treino aprende, teste escolhe, validação confirma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escolher pelo teste e confirmar na validação, que é maior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usar o mesmo conjunto para escolher e para medir, desde que a CV tenha muitas dobras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treino aprende, VALIDAÇÃO escolhe, TESTE confirma — uma vez só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2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 regra de ouro do ajuste de hiperparâmetros 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D)  treino aprende, VALIDAÇÃO escolhe, TESTE confirma — uma vez só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227685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Quem escolhe não mede. A busca inteira vive na validação; o teste é tocado uma única vez, no fim, com o campeão. Testar muitas opções no teste "gasta" a imparcialidade dele — é vazamento.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B91C1C"/>
                </a:solidFill>
                <a:latin typeface="Calibri"/>
              </a:rPr>
              <a:t>O tropeço da turma — </a:t>
            </a:r>
            <a:r>
              <a:rPr sz="1500" b="0">
                <a:solidFill>
                  <a:srgbClr val="475569"/>
                </a:solidFill>
                <a:latin typeface="Calibri"/>
              </a:rPr>
              <a:t>dois respondentes erraram: um marcou "treino aprende, teste escolhe, validação confirma" (papéis invertidos); outro, "o mesmo conjunto, desde que a CV tenha muitas dobras" (mais dobras não curam a seleção).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3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O GridSearchCV é chamado de busca EXAUSTIVA porque: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testa a grade inteira, sem deixar nenhuma combinação de fora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roda até o desempenho parar de melhorar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esgota a memória da máquina em grades grandes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sorteia combinações até cobrir a maior parte do espaço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3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O GridSearchCV é chamado de busca EXAUSTIVA porque: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A)  testa a grade inteira, sem deixar nenhuma combinação de fora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Você define as opções de cada hiperparâmetro; ele varre todas as combinações, avalia cada uma por validação cruzada e fica com a de melhor média. Sortear combinações é a busca ALEATÓRIA, que vem na Aula 09 justamente porque a grade cheia fica cara.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4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Na grade do bolo (3 tempos × 3 temperaturas), quantas combinações são testadas e qual venceu?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6 combinações; venceu 30 min × 180 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3 combinações; venceu 50 min × 200 °C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9 combinações; venceu 40 min × 180 °C, com nota 9,0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9 combinações; venceu 40 min × 200 °C, com nota 7,0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4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Na grade do bolo (3 tempos × 3 temperaturas), quantas combinações são testadas e qual venceu?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C)  9 combinações; venceu 40 min × 180 °C, com nota 9,0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99339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A grade é o produto dos eixos: 3 × 3 = 9 duplas. A melhor nota da tabela é 9,0, em 40 min × 180 °C. É exatamente o que o GridSearchCV faz, trocando tempo e temperatura por C e class_weight.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B91C1C"/>
                </a:solidFill>
                <a:latin typeface="Calibri"/>
              </a:rPr>
              <a:t>O tropeço da turma — </a:t>
            </a:r>
            <a:r>
              <a:rPr sz="1500" b="0">
                <a:solidFill>
                  <a:srgbClr val="475569"/>
                </a:solidFill>
                <a:latin typeface="Calibri"/>
              </a:rPr>
              <a:t>um respondente marcou "40 min × 200 °C, nota 7,0" — o 7,0 está na tabela, mas não é a maior nota.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5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120700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697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Com a grade  C ∈ {0,1; 1; 10}  ×  class_weight ∈ {None, balanced}  e uma CV de 5 dobras, quantos modelos são TREINADOS?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06624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87578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92608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9504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6, um por combinação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474720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64388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69417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57600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5, um por dobra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242816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41198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46227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425696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11, a soma das opções com as dobras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010912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51800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52303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2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30 — 3 × 2 = 6 combinações, cada uma avaliada em 5 dobras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5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Com a grade  C ∈ {0,1; 1; 10}  ×  class_weight ∈ {None, balanced}  e uma CV de 5 dobras, quantos modelos são TREINADOS?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D)  30 — 3 × 2 = 6 combinações, cada uma avaliada em 5 dobras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A conta é (opções do eixo 1) × (opções do eixo 2) × ... × (nº de dobras). 3 × 2 × 5 = 30 modelos treinados só para uma grade pequena. É o preço da busca exaustiva.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6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Acrescentando à mesma grade um terceiro hiperparâmetro com 4 opções, o número de treinos passa de 30 para: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34 — soma-se o novo eixo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120 — cada eixo novo MULTIPLICA o 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38 — somam-se as 4 opções às 5 dobras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30 — o número de dobras não muda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6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Acrescentando à mesma grade um terceiro hiperparâmetro com 4 opções, o número de treinos passa de 30 para: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B)  120 — cada eixo novo MULTIPLICA o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99339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6 × 4 = 24 combinações × 5 dobras = 120 treinos. Cada eixo novo multiplica tudo. É essa explosão que motiva a busca aleatória da Aula 09 — e a boa prática de começar com uma grade pequena e refinar.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B91C1C"/>
                </a:solidFill>
                <a:latin typeface="Calibri"/>
              </a:rPr>
              <a:t>O tropeço da turma — </a:t>
            </a:r>
            <a:r>
              <a:rPr sz="1500" b="0">
                <a:solidFill>
                  <a:srgbClr val="475569"/>
                </a:solidFill>
                <a:latin typeface="Calibri"/>
              </a:rPr>
              <a:t>um respondente marcou "38 — somam-se as opções às dobras". As opções se multiplicam: 6 × 4 × 5 = 120.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7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153619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1027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A tabela da aula deu estas médias de CV (AP): C=0,1/None 0,61 · C=0,1/balanced 0,68 · C=1/None 0,71 · C=1/balanced 0,79 · C=10/None 0,70 · C=10/balanced 0,74. O que o GridSearchCV guarda em best_params_ e best_score_?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3035808"/>
            <a:ext cx="11003249" cy="594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317754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322783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218688"/>
            <a:ext cx="100431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2303A"/>
                </a:solidFill>
                <a:latin typeface="Calibri"/>
              </a:rPr>
              <a:t>best_params_ = {C: 1, class_weight: balanced} e best_score_ = 0,79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749040"/>
            <a:ext cx="11003249" cy="594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890772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941064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931920"/>
            <a:ext cx="100431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2303A"/>
                </a:solidFill>
                <a:latin typeface="Calibri"/>
              </a:rPr>
              <a:t>best_params_ = {C: 10, class_weight: balanced} e best_score_ = 0,74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462272"/>
            <a:ext cx="11003249" cy="594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6040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6542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645152"/>
            <a:ext cx="100431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2303A"/>
                </a:solidFill>
                <a:latin typeface="Calibri"/>
              </a:rPr>
              <a:t>best_params_ = {C: 1, class_weight: balanced} e best_score_ = 0,71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175504"/>
            <a:ext cx="11003249" cy="594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531723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536752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358384"/>
            <a:ext cx="100431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2303A"/>
                </a:solidFill>
                <a:latin typeface="Calibri"/>
              </a:rPr>
              <a:t>best_params_ = a média das seis combinações, 0,705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7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 tabela da aula deu estas médias de CV (AP): C=0,1/None 0,61 · C=0,1/balanced 0,68 · C=1/None 0,71 · C=1/balanced 0,79 · C=10/None 0,70 · C=10/balanced 0,74. O que o GridSearchCV guarda em best_params_ e best_score_?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048256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267712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A)  best_params_ = {C: 1, class_weight: balanced} e best_score_ = 0,79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2951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377440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182112"/>
            <a:ext cx="11003249" cy="1280160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474720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31920"/>
            <a:ext cx="10418033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best_params_ é a combinação de MELHOR MÉDIA de CV e best_score_ é essa média. Atenção: 0,79 é validação, não teste.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8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Numa busca sobre um Pipeline, por que a grade é escrita como  {"clf__C": [0.1, 1, 10]}  e não  {"C": [0.1, 1, 10]}?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o underscore duplo indica que o valor é uma lista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"clf" é o nome da métrica usada no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o prefixo nome_do_passo__parametro diz a QUAL passo do Pipeline o hiperparâmetro pertence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o sklearn exige nomes com prefixo em qualquer busca, com ou sem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8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Numa busca sobre um Pipeline, por que a grade é escrita como  {"clf__C": [0.1, 1, 10]}  e não  {"C": [0.1, 1, 10]}?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11704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C)  porque o prefixo nome_do_passo__parametro diz a QUAL passo do Pipeline o hiperparâmetro pertence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18541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267712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227832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520440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77640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O Pipeline tem vários passos nomeados; sem o prefixo o GridSearchCV não sabe em qual deles mexer e levanta erro. Errar o prefixo (ou o scoring) faz a busca otimizar a coisa errada: a grade fica certa, mas a escolha não.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9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Num problema com classe rara, definir  scoring="accuracy"  na busca é um erro porque: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a acurácia não é aceita pelo GridSearchCV em problemas binários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prever sempre a classe majoritária já dá acurácia alta — a busca escolheria o modelo que ignora a classe rara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a acurácia só pode ser usada com validação cruzada estratificada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a acurácia é sempre menor que o F1, então subestima o modelo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9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Num problema com classe rara, definir  scoring="accuracy"  na busca é um erro porque: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11704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B)  prever sempre a classe majoritária já dá acurácia alta — a busca escolheria o modelo que ignora a classe rara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18541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267712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227832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520440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77640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Com 1% de positivos, prever "negativo" para todo mundo dá 99% de acurácia e zero utilidade. Escolha a métrica que importa: F1, average_precision ou roc_auc. O scoring é o que a busca está de fato maximizando.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10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Em classificação, o cv recomendado na busca é o StratifiedKFold porque ele: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é mais rápido que o KFold comum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embaralha os dados, o que o KFold não faz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usa todas as dobras para treino e nenhuma para validação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preserva a proporção das classes em cada dobra — sem isso a classe rara pode sumir de uma delas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10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Em classificação, o cv recomendado na busca é o StratifiedKFold porque ele: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D)  preserva a proporção das classes em cada dobra — sem isso a classe rara pode sumir de uma delas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Se uma dobra ficar sem nenhum positivo, a métrica daquela dobra vira lixo e contamina a média que decide o vencedor. O shuffle é uma opção tanto do KFold quanto do StratifiedKFold — o que distingue é a estratificação.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11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Por que o GridSearchCV deve receber o PIPELINE inteiro, e não só o classificador com os dados já pré-processados?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67512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557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060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2303A"/>
                </a:solidFill>
                <a:latin typeface="Calibri"/>
              </a:rPr>
              <a:t>porque o Pipeline deixa a busca mais rápida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63824"/>
            <a:ext cx="11003249" cy="667512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42132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392424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46704"/>
            <a:ext cx="10043129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2303A"/>
                </a:solidFill>
                <a:latin typeface="Calibri"/>
              </a:rPr>
              <a:t>porque só o Pipeline aceita o parâmetro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50208"/>
            <a:ext cx="11003249" cy="92354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256532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306824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33088"/>
            <a:ext cx="10043129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2303A"/>
                </a:solidFill>
                <a:latin typeface="Calibri"/>
              </a:rPr>
              <a:t>porque assim o pré-processamento é reajustado dentro de cada dobra, usando só o treino dela — pré-processar antes vaza informação da validação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992624"/>
            <a:ext cx="11003249" cy="667512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5170932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5221224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75504"/>
            <a:ext cx="10043129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2303A"/>
                </a:solidFill>
                <a:latin typeface="Calibri"/>
              </a:rPr>
              <a:t>porque fora do Pipeline o sklearn não consegue calcular best_score_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11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Por que o GridSearchCV deve receber o PIPELINE inteiro, e não só o classificador com os dados já pré-processados?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11704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C)  porque assim o pré-processamento é reajustado dentro de cada dobra, usando só o treino dela — pré-processar antes vaza informação da validação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18541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267712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227832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520440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77640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É o mesmo cuidado da Aula 07: quem faz o fit do scaler/imputer no conjunto inteiro já deixou a média e o desvio da validação entrarem no treino. O resultado sai otimista e você só descobre no teste.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12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120700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697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A busca terminou com best_score_ = 0,79 e o teste, tocado uma vez com o best_estimator_, deu 0,76. O número que você reporta é: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06624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87578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92608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9504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0,76 — o teste é a palavra final; o best_score_ serviu para escolher, não para reportar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474720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64388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69417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57600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0,79 — é a melhor estimativa, obtida com validação cruzada em várias dobras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242816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41198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46227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425696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a média dos dois, 0,775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010912"/>
            <a:ext cx="11003249" cy="6492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51800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52303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2"/>
            <a:ext cx="10043129" cy="283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2303A"/>
                </a:solidFill>
                <a:latin typeface="Calibri"/>
              </a:rPr>
              <a:t>0,79, informando que o teste foi apenas uma verificação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12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 busca terminou com best_score_ = 0,79 e o teste, tocado uma vez com o best_estimator_, deu 0,76. O número que você reporta 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A)  0,76 — o teste é a palavra final; o best_score_ serviu para escolher, não para reportar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70078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best_score_ ajuda a ESCOLHER; quem mede é o teste. Aliás, 0,76 perto de 0,79 é o cenário saudável — a busca não se sobreajustou.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B91C1C"/>
                </a:solidFill>
                <a:latin typeface="Calibri"/>
              </a:rPr>
              <a:t>O tropeço da turma — </a:t>
            </a:r>
            <a:r>
              <a:rPr sz="1500" b="0">
                <a:solidFill>
                  <a:srgbClr val="475569"/>
                </a:solidFill>
                <a:latin typeface="Calibri"/>
              </a:rPr>
              <a:t>um respondente marcou "0,79, a melhor estimativa". Ela serviu para escolher; quem mede é o teste.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13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Por que o best_score_ tende a ser um pouco OTIMISTA?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a validação cruzada sempre superestima o desempenho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ele é calculado no conjunto de treino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o sklearn arredonda o valor para cima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porque é o MÁXIMO de muitas medições ruidosas — quem ficou no topo teve, em parte, sorte nas dobras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13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Por que o best_score_ tende a ser um pouco OTIMISTA?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11704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D)  porque é o MÁXIMO de muitas medições ruidosas — quem ficou no topo teve, em parte, sorte nas dobras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18541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267712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227832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520440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77640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É a maldição do vencedor, vista na Aula 07. Cada média de CV tem ruído; pegar o maior de várias delas seleciona também o ruído favorável. Quanto maior a grade, maior o viés.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14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Olhando o cv_results_, três combinações empatam dentro do desvio-padrão. O que fazer?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aumentar o número de dobras até uma delas se destacar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reconhecer o platô e escolher a combinação mais SIMPLES entre as empatadas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ficar com a de maior média, mesmo que a diferença esteja dentro do desvio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descartar as três e ampliar a grade em volta delas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14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Olhando o cv_results_, três combinações empatam dentro do desvio-padrão. O que fazer?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B)  reconhecer o platô e escolher a combinação mais SIMPLES entre as empatadas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Diferença dentro do desvio não é diferença. Num platô, o modelo mais simples (menos regularização exótica, menos profundidade) é mais estável e mais fácil de defender. Por isso vale sempre inspecionar a tabela inteira, e não só o topo.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15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Sobre o busca.best_estimator_, é CORRETO afirmar: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é o Pipeline com a melhor combinação, JÁ TREINADO — é ele que você leva ao teste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é apenas um dicionário com os melhores valores encontrados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é o modelo com os hiperparâmetros certos, mas ainda sem treino: é preciso chamar fit antes de usar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é a tabela completa com a média e o desvio de cada combinação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15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Sobre o busca.best_estimator_, é CORRETO afirmar: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85953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42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A)  é o Pipeline com a melhor combinação, JÁ TREINADO — é ele que você leva ao teste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029967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112263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916936"/>
            <a:ext cx="11003249" cy="2276856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209544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66744"/>
            <a:ext cx="10418033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O dicionário com os valores é o best_params_; a tabela completa é o cv_results_. O best_estimator_ já vem ajustado (por padrão, refit=True treina no conjunto de treino inteiro), pronto para o predict no teste.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B91C1C"/>
                </a:solidFill>
                <a:latin typeface="Calibri"/>
              </a:rPr>
              <a:t>O tropeço da turma — </a:t>
            </a:r>
            <a:r>
              <a:rPr sz="1500" b="0">
                <a:solidFill>
                  <a:srgbClr val="475569"/>
                </a:solidFill>
                <a:latin typeface="Calibri"/>
              </a:rPr>
              <a:t>um respondente marcou "ainda sem treino". Com refit=True, o best_estimator_ já vem treinado no treino inteiro.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16 de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11003249" cy="877824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289" cy="366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2303A"/>
                </a:solidFill>
                <a:latin typeface="Calibri"/>
              </a:rPr>
              <a:t>O teste ficou MUITO abaixo do best_score_ da validação. A leitura mais provável é: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77440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2560320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610612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60320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o teste está pequeno demais e deve ser ampliado com dados da validação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72968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355848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55848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o modelo está subajustado e a grade precisa de valores mais extremos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68496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" y="4151376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4201668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51376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a busca se sobreajustou — grade grande demais para o tamanho dos dados, e o topo veio de sorte nas dobras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64024"/>
            <a:ext cx="11003249" cy="676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4946904"/>
            <a:ext cx="329184" cy="31089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" y="499719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46904"/>
            <a:ext cx="1004312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2303A"/>
                </a:solidFill>
                <a:latin typeface="Calibri"/>
              </a:rPr>
              <a:t>houve erro de código: os dois números têm de coincidir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Pense antes de virar o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Questão 16 —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100324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O teste ficou MUITO abaixo do best_score_ da validação. A leitura mais provável 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03249" cy="11704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02536"/>
            <a:ext cx="885440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0B5A54"/>
                </a:solidFill>
                <a:latin typeface="Calibri"/>
              </a:rPr>
              <a:t>C)  a busca se sobreajustou — grade grande demais para o tamanho dos dados, e o topo veio de sorte nas dobras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80289" y="218541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80289" y="2267712"/>
            <a:ext cx="1143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CORRETA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227832"/>
            <a:ext cx="11003249" cy="1572768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3520440"/>
            <a:ext cx="1041803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POR QUÊ?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77640"/>
            <a:ext cx="10418033" cy="585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É o sinal de alerta da aula. O caminho é encolher a grade, usar uma CV mais robusta (mais dobras ou repetida) e desconfiar de vazamento no pré-processamento. Alguma diferença é normal — o problema é a diferença GRANDE.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Formulário da Aula 08 · 5 respostas · média 14,8 de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100324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0">
                <a:solidFill>
                  <a:srgbClr val="12303A"/>
                </a:solidFill>
                <a:latin typeface="Cambria"/>
              </a:rPr>
              <a:t>Para levar desta revisão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463040"/>
            <a:ext cx="5532120" cy="29992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1755648"/>
            <a:ext cx="49469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QUE JÁ ESTÁ FIRME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212848"/>
            <a:ext cx="4946904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Parâmetro × hiperparâmetro</a:t>
            </a:r>
            <a:r>
              <a:rPr sz="1400" b="0">
                <a:solidFill>
                  <a:srgbClr val="475569"/>
                </a:solidFill>
                <a:latin typeface="Calibri"/>
              </a:rPr>
              <a:t> e o que é busca exaustiva: acerto de todo mundo.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A montagem da busca:</a:t>
            </a:r>
            <a:r>
              <a:rPr sz="1400" b="0">
                <a:solidFill>
                  <a:srgbClr val="475569"/>
                </a:solidFill>
                <a:latin typeface="Calibri"/>
              </a:rPr>
              <a:t> prefixo, scoring, CV estratificada e Pipeline — 100% nas questões 8 a 11.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A leitura do resultado:</a:t>
            </a:r>
            <a:r>
              <a:rPr sz="1400" b="0">
                <a:solidFill>
                  <a:srgbClr val="475569"/>
                </a:solidFill>
                <a:latin typeface="Calibri"/>
              </a:rPr>
              <a:t> best_score_ otimista, platô e sinal de alerta.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463040"/>
            <a:ext cx="5105369" cy="2999232"/>
          </a:xfrm>
          <a:prstGeom prst="roundRect">
            <a:avLst>
              <a:gd name="adj" fmla="val 4000"/>
            </a:avLst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4848" y="1755648"/>
            <a:ext cx="45201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B5A54"/>
                </a:solidFill>
                <a:latin typeface="Calibri"/>
              </a:rPr>
              <a:t>O QUE VALE REVISAR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12848"/>
            <a:ext cx="4520153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Quem escolhe não mede.</a:t>
            </a:r>
            <a:r>
              <a:rPr sz="1400" b="0">
                <a:solidFill>
                  <a:srgbClr val="475569"/>
                </a:solidFill>
                <a:latin typeface="Calibri"/>
              </a:rPr>
              <a:t> O teste confirma uma vez; muitas dobras não substituem isso.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O best_estimator_ já vem treinado</a:t>
            </a:r>
            <a:r>
              <a:rPr sz="1400" b="0">
                <a:solidFill>
                  <a:srgbClr val="475569"/>
                </a:solidFill>
                <a:latin typeface="Calibri"/>
              </a:rPr>
              <a:t> e é ele que vai ao teste.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Eixos se multiplicam</a:t>
            </a:r>
            <a:r>
              <a:rPr sz="1400" b="0">
                <a:solidFill>
                  <a:srgbClr val="475569"/>
                </a:solidFill>
                <a:latin typeface="Calibri"/>
              </a:rPr>
              <a:t> — e as dobras multiplicam de novo.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2303A"/>
                </a:solidFill>
                <a:latin typeface="Calibri"/>
              </a:rPr>
              <a:t>Busca que força a validação:</a:t>
            </a:r>
            <a:r>
              <a:rPr sz="1400" b="0">
                <a:solidFill>
                  <a:srgbClr val="475569"/>
                </a:solidFill>
                <a:latin typeface="Calibri"/>
              </a:rPr>
              <a:t> validação sobe e nested não; placebo acima do acaso; vencedor instável.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43600"/>
            <a:ext cx="1100324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Na aula de hoje (09): busca aleatória e AutoML — como buscar sem testar tudo.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282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Aula 08 - Consultoria Especializada em Ciência de Dados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64282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29/09/2026    ·   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0A52186506F641B6D0943FD8590E16" ma:contentTypeVersion="3" ma:contentTypeDescription="Crie um novo documento." ma:contentTypeScope="" ma:versionID="892c9e91ca2da4b656e9e1873602cb98">
  <xsd:schema xmlns:xsd="http://www.w3.org/2001/XMLSchema" xmlns:xs="http://www.w3.org/2001/XMLSchema" xmlns:p="http://schemas.microsoft.com/office/2006/metadata/properties" xmlns:ns2="4619301c-9bea-416d-958d-6c0d9dcf89c5" targetNamespace="http://schemas.microsoft.com/office/2006/metadata/properties" ma:root="true" ma:fieldsID="8b2a4b9bb00df620f25170aaf9638c53" ns2:_="">
    <xsd:import namespace="4619301c-9bea-416d-958d-6c0d9dcf89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19301c-9bea-416d-958d-6c0d9dcf89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B33C08E-9BAD-4343-85AD-7E28AD5B246B}"/>
</file>

<file path=customXml/itemProps2.xml><?xml version="1.0" encoding="utf-8"?>
<ds:datastoreItem xmlns:ds="http://schemas.openxmlformats.org/officeDocument/2006/customXml" ds:itemID="{550B1489-A612-47BE-A053-27E18D70FE59}"/>
</file>

<file path=customXml/itemProps3.xml><?xml version="1.0" encoding="utf-8"?>
<ds:datastoreItem xmlns:ds="http://schemas.openxmlformats.org/officeDocument/2006/customXml" ds:itemID="{94B1D151-878A-49DF-82E3-8A76DD64C930}"/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5386</Words>
  <Application>Microsoft Office PowerPoint</Application>
  <PresentationFormat>Widescreen</PresentationFormat>
  <Paragraphs>512</Paragraphs>
  <Slides>45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0" baseType="lpstr">
      <vt:lpstr>Arial</vt:lpstr>
      <vt:lpstr>Calibri</vt:lpstr>
      <vt:lpstr>Cambria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Giovani Giulio Tristão Thibes Vieira</cp:lastModifiedBy>
  <cp:revision>3</cp:revision>
  <dcterms:created xsi:type="dcterms:W3CDTF">2026-09-05T23:47:39Z</dcterms:created>
  <dcterms:modified xsi:type="dcterms:W3CDTF">2026-09-22T12:28:28Z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0x010100D00A52186506F641B6D0943FD8590E16</vt:lpwstr>
  </property>
</Properties>
</file>