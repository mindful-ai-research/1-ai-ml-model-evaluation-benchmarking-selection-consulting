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g"/>
  <Default Extension="m4v" ContentType="video/mp4"/>
  <Default Extension="mp4" ContentType="video/mp4"/>
  <Default Extension="png" ContentType="image/png"/>
  <Default Extension="rels" ContentType="application/vnd.openxmlformats-package.relationships+xml"/>
  <Default Extension="svg" ContentType="image/svg+xml"/>
  <Default Extension="vml" ContentType="application/vnd.openxmlformats-officedocument.vmlDrawing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Masters/slideMaster1.xml" ContentType="application/vnd.openxmlformats-officedocument.presentationml.slideMaster+xml"/>
  <Override PartName="/ppt/notesMasters/notesMaster1.xml" ContentType="application/vnd.openxmlformats-officedocument.presentationml.notesMaster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1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notesMasterIdLst>
    <p:notesMasterId r:id="rId2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customXml" Target="../customXml/item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customXml" Target="../customXml/item2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Relationship Id="rId30" Type="http://schemas.openxmlformats.org/officeDocument/2006/relationships/customXml" Target="../customXml/item1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1965960"/>
            <a:ext cx="110029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CIÊNCIA DE DADOS 1 · HIPERPARÂMETROS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594360" y="2514600"/>
            <a:ext cx="1100297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2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Busca de hiperparâmetros: Grid Search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94360" y="3703320"/>
            <a:ext cx="1100297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Parâmetro × hiperparâmetro, GridSearchCV e o custo da busca exaustiva (Aula 08)</a:t>
            </a:r>
            <a:endParaRPr lang="en-US" sz="1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6428232"/>
            <a:ext cx="9052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08 - Consultoria Especializada em Ciência de Dados 1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8488375" y="642823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22/09/2026    ·    2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94360" y="457200"/>
            <a:ext cx="1100297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12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 onde viemos: já sabemos MEDIR, agora vamos ESCOLHER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94360" y="1371600"/>
            <a:ext cx="11002975" cy="1371600"/>
          </a:xfrm>
          <a:prstGeom prst="roundRect">
            <a:avLst>
              <a:gd name="adj" fmla="val 6000"/>
            </a:avLst>
          </a:prstGeom>
          <a:solidFill>
            <a:srgbClr val="E9F5F3"/>
          </a:solidFill>
          <a:ln/>
          <a:effectLst>
            <a:outerShdw sx="100000" sy="100000" kx="0" ky="0" algn="bl" rotWithShape="0" blurRad="88900" dist="38100" dir="5400000">
              <a:srgbClr val="9CB4B0">
                <a:alpha val="2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005840" y="1371600"/>
            <a:ext cx="1018001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700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 Aula 07 aprendemos a </a:t>
            </a:r>
            <a:pPr indent="0" marL="0">
              <a:lnSpc>
                <a:spcPct val="112000"/>
              </a:lnSpc>
              <a:buNone/>
            </a:pPr>
            <a:r>
              <a:rPr lang="en-US" sz="1700" b="1" dirty="0">
                <a:solidFill>
                  <a:srgbClr val="0B5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validação cruzada</a:t>
            </a:r>
            <a:pPr indent="0" marL="0">
              <a:lnSpc>
                <a:spcPct val="112000"/>
              </a:lnSpc>
              <a:buNone/>
            </a:pPr>
            <a:r>
              <a:rPr lang="en-US" sz="1700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em vez de um corte, várias dobras, e o resultado é a </a:t>
            </a:r>
            <a:pPr indent="0" marL="0">
              <a:lnSpc>
                <a:spcPct val="112000"/>
              </a:lnSpc>
              <a:buNone/>
            </a:pPr>
            <a:r>
              <a:rPr lang="en-US" sz="1700" b="1" dirty="0">
                <a:solidFill>
                  <a:srgbClr val="0B5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média ± desvio</a:t>
            </a:r>
            <a:pPr indent="0" marL="0">
              <a:lnSpc>
                <a:spcPct val="112000"/>
              </a:lnSpc>
              <a:buNone/>
            </a:pPr>
            <a:r>
              <a:rPr lang="en-US" sz="1700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Hoje usamos essa régua para escolher os ajustes do modelo.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594360" y="2971800"/>
            <a:ext cx="11002975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buSzPct val="100000"/>
              <a:buChar char="•"/>
            </a:pPr>
            <a:r>
              <a:rPr lang="en-US" sz="1500" b="1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problema (recap) — </a:t>
            </a:r>
            <a:pPr indent="0" marL="0">
              <a:spcAft>
                <a:spcPts val="900"/>
              </a:spcAft>
              <a:buNone/>
            </a:pPr>
            <a:r>
              <a:rPr lang="en-US" sz="15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CV dá uma estimativa estável e honesta — mas ainda não dissemos QUAIS valores (C, profundidade, k) usar no modelo.</a:t>
            </a:r>
            <a:endParaRPr lang="en-US" sz="1500" dirty="0"/>
          </a:p>
          <a:p>
            <a:pPr marL="228600" indent="-228600">
              <a:buSzPct val="100000"/>
              <a:buChar char="•"/>
            </a:pPr>
            <a:r>
              <a:rPr lang="en-US" sz="1500" b="1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ideia de hoje — </a:t>
            </a:r>
            <a:pPr indent="0" marL="0">
              <a:spcAft>
                <a:spcPts val="900"/>
              </a:spcAft>
              <a:buNone/>
            </a:pPr>
            <a:r>
              <a:rPr lang="en-US" sz="15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testar várias combinações de hiperparâmetros numa GRADE e deixar a validação cruzada apontar a melhor.</a:t>
            </a:r>
            <a:endParaRPr lang="en-US" sz="1500" dirty="0"/>
          </a:p>
          <a:p>
            <a:pPr marL="228600" indent="-228600">
              <a:buSzPct val="100000"/>
              <a:buChar char="•"/>
            </a:pPr>
            <a:r>
              <a:rPr lang="en-US" sz="1500" b="1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mais — </a:t>
            </a:r>
            <a:pPr indent="0" marL="0">
              <a:spcAft>
                <a:spcPts val="900"/>
              </a:spcAft>
              <a:buNone/>
            </a:pPr>
            <a:r>
              <a:rPr lang="en-US" sz="15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contar o custo dessa busca (a grade explode) e confirmar o campeão uma única vez no teste — sem vazar.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6428232"/>
            <a:ext cx="9052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08 - Consultoria Especializada em Ciência de Dados 1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8488375" y="642823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22/09/2026    ·    3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94360" y="457200"/>
            <a:ext cx="1100297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12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Objetivo da aula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94360" y="1417320"/>
            <a:ext cx="11002975" cy="1280160"/>
          </a:xfrm>
          <a:prstGeom prst="roundRect">
            <a:avLst>
              <a:gd name="adj" fmla="val 6429"/>
            </a:avLst>
          </a:prstGeom>
          <a:solidFill>
            <a:srgbClr val="E9F5F3"/>
          </a:solidFill>
          <a:ln/>
          <a:effectLst>
            <a:outerShdw sx="100000" sy="100000" kx="0" ky="0" algn="bl" rotWithShape="0" blurRad="88900" dist="38100" dir="5400000">
              <a:srgbClr val="9CB4B0">
                <a:alpha val="2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005840" y="1417320"/>
            <a:ext cx="10180015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900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Ajustar hiperparâmetros por </a:t>
            </a:r>
            <a:pPr indent="0" marL="0">
              <a:lnSpc>
                <a:spcPct val="112000"/>
              </a:lnSpc>
              <a:buNone/>
            </a:pPr>
            <a:r>
              <a:rPr lang="en-US" sz="1900" b="1" dirty="0">
                <a:solidFill>
                  <a:srgbClr val="0B5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busca em grade</a:t>
            </a:r>
            <a:pPr indent="0" marL="0">
              <a:lnSpc>
                <a:spcPct val="112000"/>
              </a:lnSpc>
              <a:buNone/>
            </a:pPr>
            <a:r>
              <a:rPr lang="en-US" sz="1900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(Grid Search), avaliando cada combinação na </a:t>
            </a:r>
            <a:pPr indent="0" marL="0">
              <a:lnSpc>
                <a:spcPct val="112000"/>
              </a:lnSpc>
              <a:buNone/>
            </a:pPr>
            <a:r>
              <a:rPr lang="en-US" sz="1900" b="1" dirty="0">
                <a:solidFill>
                  <a:srgbClr val="0B5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validação cruzada</a:t>
            </a:r>
            <a:pPr indent="0" marL="0">
              <a:lnSpc>
                <a:spcPct val="112000"/>
              </a:lnSpc>
              <a:buNone/>
            </a:pPr>
            <a:r>
              <a:rPr lang="en-US" sz="1900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sem tocar no teste.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594360" y="3108960"/>
            <a:ext cx="6766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B5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CAMINHO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94360" y="3520440"/>
            <a:ext cx="676656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buSzPct val="100000"/>
              <a:buChar char="•"/>
            </a:pPr>
            <a:r>
              <a:rPr lang="en-US" sz="1450" b="1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Parâmetro × hiperparâmetro — </a:t>
            </a:r>
            <a:pPr indent="0" marL="0">
              <a:spcAft>
                <a:spcPts val="800"/>
              </a:spcAft>
              <a:buNone/>
            </a:pPr>
            <a:r>
              <a:rPr lang="en-US" sz="14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o modelo aprende vs. o que você define.</a:t>
            </a:r>
            <a:endParaRPr lang="en-US" sz="1450" dirty="0"/>
          </a:p>
          <a:p>
            <a:pPr marL="228600" indent="-228600">
              <a:buSzPct val="100000"/>
              <a:buChar char="•"/>
            </a:pPr>
            <a:r>
              <a:rPr lang="en-US" sz="1450" b="1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GridSearchCV — </a:t>
            </a:r>
            <a:pPr indent="0" marL="0">
              <a:spcAft>
                <a:spcPts val="800"/>
              </a:spcAft>
              <a:buNone/>
            </a:pPr>
            <a:r>
              <a:rPr lang="en-US" sz="14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testar toda a grade, com CV, e ler os resultados.</a:t>
            </a:r>
            <a:endParaRPr lang="en-US" sz="1450" dirty="0"/>
          </a:p>
          <a:p>
            <a:pPr marL="228600" indent="-228600">
              <a:buSzPct val="100000"/>
              <a:buChar char="•"/>
            </a:pPr>
            <a:r>
              <a:rPr lang="en-US" sz="1450" b="1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custo — </a:t>
            </a:r>
            <a:pPr indent="0" marL="0">
              <a:spcAft>
                <a:spcPts val="800"/>
              </a:spcAft>
              <a:buNone/>
            </a:pPr>
            <a:r>
              <a:rPr lang="en-US" sz="14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a grade explode — e confirmar no teste.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7726680" y="3108960"/>
            <a:ext cx="3886200" cy="2788920"/>
          </a:xfrm>
          <a:prstGeom prst="roundRect">
            <a:avLst>
              <a:gd name="adj" fmla="val 2951"/>
            </a:avLst>
          </a:prstGeom>
          <a:solidFill>
            <a:srgbClr val="E9F5F3"/>
          </a:solidFill>
          <a:ln/>
          <a:effectLst>
            <a:outerShdw sx="100000" sy="100000" kx="0" ky="0" algn="bl" rotWithShape="0" blurRad="88900" dist="38100" dir="5400000">
              <a:srgbClr val="9CB4B0">
                <a:alpha val="2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8019288" y="3401568"/>
            <a:ext cx="33009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B5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ANALOGIA DE HOJE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019288" y="3904488"/>
            <a:ext cx="3300984" cy="1719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buSzPct val="100000"/>
              <a:buChar char="•"/>
            </a:pPr>
            <a:r>
              <a:rPr lang="en-US" sz="1400" b="1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receita do bolo — </a:t>
            </a:r>
            <a:pPr indent="0" marL="0">
              <a:spcAft>
                <a:spcPts val="700"/>
              </a:spcAft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grade de tempo × temperatura: você testa as combinações e acha a que assa melhor.</a:t>
            </a:r>
            <a:endParaRPr lang="en-US" sz="1400" dirty="0"/>
          </a:p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Vale para qualquer modelo e seus hiperparâmetros.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94360" y="5943600"/>
            <a:ext cx="110029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Aula 07 (validação cruzada) para a Aula 08: usar a mesma validação para ESCOLHER os hiperparâmetros.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6428232"/>
            <a:ext cx="9052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08 - Consultoria Especializada em Ciência de Dados 1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8488375" y="642823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22/09/2026    ·    4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955280" y="640080"/>
            <a:ext cx="3931920" cy="5120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3000" b="1" dirty="0">
                <a:solidFill>
                  <a:srgbClr val="E9F5F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3000" dirty="0"/>
          </a:p>
        </p:txBody>
      </p:sp>
      <p:sp>
        <p:nvSpPr>
          <p:cNvPr id="5" name="Shape 3"/>
          <p:cNvSpPr/>
          <p:nvPr/>
        </p:nvSpPr>
        <p:spPr>
          <a:xfrm>
            <a:off x="594360" y="2331720"/>
            <a:ext cx="1828800" cy="475488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/>
        </p:spPr>
      </p:sp>
      <p:sp>
        <p:nvSpPr>
          <p:cNvPr id="6" name="Text 4"/>
          <p:cNvSpPr/>
          <p:nvPr/>
        </p:nvSpPr>
        <p:spPr>
          <a:xfrm>
            <a:off x="594360" y="2331720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94360" y="2971800"/>
            <a:ext cx="76809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100" b="1" dirty="0">
                <a:solidFill>
                  <a:srgbClr val="12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Parâmetro e hiperparâmetro</a:t>
            </a:r>
            <a:endParaRPr lang="en-US" sz="3100" dirty="0"/>
          </a:p>
        </p:txBody>
      </p:sp>
      <p:sp>
        <p:nvSpPr>
          <p:cNvPr id="8" name="Text 6"/>
          <p:cNvSpPr/>
          <p:nvPr/>
        </p:nvSpPr>
        <p:spPr>
          <a:xfrm>
            <a:off x="594360" y="4526280"/>
            <a:ext cx="7498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o modelo aprende sozinho e o que você precisa definir.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6428232"/>
            <a:ext cx="9052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08 - Consultoria Especializada em Ciência de Dados 1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8488375" y="642823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22/09/2026    ·    5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94360" y="457200"/>
            <a:ext cx="1100297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12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Parâmetro × hiperparâmetro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94360" y="1783080"/>
            <a:ext cx="5318608" cy="4114800"/>
          </a:xfrm>
          <a:prstGeom prst="roundRect">
            <a:avLst>
              <a:gd name="adj" fmla="val 2000"/>
            </a:avLst>
          </a:prstGeom>
          <a:solidFill>
            <a:srgbClr val="E9F5F3"/>
          </a:solidFill>
          <a:ln/>
          <a:effectLst>
            <a:outerShdw sx="100000" sy="100000" kx="0" ky="0" algn="bl" rotWithShape="0" blurRad="88900" dist="38100" dir="5400000">
              <a:srgbClr val="9CB4B0">
                <a:alpha val="2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14400" y="2057400"/>
            <a:ext cx="46785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5A5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Parâmetro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14400" y="2697480"/>
            <a:ext cx="4678528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buSzPct val="100000"/>
              <a:buChar char="•"/>
            </a:pPr>
            <a:r>
              <a:rPr lang="en-US" sz="1450" b="1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modelo aprende — </a:t>
            </a:r>
            <a:pPr indent="0" marL="0">
              <a:spcAft>
                <a:spcPts val="800"/>
              </a:spcAft>
              <a:buNone/>
            </a:pPr>
            <a:r>
              <a:rPr lang="en-US" sz="14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durante o fit, a partir dos dados.</a:t>
            </a:r>
            <a:endParaRPr lang="en-US" sz="1450" dirty="0"/>
          </a:p>
          <a:p>
            <a:pPr marL="228600" indent="-228600">
              <a:buSzPct val="100000"/>
              <a:buChar char="•"/>
            </a:pPr>
            <a:r>
              <a:rPr lang="en-US" sz="1450" b="1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Exemplos — </a:t>
            </a:r>
            <a:pPr indent="0" marL="0">
              <a:spcAft>
                <a:spcPts val="800"/>
              </a:spcAft>
              <a:buNone/>
            </a:pPr>
            <a:r>
              <a:rPr lang="en-US" sz="14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pesos de uma regressão, os cortes de uma árvore.</a:t>
            </a:r>
            <a:endParaRPr lang="en-US" sz="1450" dirty="0"/>
          </a:p>
          <a:p>
            <a:pPr marL="228600" indent="-228600">
              <a:buSzPct val="100000"/>
              <a:buChar char="•"/>
            </a:pPr>
            <a:r>
              <a:rPr lang="en-US" sz="1450" b="1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Você não define — </a:t>
            </a:r>
            <a:pPr indent="0" marL="0">
              <a:spcAft>
                <a:spcPts val="800"/>
              </a:spcAft>
              <a:buNone/>
            </a:pPr>
            <a:r>
              <a:rPr lang="en-US" sz="14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sai do treino, não da sua mão.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6278728" y="1783080"/>
            <a:ext cx="5318608" cy="4114800"/>
          </a:xfrm>
          <a:prstGeom prst="roundRect">
            <a:avLst>
              <a:gd name="adj" fmla="val 2000"/>
            </a:avLst>
          </a:prstGeom>
          <a:solidFill>
            <a:srgbClr val="F1F5F9"/>
          </a:solidFill>
          <a:ln/>
          <a:effectLst>
            <a:outerShdw sx="100000" sy="100000" kx="0" ky="0" algn="bl" rotWithShape="0" blurRad="88900" dist="38100" dir="5400000">
              <a:srgbClr val="9CB4B0">
                <a:alpha val="2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598768" y="2057400"/>
            <a:ext cx="46785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5A5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Hiperparâmetro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598768" y="2697480"/>
            <a:ext cx="4678528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buSzPct val="100000"/>
              <a:buChar char="•"/>
            </a:pPr>
            <a:r>
              <a:rPr lang="en-US" sz="1450" b="1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Você define antes — </a:t>
            </a:r>
            <a:pPr indent="0" marL="0">
              <a:spcAft>
                <a:spcPts val="800"/>
              </a:spcAft>
              <a:buNone/>
            </a:pPr>
            <a:r>
              <a:rPr lang="en-US" sz="14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 o modelo antes de treinar.</a:t>
            </a:r>
            <a:endParaRPr lang="en-US" sz="1450" dirty="0"/>
          </a:p>
          <a:p>
            <a:pPr marL="228600" indent="-228600">
              <a:buSzPct val="100000"/>
              <a:buChar char="•"/>
            </a:pPr>
            <a:r>
              <a:rPr lang="en-US" sz="1450" b="1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Exemplos — </a:t>
            </a:r>
            <a:pPr indent="0" marL="0">
              <a:spcAft>
                <a:spcPts val="800"/>
              </a:spcAft>
              <a:buNone/>
            </a:pPr>
            <a:r>
              <a:rPr lang="en-US" sz="14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da regularização, profundidade da árvore, k do k-NN.</a:t>
            </a:r>
            <a:endParaRPr lang="en-US" sz="1450" dirty="0"/>
          </a:p>
          <a:p>
            <a:pPr marL="228600" indent="-228600">
              <a:buSzPct val="100000"/>
              <a:buChar char="•"/>
            </a:pPr>
            <a:r>
              <a:rPr lang="en-US" sz="1450" b="1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 o que ajustamos hoje — </a:t>
            </a:r>
            <a:pPr indent="0" marL="0">
              <a:spcAft>
                <a:spcPts val="800"/>
              </a:spcAft>
              <a:buNone/>
            </a:pPr>
            <a:r>
              <a:rPr lang="en-US" sz="14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busca em grade escolhe o melhor valor.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594360" y="5943600"/>
            <a:ext cx="110029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Analogia do bolo: os parâmetros são como a massa cresce no forno (o processo); os hiperparâmetros são o tempo e a temperatura que VOCÊ escolhe.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6428232"/>
            <a:ext cx="9052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08 - Consultoria Especializada em Ciência de Dados 1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8488375" y="642823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22/09/2026    ·    6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94360" y="457200"/>
            <a:ext cx="1100297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12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Por que ajustar — e a regra de ouro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94360" y="1371600"/>
            <a:ext cx="11002975" cy="1280160"/>
          </a:xfrm>
          <a:prstGeom prst="roundRect">
            <a:avLst>
              <a:gd name="adj" fmla="val 6429"/>
            </a:avLst>
          </a:prstGeom>
          <a:solidFill>
            <a:srgbClr val="E9F5F3"/>
          </a:solidFill>
          <a:ln/>
          <a:effectLst>
            <a:outerShdw sx="100000" sy="100000" kx="0" ky="0" algn="bl" rotWithShape="0" blurRad="88900" dist="38100" dir="5400000">
              <a:srgbClr val="9CB4B0">
                <a:alpha val="2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005840" y="1371600"/>
            <a:ext cx="10180015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700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Bons hiperparâmetros melhoram o modelo. Mas escolhê-los olhando o teste é </a:t>
            </a:r>
            <a:pPr indent="0" marL="0">
              <a:lnSpc>
                <a:spcPct val="112000"/>
              </a:lnSpc>
              <a:buNone/>
            </a:pPr>
            <a:r>
              <a:rPr lang="en-US" sz="1700" b="1" dirty="0">
                <a:solidFill>
                  <a:srgbClr val="0B5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vazamento</a:t>
            </a:r>
            <a:pPr indent="0" marL="0">
              <a:lnSpc>
                <a:spcPct val="112000"/>
              </a:lnSpc>
              <a:buNone/>
            </a:pPr>
            <a:r>
              <a:rPr lang="en-US" sz="1700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ajuste na </a:t>
            </a:r>
            <a:pPr indent="0" marL="0">
              <a:lnSpc>
                <a:spcPct val="112000"/>
              </a:lnSpc>
              <a:buNone/>
            </a:pPr>
            <a:r>
              <a:rPr lang="en-US" sz="1700" b="1" dirty="0">
                <a:solidFill>
                  <a:srgbClr val="0B5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validação</a:t>
            </a:r>
            <a:pPr indent="0" marL="0">
              <a:lnSpc>
                <a:spcPct val="112000"/>
              </a:lnSpc>
              <a:buNone/>
            </a:pPr>
            <a:r>
              <a:rPr lang="en-US" sz="1700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 confirme uma vez no </a:t>
            </a:r>
            <a:pPr indent="0" marL="0">
              <a:lnSpc>
                <a:spcPct val="112000"/>
              </a:lnSpc>
              <a:buNone/>
            </a:pPr>
            <a:r>
              <a:rPr lang="en-US" sz="1700" b="1" dirty="0">
                <a:solidFill>
                  <a:srgbClr val="0B5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</a:t>
            </a:r>
            <a:pPr indent="0" marL="0">
              <a:lnSpc>
                <a:spcPct val="112000"/>
              </a:lnSpc>
              <a:buNone/>
            </a:pPr>
            <a:r>
              <a:rPr lang="en-US" sz="1700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594360" y="2971800"/>
            <a:ext cx="11002975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buSzPct val="100000"/>
              <a:buChar char="•"/>
            </a:pPr>
            <a:r>
              <a:rPr lang="en-US" sz="1550" b="1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ganho — </a:t>
            </a:r>
            <a:pPr indent="0" marL="0">
              <a:spcAft>
                <a:spcPts val="1000"/>
              </a:spcAft>
              <a:buNone/>
            </a:pPr>
            <a:r>
              <a:rPr lang="en-US" sz="15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mesmo algoritmo pode ir de medíocre a ótimo só com o ajuste certo.</a:t>
            </a:r>
            <a:endParaRPr lang="en-US" sz="1550" dirty="0"/>
          </a:p>
          <a:p>
            <a:pPr marL="228600" indent="-228600">
              <a:buSzPct val="100000"/>
              <a:buChar char="•"/>
            </a:pPr>
            <a:r>
              <a:rPr lang="en-US" sz="1550" b="1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risco — </a:t>
            </a:r>
            <a:pPr indent="0" marL="0">
              <a:spcAft>
                <a:spcPts val="1000"/>
              </a:spcAft>
              <a:buNone/>
            </a:pPr>
            <a:r>
              <a:rPr lang="en-US" sz="15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testar muitas opções no teste 'gasta' a imparcialidade dele.</a:t>
            </a:r>
            <a:endParaRPr lang="en-US" sz="1550" dirty="0"/>
          </a:p>
          <a:p>
            <a:pPr marL="228600" indent="-228600">
              <a:buSzPct val="100000"/>
              <a:buChar char="•"/>
            </a:pPr>
            <a:r>
              <a:rPr lang="en-US" sz="1550" b="1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fluxo — </a:t>
            </a:r>
            <a:pPr indent="0" marL="0">
              <a:spcAft>
                <a:spcPts val="1000"/>
              </a:spcAft>
              <a:buNone/>
            </a:pPr>
            <a:r>
              <a:rPr lang="en-US" sz="15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treino aprende; validação escolhe; teste confirma — uma vez só.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594360" y="5943600"/>
            <a:ext cx="110029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 a mesma regra de ouro da Aula 07: quem escolhe não mede. A busca vive na validação, nunca no teste.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6428232"/>
            <a:ext cx="9052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08 - Consultoria Especializada em Ciência de Dados 1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8488375" y="642823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22/09/2026    ·    7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955280" y="640080"/>
            <a:ext cx="3931920" cy="5120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3000" b="1" dirty="0">
                <a:solidFill>
                  <a:srgbClr val="E9F5F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3000" dirty="0"/>
          </a:p>
        </p:txBody>
      </p:sp>
      <p:sp>
        <p:nvSpPr>
          <p:cNvPr id="5" name="Shape 3"/>
          <p:cNvSpPr/>
          <p:nvPr/>
        </p:nvSpPr>
        <p:spPr>
          <a:xfrm>
            <a:off x="594360" y="2331720"/>
            <a:ext cx="1828800" cy="475488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/>
        </p:spPr>
      </p:sp>
      <p:sp>
        <p:nvSpPr>
          <p:cNvPr id="6" name="Text 4"/>
          <p:cNvSpPr/>
          <p:nvPr/>
        </p:nvSpPr>
        <p:spPr>
          <a:xfrm>
            <a:off x="594360" y="2331720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2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94360" y="2971800"/>
            <a:ext cx="76809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100" b="1" dirty="0">
                <a:solidFill>
                  <a:srgbClr val="12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GridSearchCV</a:t>
            </a:r>
            <a:endParaRPr lang="en-US" sz="3100" dirty="0"/>
          </a:p>
        </p:txBody>
      </p:sp>
      <p:sp>
        <p:nvSpPr>
          <p:cNvPr id="8" name="Text 6"/>
          <p:cNvSpPr/>
          <p:nvPr/>
        </p:nvSpPr>
        <p:spPr>
          <a:xfrm>
            <a:off x="594360" y="4526280"/>
            <a:ext cx="7498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Testar todas as combinações de uma grade, com validação cruzada.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6428232"/>
            <a:ext cx="9052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08 - Consultoria Especializada em Ciência de Dados 1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8488375" y="642823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22/09/2026    ·    8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94360" y="457200"/>
            <a:ext cx="1100297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12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busca exaustiva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94360" y="1417320"/>
            <a:ext cx="11002975" cy="1188720"/>
          </a:xfrm>
          <a:prstGeom prst="roundRect">
            <a:avLst>
              <a:gd name="adj" fmla="val 6923"/>
            </a:avLst>
          </a:prstGeom>
          <a:solidFill>
            <a:srgbClr val="E9F5F3"/>
          </a:solidFill>
          <a:ln/>
          <a:effectLst>
            <a:outerShdw sx="100000" sy="100000" kx="0" ky="0" algn="bl" rotWithShape="0" blurRad="88900" dist="38100" dir="5400000">
              <a:srgbClr val="9CB4B0">
                <a:alpha val="2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005840" y="1417320"/>
            <a:ext cx="1018001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900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Você define uma </a:t>
            </a:r>
            <a:pPr indent="0" marL="0">
              <a:lnSpc>
                <a:spcPct val="112000"/>
              </a:lnSpc>
              <a:buNone/>
            </a:pPr>
            <a:r>
              <a:rPr lang="en-US" sz="1900" b="1" dirty="0">
                <a:solidFill>
                  <a:srgbClr val="0B5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 de valores</a:t>
            </a:r>
            <a:pPr indent="0" marL="0">
              <a:lnSpc>
                <a:spcPct val="112000"/>
              </a:lnSpc>
              <a:buNone/>
            </a:pPr>
            <a:r>
              <a:rPr lang="en-US" sz="1900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; o GridSearchCV treina e valida </a:t>
            </a:r>
            <a:pPr indent="0" marL="0">
              <a:lnSpc>
                <a:spcPct val="112000"/>
              </a:lnSpc>
              <a:buNone/>
            </a:pPr>
            <a:r>
              <a:rPr lang="en-US" sz="1900" b="1" dirty="0">
                <a:solidFill>
                  <a:srgbClr val="0B5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combinação</a:t>
            </a:r>
            <a:pPr indent="0" marL="0">
              <a:lnSpc>
                <a:spcPct val="112000"/>
              </a:lnSpc>
              <a:buNone/>
            </a:pPr>
            <a:r>
              <a:rPr lang="en-US" sz="1900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(com CV) e escolhe a de melhor média.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594360" y="2880360"/>
            <a:ext cx="11002975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buSzPct val="100000"/>
              <a:buChar char="•"/>
            </a:pPr>
            <a:r>
              <a:rPr lang="en-US" sz="1550" b="1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Você define a grade — </a:t>
            </a:r>
            <a:pPr indent="0" marL="0">
              <a:spcAft>
                <a:spcPts val="1000"/>
              </a:spcAft>
              <a:buNone/>
            </a:pPr>
            <a:r>
              <a:rPr lang="en-US" sz="15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opções de cada hiperparâmetro (ex.: C ∈ {0,1; 1; 10}).</a:t>
            </a:r>
            <a:endParaRPr lang="en-US" sz="1550" dirty="0"/>
          </a:p>
          <a:p>
            <a:pPr marL="228600" indent="-228600">
              <a:buSzPct val="100000"/>
              <a:buChar char="•"/>
            </a:pPr>
            <a:r>
              <a:rPr lang="en-US" sz="1550" b="1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 varre tudo — </a:t>
            </a:r>
            <a:pPr indent="0" marL="0">
              <a:spcAft>
                <a:spcPts val="1000"/>
              </a:spcAft>
              <a:buNone/>
            </a:pPr>
            <a:r>
              <a:rPr lang="en-US" sz="15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combinação vira um modelo, avaliado por validação cruzada.</a:t>
            </a:r>
            <a:endParaRPr lang="en-US" sz="1550" dirty="0"/>
          </a:p>
          <a:p>
            <a:pPr marL="228600" indent="-228600">
              <a:buSzPct val="100000"/>
              <a:buChar char="•"/>
            </a:pPr>
            <a:r>
              <a:rPr lang="en-US" sz="1550" b="1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 escolhe o topo — </a:t>
            </a:r>
            <a:pPr indent="0" marL="0">
              <a:spcAft>
                <a:spcPts val="1000"/>
              </a:spcAft>
              <a:buNone/>
            </a:pPr>
            <a:r>
              <a:rPr lang="en-US" sz="15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combinação com a melhor média de CV vence — é o best_params_.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594360" y="5943600"/>
            <a:ext cx="110029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'Exaustiva' porque não deixa combinação de fora: é a grade inteira, sem atalhos.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6428232"/>
            <a:ext cx="9052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08 - Consultoria Especializada em Ciência de Dados 1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8488375" y="642823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22/09/2026    ·    9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94360" y="457200"/>
            <a:ext cx="1100297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12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receita do bolo: uma grade de verdade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94360" y="1371600"/>
            <a:ext cx="11002975" cy="1143000"/>
          </a:xfrm>
          <a:prstGeom prst="roundRect">
            <a:avLst>
              <a:gd name="adj" fmla="val 7200"/>
            </a:avLst>
          </a:prstGeom>
          <a:solidFill>
            <a:srgbClr val="E9F5F3"/>
          </a:solidFill>
          <a:ln/>
          <a:effectLst>
            <a:outerShdw sx="100000" sy="100000" kx="0" ky="0" algn="bl" rotWithShape="0" blurRad="88900" dist="38100" dir="5400000">
              <a:srgbClr val="9CB4B0">
                <a:alpha val="2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005840" y="1371600"/>
            <a:ext cx="1018001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700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Duas coisas você controla no bolo: o </a:t>
            </a:r>
            <a:pPr indent="0" marL="0">
              <a:lnSpc>
                <a:spcPct val="112000"/>
              </a:lnSpc>
              <a:buNone/>
            </a:pPr>
            <a:r>
              <a:rPr lang="en-US" sz="1700" b="1" dirty="0">
                <a:solidFill>
                  <a:srgbClr val="0B5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</a:t>
            </a:r>
            <a:pPr indent="0" marL="0">
              <a:lnSpc>
                <a:spcPct val="112000"/>
              </a:lnSpc>
              <a:buNone/>
            </a:pPr>
            <a:r>
              <a:rPr lang="en-US" sz="1700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 a </a:t>
            </a:r>
            <a:pPr indent="0" marL="0">
              <a:lnSpc>
                <a:spcPct val="112000"/>
              </a:lnSpc>
              <a:buNone/>
            </a:pPr>
            <a:r>
              <a:rPr lang="en-US" sz="1700" b="1" dirty="0">
                <a:solidFill>
                  <a:srgbClr val="0B5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temperatura</a:t>
            </a:r>
            <a:pPr indent="0" marL="0">
              <a:lnSpc>
                <a:spcPct val="112000"/>
              </a:lnSpc>
              <a:buNone/>
            </a:pPr>
            <a:r>
              <a:rPr lang="en-US" sz="1700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A grade testa todas as duplas e mede qual assa melhor.</a:t>
            </a:r>
            <a:endParaRPr lang="en-US" sz="17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2743200"/>
          <a:ext cx="9144000" cy="914400"/>
        </p:xfrm>
        <a:graphic>
          <a:graphicData uri="http://schemas.openxmlformats.org/drawingml/2006/table">
            <a:tbl>
              <a:tblPr/>
              <a:tblGrid>
                <a:gridCol w="3319272"/>
                <a:gridCol w="2468880"/>
                <a:gridCol w="2468880"/>
                <a:gridCol w="2468880"/>
              </a:tblGrid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nota do bolo (0–10)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160°C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180°C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200°C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 min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6,0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7,0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6,5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 min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7,5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9,0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7,0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 min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6,5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7,5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5,5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594360" y="5943600"/>
            <a:ext cx="110029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Melhor dupla: 40 min × 180°C (nota 9,0). É exatamente o que o GridSearchCV faz com C e class_weight em vez de tempo e temperatura.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6428232"/>
            <a:ext cx="9052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08 - Consultoria Especializada em Ciência de Dados 1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8488375" y="642823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22/09/2026    ·    10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94360" y="457200"/>
            <a:ext cx="1100297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12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GridSearchCV na prática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94360" y="1463040"/>
            <a:ext cx="11002975" cy="3383280"/>
          </a:xfrm>
          <a:prstGeom prst="roundRect">
            <a:avLst>
              <a:gd name="adj" fmla="val 2432"/>
            </a:avLst>
          </a:prstGeom>
          <a:solidFill>
            <a:srgbClr val="0B5A54"/>
          </a:solidFill>
          <a:ln/>
          <a:effectLst>
            <a:outerShdw sx="100000" sy="100000" kx="0" ky="0" algn="bl" rotWithShape="0" blurRad="88900" dist="38100" dir="5400000">
              <a:srgbClr val="9CB4B0">
                <a:alpha val="2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60120" y="1691640"/>
            <a:ext cx="10271455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sklearn.model_selection import GridSearchCV, StratifiedKFold</a:t>
            </a:r>
            <a:pPr indent="0" marL="0">
              <a:lnSpc>
                <a:spcPct val="120000"/>
              </a:lnSpc>
              <a:buNone/>
            </a:pPr>
            <a:endParaRPr lang="en-US" sz="1450" dirty="0"/>
          </a:p>
          <a:p>
            <a:pPr indent="0" marL="0">
              <a:lnSpc>
                <a:spcPct val="120000"/>
              </a:lnSpc>
              <a:buNone/>
            </a:pPr>
            <a:pPr indent="0" marL="0">
              <a:lnSpc>
                <a:spcPct val="120000"/>
              </a:lnSpc>
              <a:buNone/>
            </a:pPr>
            <a:endParaRPr lang="en-US" sz="14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param_grid = {</a:t>
            </a:r>
            <a:pPr indent="0" marL="0">
              <a:lnSpc>
                <a:spcPct val="120000"/>
              </a:lnSpc>
              <a:buNone/>
            </a:pPr>
            <a:endParaRPr lang="en-US" sz="14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"clf__C": [0.1, 1, 10],</a:t>
            </a:r>
            <a:pPr indent="0" marL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9CD3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# prefixo do passo do Pipeline</a:t>
            </a:r>
            <a:pPr indent="0" marL="0">
              <a:lnSpc>
                <a:spcPct val="120000"/>
              </a:lnSpc>
              <a:buNone/>
            </a:pPr>
            <a:endParaRPr lang="en-US" sz="14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"clf__class_weight": [None, "balanced"],</a:t>
            </a:r>
            <a:pPr indent="0" marL="0">
              <a:lnSpc>
                <a:spcPct val="120000"/>
              </a:lnSpc>
              <a:buNone/>
            </a:pPr>
            <a:endParaRPr lang="en-US" sz="14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pPr indent="0" marL="0">
              <a:lnSpc>
                <a:spcPct val="120000"/>
              </a:lnSpc>
              <a:buNone/>
            </a:pPr>
            <a:endParaRPr lang="en-US" sz="14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cv = StratifiedKFold(5, shuffle=True, random_state=0)</a:t>
            </a:r>
            <a:pPr indent="0" marL="0">
              <a:lnSpc>
                <a:spcPct val="120000"/>
              </a:lnSpc>
              <a:buNone/>
            </a:pPr>
            <a:endParaRPr lang="en-US" sz="14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busca = GridSearchCV(pipe, param_grid, scoring="average_precision", cv=cv)</a:t>
            </a:r>
            <a:pPr indent="0" marL="0">
              <a:lnSpc>
                <a:spcPct val="120000"/>
              </a:lnSpc>
              <a:buNone/>
            </a:pPr>
            <a:endParaRPr lang="en-US" sz="14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busca.fit(X_tr, y_tr)</a:t>
            </a:r>
            <a:pPr indent="0" marL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9CD3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# roda a CV para cada combinacao</a:t>
            </a:r>
            <a:pPr indent="0" marL="0">
              <a:lnSpc>
                <a:spcPct val="120000"/>
              </a:lnSpc>
              <a:buNone/>
            </a:pP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594360" y="5943600"/>
            <a:ext cx="110029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busca roda sobre o Pipeline: o pré-processamento se refaz em cada dobra, sem vazar (recap da Aula 07).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6428232"/>
            <a:ext cx="9052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08 - Consultoria Especializada em Ciência de Dados 1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8488375" y="642823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22/09/2026    ·    11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94360" y="457200"/>
            <a:ext cx="1100297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12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Dois cuidados: o prefixo e o scoring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94360" y="1645920"/>
            <a:ext cx="11002975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buSzPct val="100000"/>
              <a:buChar char="•"/>
            </a:pPr>
            <a:r>
              <a:rPr lang="en-US" sz="1600" b="1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prefixo do passo — </a:t>
            </a:r>
            <a:pPr indent="0" marL="0">
              <a:spcAft>
                <a:spcPts val="1200"/>
              </a:spcAft>
              <a:buNone/>
            </a:pP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 grade, use nome_do_passo__parametro (ex.: clf__C) para mirar o passo certo do Pipeline.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b="1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scoring certo — </a:t>
            </a:r>
            <a:pPr indent="0" marL="0">
              <a:spcAft>
                <a:spcPts val="1200"/>
              </a:spcAft>
              <a:buNone/>
            </a:pP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escolha a métrica que importa (F1, average_precision, roc_auc) — não a acurácia com classe rara.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b="1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 estratificado — </a:t>
            </a:r>
            <a:pPr indent="0" marL="0">
              <a:spcAft>
                <a:spcPts val="1200"/>
              </a:spcAft>
              <a:buNone/>
            </a:pP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classificação, use StratifiedKFold para preservar a classe rara em cada dobra.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94360" y="5943600"/>
            <a:ext cx="110029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Errar o prefixo ou o scoring faz a busca 'otimizar' a coisa errada — a grade fica certa, mas a escolha, não.</a:t>
            </a:r>
            <a:endParaRPr lang="en-US" sz="11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6428232"/>
            <a:ext cx="9052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08 - Consultoria Especializada em Ciência de Dados 1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8488375" y="642823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22/09/2026    ·    12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955280" y="640080"/>
            <a:ext cx="3931920" cy="5120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3000" b="1" dirty="0">
                <a:solidFill>
                  <a:srgbClr val="E9F5F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3000" dirty="0"/>
          </a:p>
        </p:txBody>
      </p:sp>
      <p:sp>
        <p:nvSpPr>
          <p:cNvPr id="5" name="Shape 3"/>
          <p:cNvSpPr/>
          <p:nvPr/>
        </p:nvSpPr>
        <p:spPr>
          <a:xfrm>
            <a:off x="594360" y="2331720"/>
            <a:ext cx="1828800" cy="475488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/>
        </p:spPr>
      </p:sp>
      <p:sp>
        <p:nvSpPr>
          <p:cNvPr id="6" name="Text 4"/>
          <p:cNvSpPr/>
          <p:nvPr/>
        </p:nvSpPr>
        <p:spPr>
          <a:xfrm>
            <a:off x="594360" y="2331720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3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94360" y="2971800"/>
            <a:ext cx="76809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100" b="1" dirty="0">
                <a:solidFill>
                  <a:srgbClr val="12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custo da busca</a:t>
            </a:r>
            <a:endParaRPr lang="en-US" sz="3100" dirty="0"/>
          </a:p>
        </p:txBody>
      </p:sp>
      <p:sp>
        <p:nvSpPr>
          <p:cNvPr id="8" name="Text 6"/>
          <p:cNvSpPr/>
          <p:nvPr/>
        </p:nvSpPr>
        <p:spPr>
          <a:xfrm>
            <a:off x="594360" y="4526280"/>
            <a:ext cx="7498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a grade explode — o exemplo na mão.</a:t>
            </a:r>
            <a:endParaRPr lang="en-US" sz="1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6428232"/>
            <a:ext cx="9052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08 - Consultoria Especializada em Ciência de Dados 1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8488375" y="642823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22/09/2026    ·    13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94360" y="457200"/>
            <a:ext cx="1100297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12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conta do grid search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94360" y="1417320"/>
            <a:ext cx="11002975" cy="914400"/>
          </a:xfrm>
          <a:prstGeom prst="roundRect">
            <a:avLst>
              <a:gd name="adj" fmla="val 9000"/>
            </a:avLst>
          </a:prstGeom>
          <a:solidFill>
            <a:srgbClr val="E9F5F3"/>
          </a:solidFill>
          <a:ln/>
          <a:effectLst>
            <a:outerShdw sx="100000" sy="100000" kx="0" ky="0" algn="bl" rotWithShape="0" blurRad="88900" dist="38100" dir="5400000">
              <a:srgbClr val="9CB4B0">
                <a:alpha val="2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14400" y="1563624"/>
            <a:ext cx="103628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B5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NÚMERO DE TREINOS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914400" y="1856232"/>
            <a:ext cx="1036289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(opções do eixo 1) × (opções do eixo 2) × ... × (nº de dobras da CV)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94360" y="2606040"/>
            <a:ext cx="11002975" cy="1051560"/>
          </a:xfrm>
          <a:prstGeom prst="roundRect">
            <a:avLst>
              <a:gd name="adj" fmla="val 7826"/>
            </a:avLst>
          </a:prstGeom>
          <a:solidFill>
            <a:srgbClr val="E9F5F3"/>
          </a:solidFill>
          <a:ln/>
          <a:effectLst>
            <a:outerShdw sx="100000" sy="100000" kx="0" ky="0" algn="bl" rotWithShape="0" blurRad="88900" dist="38100" dir="5400000">
              <a:srgbClr val="9CB4B0">
                <a:alpha val="2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005840" y="2606040"/>
            <a:ext cx="1018001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800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nosso exemplo: </a:t>
            </a:r>
            <a:pPr indent="0" marL="0">
              <a:lnSpc>
                <a:spcPct val="112000"/>
              </a:lnSpc>
              <a:buNone/>
            </a:pPr>
            <a:r>
              <a:rPr lang="en-US" sz="1800" b="1" dirty="0">
                <a:solidFill>
                  <a:srgbClr val="0B5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valores de C</a:t>
            </a:r>
            <a:pPr indent="0" marL="0">
              <a:lnSpc>
                <a:spcPct val="112000"/>
              </a:lnSpc>
              <a:buNone/>
            </a:pPr>
            <a:r>
              <a:rPr lang="en-US" sz="1800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× </a:t>
            </a:r>
            <a:pPr indent="0" marL="0">
              <a:lnSpc>
                <a:spcPct val="112000"/>
              </a:lnSpc>
              <a:buNone/>
            </a:pPr>
            <a:r>
              <a:rPr lang="en-US" sz="1800" b="1" dirty="0">
                <a:solidFill>
                  <a:srgbClr val="0B5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de class_weight</a:t>
            </a:r>
            <a:pPr indent="0" marL="0">
              <a:lnSpc>
                <a:spcPct val="112000"/>
              </a:lnSpc>
              <a:buNone/>
            </a:pPr>
            <a:r>
              <a:rPr lang="en-US" sz="1800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× </a:t>
            </a:r>
            <a:pPr indent="0" marL="0">
              <a:lnSpc>
                <a:spcPct val="112000"/>
              </a:lnSpc>
              <a:buNone/>
            </a:pPr>
            <a:r>
              <a:rPr lang="en-US" sz="1800" b="1" dirty="0">
                <a:solidFill>
                  <a:srgbClr val="0B5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dobras</a:t>
            </a:r>
            <a:pPr indent="0" marL="0">
              <a:lnSpc>
                <a:spcPct val="112000"/>
              </a:lnSpc>
              <a:buNone/>
            </a:pPr>
            <a:r>
              <a:rPr lang="en-US" sz="1800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</a:t>
            </a:r>
            <a:pPr indent="0" marL="0">
              <a:lnSpc>
                <a:spcPct val="112000"/>
              </a:lnSpc>
              <a:buNone/>
            </a:pPr>
            <a:r>
              <a:rPr lang="en-US" sz="1800" b="1" dirty="0">
                <a:solidFill>
                  <a:srgbClr val="0B5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treinos</a:t>
            </a:r>
            <a:pPr indent="0" marL="0">
              <a:lnSpc>
                <a:spcPct val="112000"/>
              </a:lnSpc>
              <a:buNone/>
            </a:pPr>
            <a:r>
              <a:rPr lang="en-US" sz="1800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594360" y="3840480"/>
            <a:ext cx="11002975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buSzPct val="100000"/>
              <a:buChar char="•"/>
            </a:pPr>
            <a:r>
              <a:rPr lang="en-US" sz="1550" b="1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eixo novo multiplica — </a:t>
            </a:r>
            <a:pPr indent="0" marL="0">
              <a:spcAft>
                <a:spcPts val="1000"/>
              </a:spcAft>
              <a:buNone/>
            </a:pPr>
            <a:r>
              <a:rPr lang="en-US" sz="15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acrescentar um hiperparâmetro com 4 opções multiplica tudo por 4.</a:t>
            </a:r>
            <a:endParaRPr lang="en-US" sz="1550" dirty="0"/>
          </a:p>
          <a:p>
            <a:pPr marL="228600" indent="-228600">
              <a:buSzPct val="100000"/>
              <a:buChar char="•"/>
            </a:pPr>
            <a:r>
              <a:rPr lang="en-US" sz="1550" b="1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consequência — </a:t>
            </a:r>
            <a:pPr indent="0" marL="0">
              <a:spcAft>
                <a:spcPts val="1000"/>
              </a:spcAft>
              <a:buNone/>
            </a:pPr>
            <a:r>
              <a:rPr lang="en-US" sz="15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grades grandes ficam caríssimas — o que motiva a busca aleatória (Aula 09).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594360" y="5943600"/>
            <a:ext cx="110029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combinações × 5 dobras = 30 modelos treinados só para uma grade pequena. É o preço da busca exaustiva.</a:t>
            </a:r>
            <a:endParaRPr lang="en-US" sz="11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6428232"/>
            <a:ext cx="9052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08 - Consultoria Especializada em Ciência de Dados 1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8488375" y="642823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22/09/2026    ·    14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94360" y="457200"/>
            <a:ext cx="1100297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12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exemplo na mão: as 6 combinações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94360" y="1371600"/>
            <a:ext cx="11002975" cy="1051560"/>
          </a:xfrm>
          <a:prstGeom prst="roundRect">
            <a:avLst>
              <a:gd name="adj" fmla="val 7826"/>
            </a:avLst>
          </a:prstGeom>
          <a:solidFill>
            <a:srgbClr val="E9F5F3"/>
          </a:solidFill>
          <a:ln/>
          <a:effectLst>
            <a:outerShdw sx="100000" sy="100000" kx="0" ky="0" algn="bl" rotWithShape="0" blurRad="88900" dist="38100" dir="5400000">
              <a:srgbClr val="9CB4B0">
                <a:alpha val="2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005840" y="1371600"/>
            <a:ext cx="1018001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650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grade tem </a:t>
            </a:r>
            <a:pPr indent="0" marL="0">
              <a:lnSpc>
                <a:spcPct val="112000"/>
              </a:lnSpc>
              <a:buNone/>
            </a:pPr>
            <a:r>
              <a:rPr lang="en-US" sz="1650" b="1" dirty="0">
                <a:solidFill>
                  <a:srgbClr val="0B5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× 2 = 6 combinações</a:t>
            </a:r>
            <a:pPr indent="0" marL="0">
              <a:lnSpc>
                <a:spcPct val="112000"/>
              </a:lnSpc>
              <a:buNone/>
            </a:pPr>
            <a:r>
              <a:rPr lang="en-US" sz="1650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; cada uma é avaliada em </a:t>
            </a:r>
            <a:pPr indent="0" marL="0">
              <a:lnSpc>
                <a:spcPct val="112000"/>
              </a:lnSpc>
              <a:buNone/>
            </a:pPr>
            <a:r>
              <a:rPr lang="en-US" sz="1650" b="1" dirty="0">
                <a:solidFill>
                  <a:srgbClr val="0B5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dobras</a:t>
            </a:r>
            <a:pPr indent="0" marL="0">
              <a:lnSpc>
                <a:spcPct val="112000"/>
              </a:lnSpc>
              <a:buNone/>
            </a:pPr>
            <a:r>
              <a:rPr lang="en-US" sz="1650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a nota abaixo é a MÉDIA dessas 5.</a:t>
            </a:r>
            <a:endParaRPr lang="en-US" sz="165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2606040"/>
          <a:ext cx="914400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3200400"/>
                <a:gridCol w="3685032"/>
                <a:gridCol w="228600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class_weight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média CV (AP)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treinos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0,61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balanced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0,68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0,71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balanced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0,79  ← melhor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0,70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balanced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0,74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594360" y="5943600"/>
            <a:ext cx="110029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Soma dos treinos: 6 × 5 = 30. best_params_ = {C: 1, class_weight: balanced}; best_score_ = 0,79 (validação, não teste).</a:t>
            </a:r>
            <a:endParaRPr lang="en-US" sz="11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6428232"/>
            <a:ext cx="9052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08 - Consultoria Especializada em Ciência de Dados 1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8488375" y="642823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22/09/2026    ·    15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94360" y="457200"/>
            <a:ext cx="1100297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12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grade, vista de cima</a:t>
            </a:r>
            <a:endParaRPr lang="en-US" sz="2700" dirty="0"/>
          </a:p>
        </p:txBody>
      </p:sp>
      <p:pic>
        <p:nvPicPr>
          <p:cNvPr id="5" name="Image 0" descr="fig_aula08/f_gri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80360" y="1417320"/>
            <a:ext cx="6400800" cy="36118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94360" y="5943600"/>
            <a:ext cx="110029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célula é a média de CV de uma combinação. O quadro âmbar marca a vencedora (C=1, balanced). Vizinhas parecidas → há um platô.</a:t>
            </a:r>
            <a:endParaRPr lang="en-US" sz="11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6428232"/>
            <a:ext cx="9052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08 - Consultoria Especializada em Ciência de Dados 1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8488375" y="642823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22/09/2026    ·    16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955280" y="640080"/>
            <a:ext cx="3931920" cy="5120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3000" b="1" dirty="0">
                <a:solidFill>
                  <a:srgbClr val="E9F5F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3000" dirty="0"/>
          </a:p>
        </p:txBody>
      </p:sp>
      <p:sp>
        <p:nvSpPr>
          <p:cNvPr id="5" name="Shape 3"/>
          <p:cNvSpPr/>
          <p:nvPr/>
        </p:nvSpPr>
        <p:spPr>
          <a:xfrm>
            <a:off x="594360" y="2331720"/>
            <a:ext cx="1828800" cy="475488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/>
        </p:spPr>
      </p:sp>
      <p:sp>
        <p:nvSpPr>
          <p:cNvPr id="6" name="Text 4"/>
          <p:cNvSpPr/>
          <p:nvPr/>
        </p:nvSpPr>
        <p:spPr>
          <a:xfrm>
            <a:off x="594360" y="2331720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4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94360" y="2971800"/>
            <a:ext cx="76809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100" b="1" dirty="0">
                <a:solidFill>
                  <a:srgbClr val="12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Lendo os resultados</a:t>
            </a:r>
            <a:endParaRPr lang="en-US" sz="3100" dirty="0"/>
          </a:p>
        </p:txBody>
      </p:sp>
      <p:sp>
        <p:nvSpPr>
          <p:cNvPr id="8" name="Text 6"/>
          <p:cNvSpPr/>
          <p:nvPr/>
        </p:nvSpPr>
        <p:spPr>
          <a:xfrm>
            <a:off x="594360" y="4526280"/>
            <a:ext cx="7498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a busca guarda — e o que é honesto reportar.</a:t>
            </a:r>
            <a:endParaRPr lang="en-US" sz="16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6428232"/>
            <a:ext cx="9052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08 - Consultoria Especializada em Ciência de Dados 1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8488375" y="642823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22/09/2026    ·    17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94360" y="457200"/>
            <a:ext cx="1100297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12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o objeto guarda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94360" y="1554480"/>
            <a:ext cx="11002975" cy="2468880"/>
          </a:xfrm>
          <a:prstGeom prst="roundRect">
            <a:avLst>
              <a:gd name="adj" fmla="val 3333"/>
            </a:avLst>
          </a:prstGeom>
          <a:solidFill>
            <a:srgbClr val="0B5A54"/>
          </a:solidFill>
          <a:ln/>
          <a:effectLst>
            <a:outerShdw sx="100000" sy="100000" kx="0" ky="0" algn="bl" rotWithShape="0" blurRad="88900" dist="38100" dir="5400000">
              <a:srgbClr val="9CB4B0">
                <a:alpha val="2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60120" y="1783080"/>
            <a:ext cx="10271455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busca.best_params_</a:t>
            </a:r>
            <a:pPr indent="0" marL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9CD3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# a melhor combinacao encontrada</a:t>
            </a:r>
            <a:pPr indent="0" marL="0">
              <a:lnSpc>
                <a:spcPct val="120000"/>
              </a:lnSpc>
              <a:buNone/>
            </a:pPr>
            <a:endParaRPr lang="en-US" sz="14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busca.best_score_</a:t>
            </a:r>
            <a:pPr indent="0" marL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9CD3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# media de CV dela (validacao, NAO teste)</a:t>
            </a:r>
            <a:pPr indent="0" marL="0">
              <a:lnSpc>
                <a:spcPct val="120000"/>
              </a:lnSpc>
              <a:buNone/>
            </a:pPr>
            <a:endParaRPr lang="en-US" sz="14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busca.best_estimator_</a:t>
            </a:r>
            <a:pPr indent="0" marL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9CD3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# o Pipeline ja treinado com o melhor</a:t>
            </a:r>
            <a:pPr indent="0" marL="0">
              <a:lnSpc>
                <a:spcPct val="120000"/>
              </a:lnSpc>
              <a:buNone/>
            </a:pPr>
            <a:endParaRPr lang="en-US" sz="1450" dirty="0"/>
          </a:p>
          <a:p>
            <a:pPr indent="0" marL="0">
              <a:lnSpc>
                <a:spcPct val="120000"/>
              </a:lnSpc>
              <a:buNone/>
            </a:pPr>
            <a:pPr indent="0" marL="0">
              <a:lnSpc>
                <a:spcPct val="120000"/>
              </a:lnSpc>
              <a:buNone/>
            </a:pPr>
            <a:endParaRPr lang="en-US" sz="14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pandas as pd</a:t>
            </a:r>
            <a:pPr indent="0" marL="0">
              <a:lnSpc>
                <a:spcPct val="120000"/>
              </a:lnSpc>
              <a:buNone/>
            </a:pPr>
            <a:endParaRPr lang="en-US" sz="14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pd.DataFrame(busca.cv_results_)</a:t>
            </a:r>
            <a:pPr indent="0" marL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9CD3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# a tabela completa</a:t>
            </a:r>
            <a:pPr indent="0" marL="0">
              <a:lnSpc>
                <a:spcPct val="120000"/>
              </a:lnSpc>
              <a:buNone/>
            </a:pP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594360" y="4297680"/>
            <a:ext cx="11002975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buSzPct val="100000"/>
              <a:buChar char="•"/>
            </a:pPr>
            <a:r>
              <a:rPr lang="en-US" sz="1450" b="1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cv_results_ — </a:t>
            </a:r>
            <a:pPr indent="0" marL="0">
              <a:spcAft>
                <a:spcPts val="800"/>
              </a:spcAft>
              <a:buNone/>
            </a:pPr>
            <a:r>
              <a:rPr lang="en-US" sz="14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 a média e o desvio de cada combinação — ordene para ver o pódio.</a:t>
            </a:r>
            <a:endParaRPr lang="en-US" sz="1450" dirty="0"/>
          </a:p>
          <a:p>
            <a:pPr marL="228600" indent="-228600">
              <a:buSzPct val="100000"/>
              <a:buChar char="•"/>
            </a:pPr>
            <a:r>
              <a:rPr lang="en-US" sz="1450" b="1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best_estimator_ — </a:t>
            </a:r>
            <a:pPr indent="0" marL="0">
              <a:spcAft>
                <a:spcPts val="800"/>
              </a:spcAft>
              <a:buNone/>
            </a:pPr>
            <a:r>
              <a:rPr lang="en-US" sz="14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já vem treinado; é o modelo que você levará ao teste.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594360" y="5943600"/>
            <a:ext cx="110029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objeto guarda tudo: quem venceu, por quanto, e a tabela inteira para você inspecionar o platô.</a:t>
            </a:r>
            <a:endParaRPr lang="en-US" sz="11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6428232"/>
            <a:ext cx="9052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08 - Consultoria Especializada em Ciência de Dados 1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8488375" y="642823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22/09/2026    ·    18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94360" y="457200"/>
            <a:ext cx="1100297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12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Cuidado: best_score_ vem de dentro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94360" y="1371600"/>
            <a:ext cx="11002975" cy="1234440"/>
          </a:xfrm>
          <a:prstGeom prst="roundRect">
            <a:avLst>
              <a:gd name="adj" fmla="val 6667"/>
            </a:avLst>
          </a:prstGeom>
          <a:solidFill>
            <a:srgbClr val="E9F5F3"/>
          </a:solidFill>
          <a:ln/>
          <a:effectLst>
            <a:outerShdw sx="100000" sy="100000" kx="0" ky="0" algn="bl" rotWithShape="0" blurRad="88900" dist="38100" dir="5400000">
              <a:srgbClr val="9CB4B0">
                <a:alpha val="2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005840" y="1371600"/>
            <a:ext cx="10180015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700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</a:t>
            </a:r>
            <a:pPr indent="0" marL="0">
              <a:lnSpc>
                <a:spcPct val="112000"/>
              </a:lnSpc>
              <a:buNone/>
            </a:pPr>
            <a:r>
              <a:rPr lang="en-US" sz="1700" b="1" dirty="0">
                <a:solidFill>
                  <a:srgbClr val="0B5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best_score_</a:t>
            </a:r>
            <a:pPr indent="0" marL="0">
              <a:lnSpc>
                <a:spcPct val="112000"/>
              </a:lnSpc>
              <a:buNone/>
            </a:pPr>
            <a:r>
              <a:rPr lang="en-US" sz="1700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é a validação, não o teste. Como é o </a:t>
            </a:r>
            <a:pPr indent="0" marL="0">
              <a:lnSpc>
                <a:spcPct val="112000"/>
              </a:lnSpc>
              <a:buNone/>
            </a:pPr>
            <a:r>
              <a:rPr lang="en-US" sz="1700" b="1" dirty="0">
                <a:solidFill>
                  <a:srgbClr val="0B5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melhor de muitas medições</a:t>
            </a:r>
            <a:pPr indent="0" marL="0">
              <a:lnSpc>
                <a:spcPct val="112000"/>
              </a:lnSpc>
              <a:buNone/>
            </a:pPr>
            <a:r>
              <a:rPr lang="en-US" sz="1700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tende a ser um pouco otimista.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594360" y="2834640"/>
            <a:ext cx="11002975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buSzPct val="100000"/>
              <a:buChar char="•"/>
            </a:pPr>
            <a:r>
              <a:rPr lang="en-US" sz="1550" b="1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maldição do vencedor — </a:t>
            </a:r>
            <a:pPr indent="0" marL="0">
              <a:spcAft>
                <a:spcPts val="1000"/>
              </a:spcAft>
              <a:buNone/>
            </a:pPr>
            <a:r>
              <a:rPr lang="en-US" sz="15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vista na Aula 07 — o topo de muitas dobras ruidosas infla por sorte.</a:t>
            </a:r>
            <a:endParaRPr lang="en-US" sz="1550" dirty="0"/>
          </a:p>
          <a:p>
            <a:pPr marL="228600" indent="-228600">
              <a:buSzPct val="100000"/>
              <a:buChar char="•"/>
            </a:pPr>
            <a:r>
              <a:rPr lang="en-US" sz="1550" b="1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Olhe o platô — </a:t>
            </a:r>
            <a:pPr indent="0" marL="0">
              <a:spcAft>
                <a:spcPts val="1000"/>
              </a:spcAft>
              <a:buNone/>
            </a:pPr>
            <a:r>
              <a:rPr lang="en-US" sz="15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várias combinações empatam dentro do desvio, prefira a mais simples.</a:t>
            </a:r>
            <a:endParaRPr lang="en-US" sz="1550" dirty="0"/>
          </a:p>
          <a:p>
            <a:pPr marL="228600" indent="-228600">
              <a:buSzPct val="100000"/>
              <a:buChar char="•"/>
            </a:pPr>
            <a:r>
              <a:rPr lang="en-US" sz="1550" b="1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palavra final — </a:t>
            </a:r>
            <a:pPr indent="0" marL="0">
              <a:spcAft>
                <a:spcPts val="1000"/>
              </a:spcAft>
              <a:buNone/>
            </a:pPr>
            <a:r>
              <a:rPr lang="en-US" sz="15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 o teste, tocado uma única vez com o best_estimator_.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594360" y="5943600"/>
            <a:ext cx="110029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best_score_ ajuda a ESCOLHER, mas não é o número que se reporta — esse vem do teste.</a:t>
            </a:r>
            <a:endParaRPr lang="en-US" sz="11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6428232"/>
            <a:ext cx="9052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08 - Consultoria Especializada em Ciência de Dados 1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8488375" y="642823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22/09/2026    ·    19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955280" y="640080"/>
            <a:ext cx="3931920" cy="5120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3000" b="1" dirty="0">
                <a:solidFill>
                  <a:srgbClr val="E9F5F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3000" dirty="0"/>
          </a:p>
        </p:txBody>
      </p:sp>
      <p:sp>
        <p:nvSpPr>
          <p:cNvPr id="5" name="Shape 3"/>
          <p:cNvSpPr/>
          <p:nvPr/>
        </p:nvSpPr>
        <p:spPr>
          <a:xfrm>
            <a:off x="594360" y="2331720"/>
            <a:ext cx="1828800" cy="475488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/>
        </p:spPr>
      </p:sp>
      <p:sp>
        <p:nvSpPr>
          <p:cNvPr id="6" name="Text 4"/>
          <p:cNvSpPr/>
          <p:nvPr/>
        </p:nvSpPr>
        <p:spPr>
          <a:xfrm>
            <a:off x="594360" y="2331720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5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94360" y="2971800"/>
            <a:ext cx="76809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100" b="1" dirty="0">
                <a:solidFill>
                  <a:srgbClr val="12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 resultado ao teste</a:t>
            </a:r>
            <a:endParaRPr lang="en-US" sz="3100" dirty="0"/>
          </a:p>
        </p:txBody>
      </p:sp>
      <p:sp>
        <p:nvSpPr>
          <p:cNvPr id="8" name="Text 6"/>
          <p:cNvSpPr/>
          <p:nvPr/>
        </p:nvSpPr>
        <p:spPr>
          <a:xfrm>
            <a:off x="594360" y="4526280"/>
            <a:ext cx="7498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Confirmar o campeão uma única vez.</a:t>
            </a:r>
            <a:endParaRPr lang="en-US" sz="16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6428232"/>
            <a:ext cx="9052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08 - Consultoria Especializada em Ciência de Dados 1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8488375" y="642823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22/09/2026    ·    20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94360" y="457200"/>
            <a:ext cx="1100297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12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best_estimator_ e a palavra final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94360" y="1371600"/>
            <a:ext cx="11002975" cy="1234440"/>
          </a:xfrm>
          <a:prstGeom prst="roundRect">
            <a:avLst>
              <a:gd name="adj" fmla="val 6667"/>
            </a:avLst>
          </a:prstGeom>
          <a:solidFill>
            <a:srgbClr val="E9F5F3"/>
          </a:solidFill>
          <a:ln/>
          <a:effectLst>
            <a:outerShdw sx="100000" sy="100000" kx="0" ky="0" algn="bl" rotWithShape="0" blurRad="88900" dist="38100" dir="5400000">
              <a:srgbClr val="9CB4B0">
                <a:alpha val="2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005840" y="1371600"/>
            <a:ext cx="10180015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700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</a:t>
            </a:r>
            <a:pPr indent="0" marL="0">
              <a:lnSpc>
                <a:spcPct val="112000"/>
              </a:lnSpc>
              <a:buNone/>
            </a:pPr>
            <a:r>
              <a:rPr lang="en-US" sz="1700" b="1" dirty="0">
                <a:solidFill>
                  <a:srgbClr val="0B5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best_estimator_</a:t>
            </a:r>
            <a:pPr indent="0" marL="0">
              <a:lnSpc>
                <a:spcPct val="112000"/>
              </a:lnSpc>
              <a:buNone/>
            </a:pPr>
            <a:r>
              <a:rPr lang="en-US" sz="1700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já está treinado com a melhor combinação. Confirme-o </a:t>
            </a:r>
            <a:pPr indent="0" marL="0">
              <a:lnSpc>
                <a:spcPct val="112000"/>
              </a:lnSpc>
              <a:buNone/>
            </a:pPr>
            <a:r>
              <a:rPr lang="en-US" sz="1700" b="1" dirty="0">
                <a:solidFill>
                  <a:srgbClr val="0B5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vez no teste</a:t>
            </a:r>
            <a:pPr indent="0" marL="0">
              <a:lnSpc>
                <a:spcPct val="112000"/>
              </a:lnSpc>
              <a:buNone/>
            </a:pPr>
            <a:r>
              <a:rPr lang="en-US" sz="1700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esse é o número honesto.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594360" y="2834640"/>
            <a:ext cx="11002975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buSzPct val="100000"/>
              <a:buChar char="•"/>
            </a:pPr>
            <a:r>
              <a:rPr lang="en-US" sz="1550" b="1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Cenário saudável — </a:t>
            </a:r>
            <a:pPr indent="0" marL="0">
              <a:spcAft>
                <a:spcPts val="1000"/>
              </a:spcAft>
              <a:buNone/>
            </a:pPr>
            <a:r>
              <a:rPr lang="en-US" sz="15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teste fica próximo do best_score_ da validação.</a:t>
            </a:r>
            <a:endParaRPr lang="en-US" sz="1550" dirty="0"/>
          </a:p>
          <a:p>
            <a:pPr marL="228600" indent="-228600">
              <a:buSzPct val="100000"/>
              <a:buChar char="•"/>
            </a:pPr>
            <a:r>
              <a:rPr lang="en-US" sz="1550" b="1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Sinal de alerta — </a:t>
            </a:r>
            <a:pPr indent="0" marL="0">
              <a:spcAft>
                <a:spcPts val="1000"/>
              </a:spcAft>
              <a:buNone/>
            </a:pPr>
            <a:r>
              <a:rPr lang="en-US" sz="15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 bem abaixo da validação sugere sobreajuste da busca (grade grande demais).</a:t>
            </a:r>
            <a:endParaRPr lang="en-US" sz="1550" dirty="0"/>
          </a:p>
          <a:p>
            <a:pPr marL="228600" indent="-228600">
              <a:buSzPct val="100000"/>
              <a:buChar char="•"/>
            </a:pPr>
            <a:r>
              <a:rPr lang="en-US" sz="1550" b="1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 — </a:t>
            </a:r>
            <a:pPr indent="0" marL="0">
              <a:spcAft>
                <a:spcPts val="1000"/>
              </a:spcAft>
              <a:buNone/>
            </a:pPr>
            <a:r>
              <a:rPr lang="en-US" sz="15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desempenho do teste, não o best_score_ da busca.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594360" y="5943600"/>
            <a:ext cx="110029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ciclo fecha aqui: treino aprendeu, validação escolheu, teste confirmou — uma vez só.</a:t>
            </a:r>
            <a:endParaRPr lang="en-US" sz="11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6428232"/>
            <a:ext cx="9052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08 - Consultoria Especializada em Ciência de Dados 1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8488375" y="642823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22/09/2026    ·    21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94360" y="457200"/>
            <a:ext cx="1100297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12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Tabela de decisão: montando a grade</a:t>
            </a:r>
            <a:endParaRPr lang="en-US" sz="270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691640"/>
          <a:ext cx="9144000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3840480"/>
                <a:gridCol w="3867912"/>
              </a:tblGrid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Situação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Escolha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Por quê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Métrica com classe rara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scoring = F1 / average_precision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acurácia engana com desbalanceio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Classificação (padrão)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cv = StratifiedKFold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preserva a proporção das classes na dobra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Pré-processamento no meio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GridSearchCV sobre o Pipeline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 prep se refaz em cada dobra, sem vazar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Muitos hiperparâmetros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comece pequeno, depois refine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grade cheia explode em nº de treinos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Reportar desempenho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teste com best_estimator_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best_score_ é otimista (vem de dentro)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94360" y="5943600"/>
            <a:ext cx="110029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grade é uma decisão de projeto: métrica certa, CV certo, dentro do Pipeline — e comece enxuto.</a:t>
            </a:r>
            <a:endParaRPr lang="en-US" sz="11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6428232"/>
            <a:ext cx="9052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08 - Consultoria Especializada em Ciência de Dados 1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8488375" y="642823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22/09/2026    ·    22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955280" y="640080"/>
            <a:ext cx="3931920" cy="5120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3000" b="1" dirty="0">
                <a:solidFill>
                  <a:srgbClr val="E9F5F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23000" dirty="0"/>
          </a:p>
        </p:txBody>
      </p:sp>
      <p:sp>
        <p:nvSpPr>
          <p:cNvPr id="5" name="Shape 3"/>
          <p:cNvSpPr/>
          <p:nvPr/>
        </p:nvSpPr>
        <p:spPr>
          <a:xfrm>
            <a:off x="594360" y="2331720"/>
            <a:ext cx="1828800" cy="475488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/>
        </p:spPr>
      </p:sp>
      <p:sp>
        <p:nvSpPr>
          <p:cNvPr id="6" name="Text 4"/>
          <p:cNvSpPr/>
          <p:nvPr/>
        </p:nvSpPr>
        <p:spPr>
          <a:xfrm>
            <a:off x="594360" y="2331720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6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94360" y="2971800"/>
            <a:ext cx="76809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100" b="1" dirty="0">
                <a:solidFill>
                  <a:srgbClr val="12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Boas práticas</a:t>
            </a:r>
            <a:endParaRPr lang="en-US" sz="3100" dirty="0"/>
          </a:p>
        </p:txBody>
      </p:sp>
      <p:sp>
        <p:nvSpPr>
          <p:cNvPr id="8" name="Text 6"/>
          <p:cNvSpPr/>
          <p:nvPr/>
        </p:nvSpPr>
        <p:spPr>
          <a:xfrm>
            <a:off x="594360" y="4526280"/>
            <a:ext cx="7498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definir a grade e o que evitar.</a:t>
            </a:r>
            <a:endParaRPr lang="en-US" sz="16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6428232"/>
            <a:ext cx="9052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08 - Consultoria Especializada em Ciência de Dados 1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8488375" y="642823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22/09/2026    ·    23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94360" y="457200"/>
            <a:ext cx="1100297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12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Erros comuns e boas práticas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94360" y="1783080"/>
            <a:ext cx="5318608" cy="4114800"/>
          </a:xfrm>
          <a:prstGeom prst="roundRect">
            <a:avLst>
              <a:gd name="adj" fmla="val 2000"/>
            </a:avLst>
          </a:prstGeom>
          <a:solidFill>
            <a:srgbClr val="E9F5F3"/>
          </a:solidFill>
          <a:ln/>
          <a:effectLst>
            <a:outerShdw sx="100000" sy="100000" kx="0" ky="0" algn="bl" rotWithShape="0" blurRad="88900" dist="38100" dir="5400000">
              <a:srgbClr val="9CB4B0">
                <a:alpha val="2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14400" y="2057400"/>
            <a:ext cx="46785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5A5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Erros comuns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14400" y="2697480"/>
            <a:ext cx="4678528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Ajustar hiperparâmetros olhando o teste.</a:t>
            </a:r>
            <a:endParaRPr lang="en-US" sz="145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Usar accuracy com classe rara.</a:t>
            </a:r>
            <a:endParaRPr lang="en-US" sz="145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 enorme sem necessidade.</a:t>
            </a:r>
            <a:endParaRPr lang="en-US" sz="145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Buscar fora do Pipeline (vaza).</a:t>
            </a:r>
            <a:endParaRPr lang="en-US" sz="145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Reportar o best_score_ como se fosse o teste.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6278728" y="1783080"/>
            <a:ext cx="5318608" cy="4114800"/>
          </a:xfrm>
          <a:prstGeom prst="roundRect">
            <a:avLst>
              <a:gd name="adj" fmla="val 2000"/>
            </a:avLst>
          </a:prstGeom>
          <a:solidFill>
            <a:srgbClr val="F1F5F9"/>
          </a:solidFill>
          <a:ln/>
          <a:effectLst>
            <a:outerShdw sx="100000" sy="100000" kx="0" ky="0" algn="bl" rotWithShape="0" blurRad="88900" dist="38100" dir="5400000">
              <a:srgbClr val="9CB4B0">
                <a:alpha val="2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598768" y="2057400"/>
            <a:ext cx="46785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5A5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Boas práticas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598768" y="2697480"/>
            <a:ext cx="4678528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Ajuste na validação; confirme no teste.</a:t>
            </a:r>
            <a:endParaRPr lang="en-US" sz="145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Escolha o scoring da métrica que importa.</a:t>
            </a:r>
            <a:endParaRPr lang="en-US" sz="145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Comece com uma grade pequena e refine.</a:t>
            </a:r>
            <a:endParaRPr lang="en-US" sz="145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Sempre GridSearchCV sobre o Pipeline.</a:t>
            </a:r>
            <a:endParaRPr lang="en-US" sz="145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 média ± desvio e o resultado do teste.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594360" y="5943600"/>
            <a:ext cx="110029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 próxima (Aula 09): quando a grade explode, a busca aleatória e o AutoML acham bons ajustes sem varrer tudo.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D00A52186506F641B6D0943FD8590E16" ma:contentTypeVersion="3" ma:contentTypeDescription="Crie um novo documento." ma:contentTypeScope="" ma:versionID="892c9e91ca2da4b656e9e1873602cb98">
  <xsd:schema xmlns:xsd="http://www.w3.org/2001/XMLSchema" xmlns:xs="http://www.w3.org/2001/XMLSchema" xmlns:p="http://schemas.microsoft.com/office/2006/metadata/properties" xmlns:ns2="4619301c-9bea-416d-958d-6c0d9dcf89c5" targetNamespace="http://schemas.microsoft.com/office/2006/metadata/properties" ma:root="true" ma:fieldsID="8b2a4b9bb00df620f25170aaf9638c53" ns2:_="">
    <xsd:import namespace="4619301c-9bea-416d-958d-6c0d9dcf89c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619301c-9bea-416d-958d-6c0d9dcf89c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7A9A9E36-25D6-45F0-954B-81B329AF0F04}"/>
</file>

<file path=customXml/itemProps2.xml><?xml version="1.0" encoding="utf-8"?>
<ds:datastoreItem xmlns:ds="http://schemas.openxmlformats.org/officeDocument/2006/customXml" ds:itemID="{C2F9ACCF-0D71-4F6F-B291-AA2923EDD2E9}"/>
</file>

<file path=customXml/itemProps3.xml><?xml version="1.0" encoding="utf-8"?>
<ds:datastoreItem xmlns:ds="http://schemas.openxmlformats.org/officeDocument/2006/customXml" ds:itemID="{77FBB3CA-2AA1-48C3-853E-C2A3B4C54B24}"/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2026-09-05T23:47:22Z</dcterms:created>
  <dcterms:modified xsi:type="dcterms:W3CDTF">2026-09-05T23:47:22Z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0x010100D00A52186506F641B6D0943FD8590E16</vt:lpwstr>
  </property>
</Properties>
</file>