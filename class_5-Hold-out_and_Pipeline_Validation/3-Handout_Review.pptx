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83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REVISÃO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60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05 — Revisão: hold-out e Pipeline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Recapitulação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ideias-chave da aula.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Por que não testar no treino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173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no mesmo dado do treino mede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memorização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desempenho em dados novos.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já 'viu' esses pontos; a nota sai inflada e mente sobre a generalização.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um conjunto de TESTE que o modelo nunca vê no treino.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conjuntos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(aprende), validação (decide modelo/limiar), teste (nota final, intocado).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Obter os três conjuntos, estratificar e semente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cortes encadeados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o teste primeiro; depois divide o resto em treino e validação.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MESMA proporção das classes nos conjuntos — essencial quando a classe é rara.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o sorteio: mesma semente → mesmo corte → resultado reprodutível.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Vazamento e o jeito certo —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1790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fit (aprender média/desvio) usa SÓ o treino  ·  o transform aplica-se ao treino E ao teste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treino: fit_transform (aprende e aplica); no teste: só transform, com as estatísticas do treino. As duas partes ficam na MESMA escala.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fit no conjunto INTEIRO (ou no teste) deixa o teste 'espiar' o treino → nota otimista falsa.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uma transformação por tipo de coluna (z-score nas numéricas, OneHot nas categóricas) de uma vez.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pré-processamento + modelo; na validação cruzada refaz o fit DENTRO de cada dobra → sem vazar.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Hold-out no tempo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1732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data, o corte é por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treina no passado, testa no futuro — nunca sorteie.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segure os últimos períodos conhecidos como teste (ex.: treina 2000–2023, prevê 2024–2025) e compare com o real.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 de valer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re-treine com TODOS os dados até o corte; a separação serviu só para medir.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períodos passados ficam no treino (ensinam a sazonalidade); só o trecho de teste, depois do corte, sai.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Um </a:t>
            </a:r>
            <a:r>
              <a:rPr lang="en-US" sz="27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</a:t>
            </a: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</a:t>
            </a: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skew × drift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corte só é jogar a moeda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varia com a sorte do corte; a validação cruzada tira a média de vários cortes (Aula 06).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× drift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= treino ≠ produção AGORA (defesa: mesmo Pipeline); drift = dados mudam no TEMPO (defesa: monitorar e re-treinar).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holdout, com calma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pequeno de usuários (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fica FORA de todas as mudanças por meses, para medir 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real acumulado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que a empresa lançou.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sorteia-se 5–10% dos usuários que continuam na experiência ANTIGA; o resto recebe todas as novidades.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× todos os outros = o efeito somado de TUDO, ao longo do tempo — não de um teste isolado.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somar os A/B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o ganho de cada teste SUPERESTIMA: os efeitos se sobrepõem e a novidade perde força (decaimento).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libera-se o holdout (recebe tudo) após medir. Trade-off: maior = mais preciso, porém mais gente sem as melhorias.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práticas de experimentação (Statsig, Optimizely, Disney Streaming).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quando não há 1 e 0?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Validando modelos que preveem NÚMEROS (carga, geração...).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confusão é para CLASSIFICAÇÃO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1732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VN, FP e FN só existem quando a resposta é um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(1 ou 0)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Prever carga/geração devolve um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não há 'acertou/errou'.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'é spam? sim/não' → conta acertos e erros em quadrantes (a matriz de confusão).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(previsão de número)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'quantos MW às 19h?' → a pergunta vira 'errou por QUANTO?', não 'acertou ou não'.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trocamos os quadrantes pelo ERRO = (valor real − valor previsto) e resumimos esse erro em métricas.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erro, visto no tempo</a:t>
            </a:r>
            <a:endParaRPr lang="en-US" sz="2700" dirty="0"/>
          </a:p>
        </p:txBody>
      </p:sp>
      <p:pic>
        <p:nvPicPr>
          <p:cNvPr id="5" name="Image 0" descr="fig_rev05cd/f_c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417320"/>
            <a:ext cx="813816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honesta de uma previsão contínua é comparar a curva PREVISTA com a REAL ao longo do tempo — e medir a distância entre elas.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validar: as quatro métricas de erro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00232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(MW)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 (MW)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= real − previsto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338328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52958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ERRO (DESTE EXEMPLO)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822192"/>
            <a:ext cx="103628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22,5 MW   ·   RMSE = 27,8 MW   ·   MAPE = 4,2 %   ·   R² = 0,86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44348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em MW; fácil de comunicar. RMSE pune mais os PICOS (o erro de +50 puxa o RMSE acima do MAE).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(%) e R²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é o erro em %; R² é adimensional (0 a 1, pode ser negativo) e diz quanto da variação o modelo explica.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e validação de previsões contínuas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para picos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carga/geração, errar o pico é caro — o RMSE (que eleva o erro ao quadrado) destaca isso.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perto de zero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geração solar à noite = 0 → dividir por zero faz o MAPE explodir/ficar indefinido.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uma baseline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só presta se bate o ingênuo 'amanhã = hoje na mesma hora'. Se não bater, não serve.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no TEMPO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no passado, preveja as próximas horas/dias e compare com o real — é o hold-out temporal da aula.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Resumo: sem 1 e 0, a matriz de confusão sai; entram o ERRO e as métricas MAE, RMSE, MAPE e R² — com validação no tempo.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 acurácia, recall e precisão? Defina um EVENTO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716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métricas precisam de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 0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Numa previsão contínua, crie o evento com um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'a carga vai passar de 500 MW (pico)?' — e vira classificação.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o evento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hora, 1 se passou do limiar, 0 se não — tanto no REAL quanto no PREVISTO.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 sim há matriz de confusão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ALERTAS de pico: VP, VN, FP, FN — e daí acurácia, recall e precisão.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uma diz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dos picos reais, quantos o modelo avisou; precisão = dos alertas dados, quantos eram pico de verdade.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seja: a previsão continua sendo de um número; o EVENTO (passou do limiar?) é que vira 1/0 para medir alertas.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alerta de pico (limiar 500 MW)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2011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real&gt;500?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previsto&gt;500?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32918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43814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DO ALERTA DE PICO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730752"/>
            <a:ext cx="103628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VP=1  FN=1  FP=0  VN=2   →   acurácia = 3/4 = 0,75   ·   recall = 1/2 = 0,50   ·   precisão = 1/1 = 1,00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438912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avisou só METADE dos picos reais (recall 0,50), mas não deu alarme falso (precisão 1,00).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se mede 'acerto de evento' numa previsão contínua — combine com MAE/RMSE, que medem o tamanho do erro em MW.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331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comentado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16 questões do formulário, uma a uma.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se deve avaliar o modelo nos mesmos dados em que ele treinou?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o treino demora mais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ele decora os dados e a nota não mede a generalização (fica alta demais)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o teste precisa ser maior que o treino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assim não dá para usar árvores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se deve avaliar o modelo nos mesmos dados em que ele treinou?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o treino demora mais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porque ele decora os dados e a nota não mede a generalização (fica alta demais)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o teste precisa ser maior que o treino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assim não dá para usar árvores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no dado de treino mede memorização, não desempenho em dados novos. Por isso separamos um teste.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hold-out com três conjuntos, o papel de cada um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treino ajusta, validação é intocado, teste escolhe o modelo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os três servem para treinar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treino ajusta, validação ajuda a decidir (modelo/limiar), teste dá a nota final intocada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validação treina e teste ajusta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hold-out com três conjuntos, o papel de cada um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treino ajusta, validação é intocado, teste escolhe o modelo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os três servem para treinar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treino ajusta, validação ajuda a decidir (modelo/limiar), teste dá a nota final intocada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validação treina e teste ajusta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aprende; validação orienta as decisões; o teste só é usado no fim, uma vez.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obter treino / validação / teste na prática?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dois cortes encadeados: separa o teste; depois divide o resto em treino e validação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um corte só, em três partes iguais e aleatórias sempre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não é possível ter três conjuntos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sorteando as linhas a cada época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obter treino / validação / teste na prática?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dois cortes encadeados: separa o teste; depois divide o resto em treino e validação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um corte só, em três partes iguais e aleatórias sempre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não é possível ter três conjuntos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sorteando as linhas a cada época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separa-se o teste (guardado); o restante é dividido em treino e validação.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o stratify=y no train_test_split?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para embaralhar melhor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para padronizar as variáveis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para acelerar o treino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para manter a mesma proporção das classes no treino e no teste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o stratify=y no train_test_split?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para embaralhar melhor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para padronizar as variáveis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para acelerar o treino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para manter a mesma proporção das classes no treino e no teste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estratificar, um sorteio pode desbalancear os conjuntos — grave quando a classe é rara.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random_state (semente) serve para: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melhorar a acurácia do modelo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tornar o sorteio reprodutível — mesma semente, mesmo corte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aumentar o tamanho do teste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evitar valores ausentes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random_state (semente) serve para: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melhorar a acurácia do modelo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tornar o sorteio reprodutível — mesma semente, mesmo corte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aumentar o tamanho do teste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evitar valores ausentes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Fixar a semente garante que a divisão (e o resultado) seja o mesmo toda vez que rodar.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"Avaliar com uma única divisão treino/teste é como jogar a moeda." O que isso quer dizer?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 o modelo escolhe a resposta ao acaso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 a acurácia é sempre 50%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 a nota varia conforme a sorte do corte; a solução é a média de vários cortes (validação cruzada)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 não se deve usar teste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"Avaliar com uma única divisão treino/teste é como jogar a moeda." O que isso quer dizer?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 o modelo escolhe a resposta ao acaso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 a acurácia é sempre 50%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que a nota varia conforme a sorte do corte; a solução é a média de vários cortes (validação cruzada)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que não se deve usar teste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corte pode ser fácil ou difícil; a estimativa tem variância. A validação cruzada tira a média de vários cortes.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(StandardScaler) usando o conjunto INTEIRO antes de separar treino/teste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vazamento — o teste 'espia' o treino, pois a média/desvio incluem o teste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 forma recomendada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irrelevante para o resultado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necessário para o OneHotEncoder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(StandardScaler) usando o conjunto INTEIRO antes de separar treino/teste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vazamento — o teste 'espia' o treino, pois a média/desvio incluem o teste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 forma recomendada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irrelevante para o resultado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necessário para o OneHotEncoder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certo é fit só no treino e transform no teste. Ajustar no todo deixa a informação do teste vazar.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correta de aplicar o StandardScaler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fit_transform no treino e fit_transform no teste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fit no teste e transform no treino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fit no treino; transform (sem fit) no teste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fit_transform no conjunto inteiro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correta de aplicar o StandardScaler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fit_transform no treino e fit_transform no teste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fit no teste e transform no treino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fit no treino; transform (sem fit) no teste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fit_transform no conjunto inteiro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fit (aprender média/desvio) usa SÓ o treino. O transform aplica-se aos DOIS: no treino fit_transform, no teste só transform. Nunca dar fit no teste.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9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ColumnTransformer serve para: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treinar vários modelos ao mesmo tempo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aplicar uma transformação diferente para cada tipo de coluna (numérica × categórica) de uma vez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dividir treino e teste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calcular a acurácia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9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ColumnTransformer serve para: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treinar vários modelos ao mesmo tempo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aplicar uma transformação diferente para cada tipo de coluna (numérica × categórica) de uma vez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dividir treino e teste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calcular a acurácia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StandardScaler nas numéricas e OneHotEncoder nas categóricas, juntando tudo numa matriz só.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10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Pipeline (pré-processamento + modelo) evita vazamento na validação cruzada?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usa menos memória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remove os valores ausentes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escolhe o k sozinho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refaz o pré-processamento DENTRO de cada dobra, só com o treino daquela dobra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10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Pipeline (pré-processamento + modelo) evita vazamento na validação cruzada?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usa menos memória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remove os valores ausentes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porque escolhe o k sozinho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porque refaz o pré-processamento DENTRO de cada dobra, só com o treino daquela dobra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garante que o fit do pré-processamento use apenas o treino de cada divisão.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dados têm data, a divisão correta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por tempo: treinar no passado e testar no futuro (não sortear)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sortear as linhas aleatoriamente como sempre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testar no passado e treinar no futuro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usar só o mês mais antigo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39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11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dados têm data, a divisão correta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por tempo: treinar no passado e testar no futuro (não sortear)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sortear as linhas aleatoriamente como sempre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testar no passado e treinar no futuro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usar só o mês mais antigo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no tempo deixa o modelo 'ver o futuro' no treino (vazamento temporal). Corte por data.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de 2000 a 2025 e você quer prever dezembro de 2026 (já tem jan–nov/2026). Sobre o treino: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remover TODOS os dezembros de 2000–2025 do treino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treinar só com 2026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manter os dezembros passados no treino (ensinam a sazonalidade); nunca usar dados depois do ponto previsto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usar apenas dezembros no treino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12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de 2000 a 2025 e você quer prever dezembro de 2026 (já tem jan–nov/2026). Sobre o treino: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remover TODOS os dezembros de 2000–2025 do treino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treinar só com 2026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manter os dezembros passados no treino (ensinam a sazonalidade); nunca usar dados depois do ponto previsto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usar apenas dezembros no treino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corta pelo TEMPO, não pelo mês. Dezembros passados são passado — e é o que ensina o padrão de dezembro.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13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estimar se o modelo temporal funciona (sem ter ainda o real de 2026), a melhor prática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nunca testar; confiar no treino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segurar os últimos anos conhecidos como teste (ex.: treina 2000–2023, prevê 2024–2025) e, aprovado, re-treinar com tudo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testar em anos sorteados aleatoriamente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usar o mesmo ano no treino e no teste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13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estimar se o modelo temporal funciona (sem ter ainda o real de 2026), a melhor prática é: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nunca testar; confiar no treino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segurar os últimos anos conhecidos como teste (ex.: treina 2000–2023, prevê 2024–2025) e, aprovado, re-treinar com tudo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testar em anos sorteados aleatoriamente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usar o mesmo ano no treino e no teste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Simula-se o futuro com anos passados; a separação serve só para medir. Para valer, re-treina com todos os dados.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"global holdout" (holdout de produto) serve para: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ajustar os parâmetros do modelo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padronizar as variáveis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substituir o conjunto de teste do modelo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manter um grupo de usuários fora de TODAS as mudanças, medindo o impacto real acumulado no negócio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14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"global holdout" (holdout de produto) serve para: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ajustar os parâmetros do modelo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padronizar as variáveis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substituir o conjunto de teste do modelo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manter um grupo de usuários fora de TODAS as mudanças, medindo o impacto real acumulado no negócio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'hold-out' não treina modelo: avalia o PRODUTO. Compara-se um grupo sem novidades com o resto, ao longo do tempo.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um teste A/B e o global holdout?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 A/B mede UMA mudança (curto prazo); o global holdout mede o efeito de TUDO (longo prazo)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são exatamente a mesma coisa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 A/B não usa grupo de controle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 global holdout serve para treinar o modelo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15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um teste A/B e o global holdout?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865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 A/B mede UMA mudança (curto prazo); o global holdout mede o efeito de TUDO (longo prazo)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são exatamente a mesma coisa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 A/B não usa grupo de controle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 global holdout serve para treinar o modelo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A/B isola uma mudança; o global holdout mede o ganho somado de todos os lançamentos ao longo do tempo.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16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1732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produção do modelo, skew e drift são: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728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 mesmo problema com nomes diferentes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erros de digitação no código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skew = treino ≠ produção AGORA (defesa: mesmo Pipeline); drift = dados mudam com o TEMPO (defesa: monitorar e re-treinar)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skew acontece no tempo e drift no deploy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na sua resposta — a correção está no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49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16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371600"/>
            <a:ext cx="10271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produção do modelo, skew e drift são: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o mesmo problema com nomes diferentes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erros de digitação no código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skew = treino ≠ produção AGORA (defesa: mesmo Pipeline); drift = dados mudam com o TEMPO (defesa: monitorar e re-treinar)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skew acontece no tempo e drift no deploy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5504688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550468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é problema de espaço (dois ambientes desalinhados no deploy); drift é problema de tempo (o mundo muda).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(Revisão)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50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= separar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aprende, validação decide, teste dá a nota final intocada.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vazamento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só no treino; Pipeline garante isso, inclusive na validação cruzada.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data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no passado, testa no futuro; re-treina com tudo para valer.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 e 0 —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prever números (carga/geração), use o ERRO e as métricas MAE, RMSE, MAPE e R² — validando no tempo.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Traga na próxima aula — ou use o campo aberto do formulário.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EBFF21-F289-4DC9-9F20-DCAE4B5D6ED0}"/>
</file>

<file path=customXml/itemProps2.xml><?xml version="1.0" encoding="utf-8"?>
<ds:datastoreItem xmlns:ds="http://schemas.openxmlformats.org/officeDocument/2006/customXml" ds:itemID="{D4F16B36-BBDB-4D09-93C8-C1501FFBD827}"/>
</file>

<file path=customXml/itemProps3.xml><?xml version="1.0" encoding="utf-8"?>
<ds:datastoreItem xmlns:ds="http://schemas.openxmlformats.org/officeDocument/2006/customXml" ds:itemID="{7E2DD119-5B50-4B5E-A222-7A6C3DC10CE6}"/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4642</Words>
  <Application>Microsoft Office PowerPoint</Application>
  <PresentationFormat>Widescreen</PresentationFormat>
  <Paragraphs>499</Paragraphs>
  <Slides>49</Slides>
  <Notes>49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Giovani Giulio Tristão Thibes Vieira</cp:lastModifiedBy>
  <cp:revision>3</cp:revision>
  <dcterms:created xsi:type="dcterms:W3CDTF">2026-09-01T08:43:02Z</dcterms:created>
  <dcterms:modified xsi:type="dcterms:W3CDTF">2026-09-01T12:36:50Z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