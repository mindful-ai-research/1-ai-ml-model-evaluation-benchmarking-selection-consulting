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7" r:id="rId3"/>
    <p:sldId id="288" r:id="rId4"/>
    <p:sldId id="257" r:id="rId5"/>
    <p:sldId id="261" r:id="rId6"/>
    <p:sldId id="262" r:id="rId7"/>
    <p:sldId id="263" r:id="rId8"/>
    <p:sldId id="264" r:id="rId9"/>
    <p:sldId id="267" r:id="rId10"/>
    <p:sldId id="268" r:id="rId11"/>
    <p:sldId id="269" r:id="rId12"/>
    <p:sldId id="270" r:id="rId13"/>
    <p:sldId id="296" r:id="rId14"/>
    <p:sldId id="271" r:id="rId15"/>
    <p:sldId id="272" r:id="rId16"/>
    <p:sldId id="273" r:id="rId17"/>
    <p:sldId id="274" r:id="rId18"/>
    <p:sldId id="275" r:id="rId19"/>
    <p:sldId id="276" r:id="rId20"/>
    <p:sldId id="289" r:id="rId21"/>
    <p:sldId id="294" r:id="rId22"/>
    <p:sldId id="291" r:id="rId23"/>
    <p:sldId id="292" r:id="rId24"/>
    <p:sldId id="297" r:id="rId25"/>
    <p:sldId id="29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ESPECIALIZADA EM CIÊNCIA DE DADOS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6032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hold-out e Pipeline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94360" y="44805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 ·  01/09/2026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(1/2)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114228"/>
              </p:ext>
            </p:extLst>
          </p:nvPr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04/08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Introdução: fundamentos da avaliação de modelos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11/08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 (confusão, precisão, recall, F1)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</a:t>
                      </a:r>
                      <a:r>
                        <a:rPr lang="en-US" sz="135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</a:t>
                      </a:r>
                      <a:r>
                        <a:rPr lang="en-US" sz="1350" b="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endParaRPr lang="en-US" sz="135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18/08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classificação II (ROC-AUC, PR, log-loss)</a:t>
                      </a: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35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25/08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35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de regressão (MAE, RMSE, R², resíduos)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35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proposta</a:t>
                      </a: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— 01/09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hold-out e Pipeline</a:t>
                      </a: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— 08/09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 (k-fold, estratificado)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15/09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cruzada II (grupos, temporal, aninhada)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— 22/09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exaustiva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</a:t>
                      </a:r>
                      <a:r>
                        <a:rPr lang="en-US" sz="1350" dirty="0" err="1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hiperparâmetros</a:t>
                      </a: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(grid search)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dados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— 29/09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aleatória e menção a AutoML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04/08/2026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curso, semana a semana (2/2)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94360" y="1554480"/>
          <a:ext cx="11000232" cy="45720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 (Dia/Mês)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— 06/10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validação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 3 (subst.)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— 13/10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Curvas de aprendizado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— 20/10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e comparação de modelos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— 27/10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Limiar de decisão e calibração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— 03/11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Leakage e reprodutibilidade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— 10/11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Seleção de atributos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— 17/11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 de caso integrado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— 24/11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Comunicação e reprodutibilidade dos resultados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1" dirty="0" err="1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Desafio</a:t>
                      </a: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6 (subst.)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— 01/12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integrada e apresentações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 final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2975" cy="137160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os dados em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treino, validação e teste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estimar o desempenho com honestidade — e usar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não vazar informação.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Treino, validação e teste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fatia para aprender, uma para escolher, uma para o juízo final.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conjuntos, três papéis</a:t>
            </a:r>
            <a:endParaRPr lang="en-US" sz="2800" dirty="0"/>
          </a:p>
        </p:txBody>
      </p:sp>
      <p:pic>
        <p:nvPicPr>
          <p:cNvPr id="5" name="Image 0" descr="figuras_aula5/f1_t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892" y="1223683"/>
            <a:ext cx="85953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441" y="4916245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= a lista de exercícios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aqui (usa muitas vezes).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= o simulado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testa jeitos de estudar e escolhe o melhor (várias vezes).</a:t>
            </a:r>
            <a:endParaRPr lang="en-US" sz="1550" dirty="0"/>
          </a:p>
          <a:p>
            <a:pPr marL="254000" indent="-2540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= a prova oficial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que vale, honesta — uma única vez.</a:t>
            </a:r>
            <a:endParaRPr lang="en-US" sz="155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2A895A2-58FD-641A-7D3E-C0F89A9F793A}"/>
              </a:ext>
            </a:extLst>
          </p:cNvPr>
          <p:cNvSpPr/>
          <p:nvPr/>
        </p:nvSpPr>
        <p:spPr>
          <a:xfrm>
            <a:off x="684007" y="3462169"/>
            <a:ext cx="11002975" cy="1188720"/>
          </a:xfrm>
          <a:prstGeom prst="roundRect">
            <a:avLst>
              <a:gd name="adj" fmla="val 6923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03C8178-BFD2-2F38-1119-DCA4E281063F}"/>
              </a:ext>
            </a:extLst>
          </p:cNvPr>
          <p:cNvSpPr/>
          <p:nvPr/>
        </p:nvSpPr>
        <p:spPr>
          <a:xfrm>
            <a:off x="1095487" y="3462169"/>
            <a:ext cx="10180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uma fatia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treinar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 mantenha escondida; meça o modelo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nela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obter os três: dois cortes encadeados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1002975" cy="3063240"/>
          </a:xfrm>
          <a:prstGeom prst="roundRect">
            <a:avLst>
              <a:gd name="adj" fmla="val 2687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1027145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separe o TESTE (vai para o cofre)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X_resto, X_test, y_resto, y_test = train_test_split(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stratify=y, random_state=0)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do resto, separe TREINO e VALIDACAO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X_tr, X_val, y_tr, y_val = train_test_split(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X_resto, y_resto, test_size=0.25, stratify=y_resto, random_state=0)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Estratificar e fixar a semente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proporção das classes em cada conjunto — essencial com classe rara.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 o sorteio: o mesmo split toda vez, para o experimento ser reproduzível.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depois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que as proporções bateram nos três conjuntos antes de seguir.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fluxo correto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Treine vários modelos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conjunto de treino.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Compare na validação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campeão e ajuste os hiperparâmetros aqui.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Confirme uma vez no teste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o campeão no teste — esse é o número que você reporta.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analogia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é o exame final lacrado, aberto só no dia da prova.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no pré-processamento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ou imputar com a base inteira contamina o teste.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vazamento sutil do pré-processamento</a:t>
            </a:r>
            <a:endParaRPr lang="en-US" sz="2800" dirty="0"/>
          </a:p>
        </p:txBody>
      </p:sp>
      <p:pic>
        <p:nvPicPr>
          <p:cNvPr id="5" name="Image 0" descr="figuras_aula5/f2_sca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554480"/>
            <a:ext cx="868680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scaler (ou imputador, ou seletor de atributos) na base inteira faz o treino 'enxergar' o teste.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 ouro e onde o vazamento se esconde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Aprenda as transformações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no treino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aplique-as ao teste </a:t>
            </a:r>
            <a:r>
              <a:rPr lang="en-US" sz="21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reajustar</a:t>
            </a:r>
            <a:r>
              <a:rPr lang="en-US" sz="21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/ normalização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e o desvio devem vir só do treino.</a:t>
            </a:r>
            <a:endParaRPr lang="en-US" sz="1650" dirty="0"/>
          </a:p>
          <a:p>
            <a:pPr marL="254000" indent="-2540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 de faltantes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estatística de preenchimento também.</a:t>
            </a:r>
            <a:endParaRPr lang="en-US" sz="1650" dirty="0"/>
          </a:p>
          <a:p>
            <a:pPr marL="254000" indent="-254000">
              <a:buSzPct val="100000"/>
              <a:buChar char="•"/>
            </a:pPr>
            <a:r>
              <a:rPr lang="en-US" sz="16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atributos — </a:t>
            </a:r>
            <a:r>
              <a:rPr lang="en-US" sz="1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colunas olhando o dado todo já é vazamento.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8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</a:t>
            </a: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17/08/2026    ·    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 × transform e o vazamento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clássico: dar </a:t>
            </a:r>
            <a:r>
              <a:rPr lang="en-US" sz="17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no dataset inteiro</a:t>
            </a:r>
            <a:r>
              <a:rPr lang="en-US" sz="17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(treino + teste) antes de separar.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11002975" cy="2560320"/>
          </a:xfrm>
          <a:prstGeom prst="roundRect">
            <a:avLst>
              <a:gd name="adj" fmla="val 3214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1027145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ERRADO — o scaler 'vê' o teste ao calcular média/desvio: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= StandardScaler().fit(X)    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usou treino + teste!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CERTO — fit só no treino: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= StandardScaler().fit(X_train)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X_test_ok = sc.transform(X_test)      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teste só recebe transform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= aprender; transform = aplicar. O teste nunca entra no fit — senão a avaliação fica otimista (vazamento).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o Pipeline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Encadeia pré-processamento e modelo e aprende tudo só no treino.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</a:t>
            </a:r>
            <a:endParaRPr lang="en-US" sz="2800" dirty="0"/>
          </a:p>
        </p:txBody>
      </p:sp>
      <p:pic>
        <p:nvPicPr>
          <p:cNvPr id="5" name="Image 0" descr="figuras_aula5/f3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554480"/>
            <a:ext cx="7772400" cy="2916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chamar fit no Pipeline, ele ajusta o scaler/encoder apenas no treino; predict aplica as mesmas transformações ao teste.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ColumnTransformer: cada tipo de coluna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02975" cy="2743200"/>
          </a:xfrm>
          <a:prstGeom prst="roundRect">
            <a:avLst>
              <a:gd name="adj" fmla="val 300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714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sklearn.compose import ColumnTransformer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StandardScaler, OneHotEncoder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 = </a:t>
            </a:r>
            <a:r>
              <a:rPr lang="en-US" sz="14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ColumnTransformer</a:t>
            </a: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("num", </a:t>
            </a:r>
            <a:r>
              <a:rPr lang="en-US" sz="14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 </a:t>
            </a:r>
            <a:r>
              <a:rPr lang="en-US" sz="14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colunas_numericas</a:t>
            </a: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("cat", </a:t>
            </a:r>
            <a:r>
              <a:rPr lang="en-US" sz="14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OneHotEncoder</a:t>
            </a: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  </a:t>
            </a:r>
            <a:r>
              <a:rPr lang="en-US" sz="145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colunas_categoricas</a:t>
            </a: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 as numéricas e codifica as categóricas — cada grupo com seu tratamento, em um só objeto.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pré-processamento + modelo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1002975" cy="3200400"/>
          </a:xfrm>
          <a:prstGeom prst="roundRect">
            <a:avLst>
              <a:gd name="adj" fmla="val 2571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= Pipeline([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("prep", prep),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o ColumnTransformer acima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("clf",  LogisticRegression()),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modelo.fit(X_tr, y_tr)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ajusta scaler/encoder SO no treino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modelo.predict(X_test)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aplica as mesmas transformacoes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objeto faz o pré-processamento e a previsão — juntos e na ordem certa.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Pipeline evita o vazamento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só no treino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ajusta as transformações apenas com os dados de treino.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sem reajustar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 (e em produção) ele usa as estatísticas já aprendidas.</a:t>
            </a:r>
            <a:endParaRPr lang="en-US" sz="1700" dirty="0"/>
          </a:p>
          <a:p>
            <a:pPr marL="254000" indent="-254000">
              <a:buSzPct val="100000"/>
              <a:buChar char="•"/>
            </a:pPr>
            <a:r>
              <a:rPr lang="en-US" sz="17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na validação cruzada — </a:t>
            </a: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 o pré-processamento a cada fold, automaticamente (Aula 6).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01/09/2026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 boas práticas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Padronizar/imputar antes de separar treino e teste.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hiperparâmetros olhando o teste.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várias vezes no teste.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o pré-processamento fora do Pipeline.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18608" cy="41148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598768" y="205740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8768" y="2697480"/>
            <a:ext cx="467852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o teste antes de qualquer coisa.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todo o pré-processamento no Pipeline.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na validação; teste só no fim.</a:t>
            </a:r>
            <a:endParaRPr lang="en-US" sz="15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Estratifique e fixe a semente.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79" y="1338798"/>
            <a:ext cx="3931920" cy="36317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pt-BR" sz="23000" b="1" dirty="0">
                <a:solidFill>
                  <a:srgbClr val="E9F5F3"/>
                </a:solidFill>
                <a:latin typeface="Cambria"/>
              </a:rPr>
              <a:t>4</a:t>
            </a:r>
            <a:endParaRPr sz="23000" b="1" dirty="0">
              <a:solidFill>
                <a:srgbClr val="E9F5F3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94360" y="233172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30964"/>
            <a:ext cx="19202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PARTE </a:t>
            </a:r>
            <a:r>
              <a:rPr lang="pt-BR" sz="1200" b="1" dirty="0">
                <a:solidFill>
                  <a:srgbClr val="FFFFFF"/>
                </a:solidFill>
                <a:latin typeface="Calibri"/>
              </a:rPr>
              <a:t>4</a:t>
            </a:r>
            <a:endParaRPr sz="1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dirty="0" err="1">
                <a:solidFill>
                  <a:srgbClr val="12303A"/>
                </a:solidFill>
                <a:latin typeface="Cambria"/>
              </a:rPr>
              <a:t>Além</a:t>
            </a:r>
            <a:r>
              <a:rPr sz="3100" b="1" dirty="0">
                <a:solidFill>
                  <a:srgbClr val="12303A"/>
                </a:solidFill>
                <a:latin typeface="Cambria"/>
              </a:rPr>
              <a:t> da sala: hold-out e pipelines no </a:t>
            </a:r>
            <a:r>
              <a:rPr sz="3100" b="1" dirty="0" err="1">
                <a:solidFill>
                  <a:srgbClr val="12303A"/>
                </a:solidFill>
                <a:latin typeface="Cambria"/>
              </a:rPr>
              <a:t>mundo</a:t>
            </a:r>
            <a:r>
              <a:rPr sz="3100" b="1" dirty="0">
                <a:solidFill>
                  <a:srgbClr val="12303A"/>
                </a:solidFill>
                <a:latin typeface="Cambria"/>
              </a:rPr>
              <a:t>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Aula 05 -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01/09/2026    ·   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02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2303A"/>
                </a:solidFill>
                <a:latin typeface="Cambria"/>
              </a:rPr>
              <a:t>Produção: skew e drift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11000232" cy="100584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41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2303A"/>
                </a:solidFill>
                <a:latin typeface="Calibri"/>
              </a:rPr>
              <a:t>Terminado o teste, com tudo validado, o modelo entra em </a:t>
            </a:r>
            <a:r>
              <a:rPr sz="1800" b="1">
                <a:solidFill>
                  <a:srgbClr val="0B5A54"/>
                </a:solidFill>
                <a:latin typeface="Calibri"/>
              </a:rPr>
              <a:t>produção</a:t>
            </a:r>
            <a:r>
              <a:rPr sz="1800" b="0">
                <a:solidFill>
                  <a:srgbClr val="12303A"/>
                </a:solidFill>
                <a:latin typeface="Calibri"/>
              </a:rPr>
              <a:t> (uso geral). Aí surgem dois problemas, em </a:t>
            </a:r>
            <a:r>
              <a:rPr sz="1800" b="1">
                <a:solidFill>
                  <a:srgbClr val="0B5A54"/>
                </a:solidFill>
                <a:latin typeface="Calibri"/>
              </a:rPr>
              <a:t>momentos diferentes</a:t>
            </a:r>
            <a:r>
              <a:rPr sz="1800" b="0">
                <a:solidFill>
                  <a:srgbClr val="12303A"/>
                </a:solidFill>
                <a:latin typeface="Calibri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5317236" cy="329184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770632"/>
            <a:ext cx="46771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5A54"/>
                </a:solidFill>
                <a:latin typeface="Cambria"/>
              </a:rPr>
              <a:t>Skew — no deploy (AGORA)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67715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•  </a:t>
            </a:r>
            <a:r>
              <a:rPr sz="1400" b="1">
                <a:solidFill>
                  <a:srgbClr val="12303A"/>
                </a:solidFill>
                <a:latin typeface="Calibri"/>
              </a:rPr>
              <a:t>O que é — </a:t>
            </a:r>
            <a:r>
              <a:rPr sz="1400" b="0">
                <a:solidFill>
                  <a:srgbClr val="475569"/>
                </a:solidFill>
                <a:latin typeface="Calibri"/>
              </a:rPr>
              <a:t>treino e produção tratam os dados de formas diferentes (ex.: esqueceram de padronizar).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•  </a:t>
            </a:r>
            <a:r>
              <a:rPr sz="1400" b="1">
                <a:solidFill>
                  <a:srgbClr val="12303A"/>
                </a:solidFill>
                <a:latin typeface="Calibri"/>
              </a:rPr>
              <a:t>Impacto — </a:t>
            </a:r>
            <a:r>
              <a:rPr sz="1400" b="0">
                <a:solidFill>
                  <a:srgbClr val="475569"/>
                </a:solidFill>
                <a:latin typeface="Calibri"/>
              </a:rPr>
              <a:t>ótimo no teste, ruim em produção — falha silenciosa.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•  </a:t>
            </a:r>
            <a:r>
              <a:rPr sz="1400" b="1">
                <a:solidFill>
                  <a:srgbClr val="12303A"/>
                </a:solidFill>
                <a:latin typeface="Calibri"/>
              </a:rPr>
              <a:t>Defesa — </a:t>
            </a:r>
            <a:r>
              <a:rPr sz="1400" b="0">
                <a:solidFill>
                  <a:srgbClr val="475569"/>
                </a:solidFill>
                <a:latin typeface="Calibri"/>
              </a:rPr>
              <a:t>o MESMO Pipeline no treino e em produção.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2514600"/>
            <a:ext cx="5317236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7396" y="2770632"/>
            <a:ext cx="46771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B5A54"/>
                </a:solidFill>
                <a:latin typeface="Cambria"/>
              </a:rPr>
              <a:t>Drift — com o tempo (DEPOIS)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7396" y="3383280"/>
            <a:ext cx="467715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•  </a:t>
            </a:r>
            <a:r>
              <a:rPr sz="1400" b="1">
                <a:solidFill>
                  <a:srgbClr val="12303A"/>
                </a:solidFill>
                <a:latin typeface="Calibri"/>
              </a:rPr>
              <a:t>O que é — </a:t>
            </a:r>
            <a:r>
              <a:rPr sz="1400" b="0">
                <a:solidFill>
                  <a:srgbClr val="475569"/>
                </a:solidFill>
                <a:latin typeface="Calibri"/>
              </a:rPr>
              <a:t>os dados mudam com o tempo e saem da distribuição do treino.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•  </a:t>
            </a:r>
            <a:r>
              <a:rPr sz="1400" b="1">
                <a:solidFill>
                  <a:srgbClr val="12303A"/>
                </a:solidFill>
                <a:latin typeface="Calibri"/>
              </a:rPr>
              <a:t>Impacto — </a:t>
            </a:r>
            <a:r>
              <a:rPr sz="1400" b="0">
                <a:solidFill>
                  <a:srgbClr val="475569"/>
                </a:solidFill>
                <a:latin typeface="Calibri"/>
              </a:rPr>
              <a:t>o modelo era bom e vai piorando.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400" b="1">
                <a:solidFill>
                  <a:srgbClr val="0F766E"/>
                </a:solidFill>
                <a:latin typeface="Calibri"/>
              </a:rPr>
              <a:t>•  </a:t>
            </a:r>
            <a:r>
              <a:rPr sz="1400" b="1">
                <a:solidFill>
                  <a:srgbClr val="12303A"/>
                </a:solidFill>
                <a:latin typeface="Calibri"/>
              </a:rPr>
              <a:t>Defesa — </a:t>
            </a:r>
            <a:r>
              <a:rPr sz="1400" b="0">
                <a:solidFill>
                  <a:srgbClr val="475569"/>
                </a:solidFill>
                <a:latin typeface="Calibri"/>
              </a:rPr>
              <a:t>monitorar os dados novos e re-treinar.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43600"/>
            <a:ext cx="11000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Skew = problema de espaço (treino ≠ produção); drift = problema de tempo (o mundo muda).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Aula 05 - Consultoria Especializada em Ciência de Dados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01/09/2026    ·   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02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2303A"/>
                </a:solidFill>
                <a:latin typeface="Cambria"/>
              </a:rPr>
              <a:t>Hold-out no tempo: teste é o futuro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11000232" cy="96012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2303A"/>
                </a:solidFill>
                <a:latin typeface="Calibri"/>
              </a:rPr>
              <a:t>Com data, o corte é por </a:t>
            </a:r>
            <a:r>
              <a:rPr sz="1800" b="1">
                <a:solidFill>
                  <a:srgbClr val="0B5A54"/>
                </a:solidFill>
                <a:latin typeface="Calibri"/>
              </a:rPr>
              <a:t>tempo</a:t>
            </a:r>
            <a:r>
              <a:rPr sz="1800" b="0">
                <a:solidFill>
                  <a:srgbClr val="12303A"/>
                </a:solidFill>
                <a:latin typeface="Calibri"/>
              </a:rPr>
              <a:t>: treina no </a:t>
            </a:r>
            <a:r>
              <a:rPr sz="1800" b="1">
                <a:solidFill>
                  <a:srgbClr val="0B5A54"/>
                </a:solidFill>
                <a:latin typeface="Calibri"/>
              </a:rPr>
              <a:t>passado</a:t>
            </a:r>
            <a:r>
              <a:rPr sz="1800" b="0">
                <a:solidFill>
                  <a:srgbClr val="12303A"/>
                </a:solidFill>
                <a:latin typeface="Calibri"/>
              </a:rPr>
              <a:t>, testa no </a:t>
            </a:r>
            <a:r>
              <a:rPr sz="1800" b="1">
                <a:solidFill>
                  <a:srgbClr val="0B5A54"/>
                </a:solidFill>
                <a:latin typeface="Calibri"/>
              </a:rPr>
              <a:t>futuro</a:t>
            </a:r>
            <a:r>
              <a:rPr sz="1800" b="0">
                <a:solidFill>
                  <a:srgbClr val="12303A"/>
                </a:solidFill>
                <a:latin typeface="Calibri"/>
              </a:rPr>
              <a:t> — nunca sorteie.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11000232" cy="974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1" dirty="0">
                <a:solidFill>
                  <a:srgbClr val="0F766E"/>
                </a:solidFill>
                <a:latin typeface="Calibri"/>
              </a:rPr>
              <a:t>•  </a:t>
            </a:r>
            <a:r>
              <a:rPr sz="1550" b="1" dirty="0">
                <a:solidFill>
                  <a:srgbClr val="12303A"/>
                </a:solidFill>
                <a:latin typeface="Calibri"/>
              </a:rPr>
              <a:t>Validar o </a:t>
            </a:r>
            <a:r>
              <a:rPr sz="1550" b="1" dirty="0" err="1">
                <a:solidFill>
                  <a:srgbClr val="12303A"/>
                </a:solidFill>
                <a:latin typeface="Calibri"/>
              </a:rPr>
              <a:t>modelo</a:t>
            </a:r>
            <a:r>
              <a:rPr sz="1550" b="1" dirty="0">
                <a:solidFill>
                  <a:srgbClr val="12303A"/>
                </a:solidFill>
                <a:latin typeface="Calibri"/>
              </a:rPr>
              <a:t> —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segure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os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últimos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períodos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conhecidos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como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teste (ex.: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treina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2000–2023,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prevê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2024–2025) e compare com o real.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550" b="1" dirty="0">
                <a:solidFill>
                  <a:srgbClr val="0F766E"/>
                </a:solidFill>
                <a:latin typeface="Calibri"/>
              </a:rPr>
              <a:t>•  </a:t>
            </a:r>
            <a:r>
              <a:rPr sz="1550" b="1" dirty="0">
                <a:solidFill>
                  <a:srgbClr val="12303A"/>
                </a:solidFill>
                <a:latin typeface="Calibri"/>
              </a:rPr>
              <a:t>Na hora de </a:t>
            </a:r>
            <a:r>
              <a:rPr sz="1550" b="1" dirty="0" err="1">
                <a:solidFill>
                  <a:srgbClr val="12303A"/>
                </a:solidFill>
                <a:latin typeface="Calibri"/>
              </a:rPr>
              <a:t>valer</a:t>
            </a:r>
            <a:r>
              <a:rPr sz="1550" b="1" dirty="0">
                <a:solidFill>
                  <a:srgbClr val="12303A"/>
                </a:solidFill>
                <a:latin typeface="Calibri"/>
              </a:rPr>
              <a:t> — 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re-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treine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com TODOS os dados até o corte; a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separação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serviu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só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 para </a:t>
            </a:r>
            <a:r>
              <a:rPr sz="1550" b="0" dirty="0" err="1">
                <a:solidFill>
                  <a:srgbClr val="475569"/>
                </a:solidFill>
                <a:latin typeface="Calibri"/>
              </a:rPr>
              <a:t>medir</a:t>
            </a:r>
            <a:r>
              <a:rPr sz="1550" b="0" dirty="0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0"/>
            <a:ext cx="11000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Os períodos passados ficam no treino (ensinam a sazonalidade); só o trecho de teste, depois do corte, sai.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Aula 05 -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01/09/2026    ·   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02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2303A"/>
                </a:solidFill>
                <a:latin typeface="Cambria"/>
              </a:rPr>
              <a:t>Global holdout: validar o PRODUTO, não o modelo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11000232" cy="105156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412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2303A"/>
                </a:solidFill>
                <a:latin typeface="Calibri"/>
              </a:rPr>
              <a:t>Mudança de assunto: aqui </a:t>
            </a:r>
            <a:r>
              <a:rPr sz="1800" b="1">
                <a:solidFill>
                  <a:srgbClr val="0B5A54"/>
                </a:solidFill>
                <a:latin typeface="Calibri"/>
              </a:rPr>
              <a:t>não validamos um modelo</a:t>
            </a:r>
            <a:r>
              <a:rPr sz="1800" b="0">
                <a:solidFill>
                  <a:srgbClr val="12303A"/>
                </a:solidFill>
                <a:latin typeface="Calibri"/>
              </a:rPr>
              <a:t> — medimos se o </a:t>
            </a:r>
            <a:r>
              <a:rPr sz="1800" b="1">
                <a:solidFill>
                  <a:srgbClr val="0B5A54"/>
                </a:solidFill>
                <a:latin typeface="Calibri"/>
              </a:rPr>
              <a:t>produto melhorou de verdade</a:t>
            </a:r>
            <a:r>
              <a:rPr sz="1800" b="0">
                <a:solidFill>
                  <a:srgbClr val="12303A"/>
                </a:solidFill>
                <a:latin typeface="Calibri"/>
              </a:rPr>
              <a:t> (algo que vocês farão na carreira).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97480"/>
            <a:ext cx="11000232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•  </a:t>
            </a:r>
            <a:r>
              <a:rPr sz="1500" b="1">
                <a:solidFill>
                  <a:srgbClr val="12303A"/>
                </a:solidFill>
                <a:latin typeface="Calibri"/>
              </a:rPr>
              <a:t>A ideia — </a:t>
            </a:r>
            <a:r>
              <a:rPr sz="1500" b="0">
                <a:solidFill>
                  <a:srgbClr val="475569"/>
                </a:solidFill>
                <a:latin typeface="Calibri"/>
              </a:rPr>
              <a:t>1–5% dos usuários ficam na versão antiga por meses; o resto recebe as novidades.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•  </a:t>
            </a:r>
            <a:r>
              <a:rPr sz="1500" b="1">
                <a:solidFill>
                  <a:srgbClr val="12303A"/>
                </a:solidFill>
                <a:latin typeface="Calibri"/>
              </a:rPr>
              <a:t>Mede — </a:t>
            </a:r>
            <a:r>
              <a:rPr sz="1500" b="0">
                <a:solidFill>
                  <a:srgbClr val="475569"/>
                </a:solidFill>
                <a:latin typeface="Calibri"/>
              </a:rPr>
              <a:t>comparando os dois grupos num indicador de negócio (receita por usuário, retenção…).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•  </a:t>
            </a:r>
            <a:r>
              <a:rPr sz="1500" b="1">
                <a:solidFill>
                  <a:srgbClr val="12303A"/>
                </a:solidFill>
                <a:latin typeface="Calibri"/>
              </a:rPr>
              <a:t>A/B × global holdout — </a:t>
            </a:r>
            <a:r>
              <a:rPr sz="1500" b="0">
                <a:solidFill>
                  <a:srgbClr val="475569"/>
                </a:solidFill>
                <a:latin typeface="Calibri"/>
              </a:rPr>
              <a:t>o A/B testa UMA mudança; o global holdout mede o efeito de TUDO, no longo prazo.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0F766E"/>
                </a:solidFill>
                <a:latin typeface="Calibri"/>
              </a:rPr>
              <a:t>•  </a:t>
            </a:r>
            <a:r>
              <a:rPr sz="1500" b="1">
                <a:solidFill>
                  <a:srgbClr val="12303A"/>
                </a:solidFill>
                <a:latin typeface="Calibri"/>
              </a:rPr>
              <a:t>Exemplo — </a:t>
            </a:r>
            <a:r>
              <a:rPr sz="1500" b="0">
                <a:solidFill>
                  <a:srgbClr val="475569"/>
                </a:solidFill>
                <a:latin typeface="Calibri"/>
              </a:rPr>
              <a:t>em 3 meses, receita/usuário: R$ 42 (antigo) × R$ 45 (novidades) = +7%. Se supera o ruído e nada piora, valeu.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0"/>
            <a:ext cx="11000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Mesmo nome 'hold-out', outro uso: aqui é para avaliar o NEGÓCIO, não treinar um modelo.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Aula 05 -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01/09/2026    ·  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10002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2303A"/>
                </a:solidFill>
                <a:latin typeface="Cambria"/>
              </a:rPr>
              <a:t>Um corte só é jogar a moeda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11000232" cy="960120"/>
          </a:xfrm>
          <a:prstGeom prst="roundRect">
            <a:avLst>
              <a:gd name="adj" fmla="val 6000"/>
            </a:avLst>
          </a:prstGeom>
          <a:solidFill>
            <a:srgbClr val="E9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37160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12303A"/>
                </a:solidFill>
                <a:latin typeface="Calibri"/>
              </a:rPr>
              <a:t>Avaliar com uma </a:t>
            </a:r>
            <a:r>
              <a:rPr sz="1800" b="1">
                <a:solidFill>
                  <a:srgbClr val="0B5A54"/>
                </a:solidFill>
                <a:latin typeface="Calibri"/>
              </a:rPr>
              <a:t>única divisão treino/teste</a:t>
            </a:r>
            <a:r>
              <a:rPr sz="1800" b="0">
                <a:solidFill>
                  <a:srgbClr val="12303A"/>
                </a:solidFill>
                <a:latin typeface="Calibri"/>
              </a:rPr>
              <a:t> depende da sorte do sorteio — a nota </a:t>
            </a:r>
            <a:r>
              <a:rPr sz="1800" b="1">
                <a:solidFill>
                  <a:srgbClr val="0B5A54"/>
                </a:solidFill>
                <a:latin typeface="Calibri"/>
              </a:rPr>
              <a:t>balança conforme o corte</a:t>
            </a:r>
            <a:r>
              <a:rPr sz="1800" b="0">
                <a:solidFill>
                  <a:srgbClr val="12303A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743200"/>
            <a:ext cx="1100023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•  </a:t>
            </a:r>
            <a:r>
              <a:rPr sz="1600" b="1">
                <a:solidFill>
                  <a:srgbClr val="12303A"/>
                </a:solidFill>
                <a:latin typeface="Calibri"/>
              </a:rPr>
              <a:t>O risco — </a:t>
            </a:r>
            <a:r>
              <a:rPr sz="1600" b="0">
                <a:solidFill>
                  <a:srgbClr val="475569"/>
                </a:solidFill>
                <a:latin typeface="Calibri"/>
              </a:rPr>
              <a:t>um corte 'fácil' infla a nota; um 'difícil' a derruba — nenhum é o desempenho verdadeiro.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•  </a:t>
            </a:r>
            <a:r>
              <a:rPr sz="1600" b="1">
                <a:solidFill>
                  <a:srgbClr val="12303A"/>
                </a:solidFill>
                <a:latin typeface="Calibri"/>
              </a:rPr>
              <a:t>A ideia melhor — </a:t>
            </a:r>
            <a:r>
              <a:rPr sz="1600" b="0">
                <a:solidFill>
                  <a:srgbClr val="475569"/>
                </a:solidFill>
                <a:latin typeface="Calibri"/>
              </a:rPr>
              <a:t>dividir os dados em várias partes, treinar e testar em cada uma e tirar a MÉDIA.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•  </a:t>
            </a:r>
            <a:r>
              <a:rPr sz="1600" b="1">
                <a:solidFill>
                  <a:srgbClr val="12303A"/>
                </a:solidFill>
                <a:latin typeface="Calibri"/>
              </a:rPr>
              <a:t>Resultado — </a:t>
            </a:r>
            <a:r>
              <a:rPr sz="1600" b="0">
                <a:solidFill>
                  <a:srgbClr val="475569"/>
                </a:solidFill>
                <a:latin typeface="Calibri"/>
              </a:rPr>
              <a:t>uma estimativa estável, que não depende de um sorteio único.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0"/>
            <a:ext cx="110002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Calibri"/>
              </a:rPr>
              <a:t>É a validação cruzada — tema da próxima aula (Aula 06).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Aula 05 - Consultoria Especializada em Ciência de Dados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85632" y="64282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Calibri"/>
              </a:rPr>
              <a:t>01/09/2026    ·   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8B22D1E-9A00-2D25-34E4-55C4124FB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813" y="1354659"/>
            <a:ext cx="3161490" cy="311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9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5CF992-CA62-44D4-B908-F12135152744}"/>
</file>

<file path=customXml/itemProps2.xml><?xml version="1.0" encoding="utf-8"?>
<ds:datastoreItem xmlns:ds="http://schemas.openxmlformats.org/officeDocument/2006/customXml" ds:itemID="{DCDE5665-B63C-49FA-9F39-FD61982062B1}"/>
</file>

<file path=customXml/itemProps3.xml><?xml version="1.0" encoding="utf-8"?>
<ds:datastoreItem xmlns:ds="http://schemas.openxmlformats.org/officeDocument/2006/customXml" ds:itemID="{9E009234-4848-4916-B5E0-6B100809AFB3}"/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2014</Words>
  <Application>Microsoft Office PowerPoint</Application>
  <PresentationFormat>Widescreen</PresentationFormat>
  <Paragraphs>240</Paragraphs>
  <Slides>25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CD1 Aula 5</dc:title>
  <dc:subject>PptxGenJS Presentation</dc:subject>
  <dc:creator>Consultoria</dc:creator>
  <cp:lastModifiedBy>Giovani Giulio</cp:lastModifiedBy>
  <cp:revision>8</cp:revision>
  <dcterms:created xsi:type="dcterms:W3CDTF">2026-08-15T23:28:56Z</dcterms:created>
  <dcterms:modified xsi:type="dcterms:W3CDTF">2026-08-31T01:53:44Z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