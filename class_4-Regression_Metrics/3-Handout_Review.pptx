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59" r:id="rId4"/>
    <p:sldId id="260" r:id="rId5"/>
    <p:sldId id="261" r:id="rId6"/>
    <p:sldId id="265" r:id="rId7"/>
    <p:sldId id="266" r:id="rId8"/>
    <p:sldId id="267" r:id="rId9"/>
    <p:sldId id="268" r:id="rId10"/>
    <p:sldId id="262" r:id="rId11"/>
    <p:sldId id="263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79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AULA 04 — REVISÃO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60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regressão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94360" y="44805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· Aula 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conceitos da aula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Erro, MAE, RMSE, R² e MAPE.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(resíduo): a base de tudo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= valor real − valor previsto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= o modelo subestimou (real acima); negativo = superestimou.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ao quadrado / módulo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os erros não se cancelarem ao somar (positivos com negativos).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 e MAPE são formas diferentes de RESUMIR esses erros num número.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e RMSE — o erro na unidade do alvo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média de |erro|      ·      RMSE = √( média de erro² 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típico, lido direto na unidade: 'em média erramos X'. Ex.: erros 5,3,2,6,44 → MAE = 12.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 ao quadrado antes de somar → pune com força o erro grande. Mesmos erros → RMSE ≈ 20.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≥ MAE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a diferença entre eles, mais há erros fora do padrão (outliers).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— o placar até 1 (pode ser negativo)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(COEFICIENTE DE DETERMINAÇÃO)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(soma dos erros² do modelo) ÷ (soma dos desvios² da média)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fração da variância do alvo que o modelo explica. 1 = perfeito; 0 = igual a prever a média.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NEGATIVO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é pior que prever a média (a soma dos erros² supera a variância).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'soma dos desvios² da média'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VARIÂNCIA do alvo — o quanto os valores reais variam entre si.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das questões 4, 5 e 9 do formulário.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'um R² do erro' e 'outro do Pearson'?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325880"/>
          </a:xfrm>
          <a:prstGeom prst="roundRect">
            <a:avLst>
              <a:gd name="adj" fmla="val 620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01800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O R² é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 coeficiente de determinação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fração da variância do alvo que o modelo explica. Avaliar o modelo (Aula 4) e o 'coeficiente de determinação' são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coisa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304495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(soma dos erros² do modelo) ÷ (soma dos desvios² da média) = 1 − SSres ÷ SStot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os resíduos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MODELO: entra a soma dos erros² das previsões.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máximo 1; pode ser negativo (modelo pior que a média).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coeficiente de Pearson e a ponte com o R²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PEARSON (R)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covariância(X, Y) ÷ ( desvio de X × desvio de Y )     ·     r vai de −1 a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Pearson mede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força e a direção da relação LINEAR entre DUAS variáveis — não depende de modelo nenhum.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regressão linear SIMPLES (1 preditor, mínimos quadrados), R² = r² — o R² do modelo é o quadrado do Pearson entre x e y.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geral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qualquer regressão por mínimos quadrados, R² = [Pearson entre o y real e o ŷ previsto]².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Diferenças e cuidados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00232" cy="36210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 (→ r²)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(determinação)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 linear entre 2 variáveis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da variância de y o modelo explica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cov(X,Y) ÷ (desvioX × desvioY)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SSres ÷ SStot (usa os resíduos)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r: −1 a 1  (r²: 0 a 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1, pode ser NEGATIVO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do modelo?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— só das 2 variáveis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usa as previsões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coincidem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simples: R² = r²(x, 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7E4FAB24-1DB2-F494-DF49-B1496982A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375" y="339404"/>
            <a:ext cx="3305636" cy="94310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287156D-7DDC-EBF5-37E1-1AD4736C0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581" y="109728"/>
            <a:ext cx="3787118" cy="12385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os dois dão o mesmo número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1617" y="13716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dados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(1, 2, 3, 4, 5)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(2, 5, 6, 8, 9)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256032"/>
              </p:ext>
            </p:extLst>
          </p:nvPr>
        </p:nvGraphicFramePr>
        <p:xfrm>
          <a:off x="594360" y="2606040"/>
          <a:ext cx="11000232" cy="2743200"/>
        </p:xfrm>
        <a:graphic>
          <a:graphicData uri="http://schemas.openxmlformats.org/drawingml/2006/table">
            <a:tbl>
              <a:tblPr/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r(X, 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0,98²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da regressão linear de Y em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o modelo fosse </a:t>
                      </a:r>
                      <a:r>
                        <a:rPr lang="en-US" sz="150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ruim</a:t>
                      </a: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(Y=(3,3,3,3,3)): R²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regressão simples, R² = r² (0,96). Mas troque por um modelo ruim e o R² despenca para −1,5, enquanto o Pearson entre X e Y continua 0,98 — porque r mede a RELAÇÃO das variáveis, e o R² mede a qualidade do MODELO.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 — o erro em porcentagem (e a armadilha)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média de ( |erro| ÷ valor real ) × 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em %, que não depende do tamanho do alvo: 'erramos, em média, 15%'.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 (questão 7)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pelo valor real — quando ele é perto de ZERO, o % explode (errar 5 sobre 5 = 100%).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métricas entre </a:t>
            </a:r>
            <a:r>
              <a:rPr lang="en-US" sz="28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Têm unidade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 RMSE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vêm na unidade do alvo (minutos, reais…).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comparam entre alvos de escalas/unidades diferentes.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8 minutos × 8 mil reais não diz nada.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unidade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 MAPE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adimensionais (fração e %).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servem para comparar alvos de escalas diferentes.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um par: um erro em unidade + o R².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da Aula 04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questão e, em seguida, a resposta.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de uma previsão é definido como: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previsto − média dos valores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− valor previsto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|valor real| ÷ valor previsto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um número entre 0 e 1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de uma previsão é definido como: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previsto − média dos valores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valor real − valor previsto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|valor real| ÷ valor previsto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um número entre 0 e 1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MAE (erro absoluto médio) é: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dos erros sem sinal (em módulo)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 da média dos erros ao quadrado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expresso em porcentagem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variância dos valores reais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MAE (erro absoluto médio) é: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a média dos erros sem sinal (em módulo)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 da média dos erros ao quadrado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expresso em porcentagem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variância dos valores reais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RMSE é mais sensível a erros grandes do que o MAE?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divide cada erro pelo valor real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ignora os erros pequenos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usa a mediana em vez da média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eleva cada erro ao quadrado antes de somar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RMSE é mais sensível a erros grandes do que o MAE?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divide cada erro pelo valor real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ignora os erros pequenos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usa a mediana em vez da média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porque eleva cada erro ao quadrado antes de somar     ✓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faixa de valores do R², é correto afirmar: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 sempre de 0 a 1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medido na mesma unidade do alvo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no máximo 1 e pode ser negativo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menor, melhor o modelo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faixa de valores do R², é correto afirmar: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 sempre de 0 a 1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medido na mesma unidade do alvo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vale no máximo 1 e pode ser negativo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menor, melhor o modelo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R² negativo significa que o modelo: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acertou todas as previsões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pior do que simplesmente prever sempre a média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erro igual a zero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melhor modelo possível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R² negativo significa que o modelo: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acertou todas as previsões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é pior do que simplesmente prever sempre a média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erro igual a zero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melhor modelo possível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MAPE expressa o erro: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mesma unidade do alvo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 ao quadrado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fração da variância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porcentagem do valor real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MAPE expressa o erro: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mesma unidade do alvo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 ao quadrado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fração da variância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em porcentagem do valor real     ✓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principal armadilha do MAPE aparece quando: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reais são muito grandes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alvo é uma categoria (sim/não)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valores reais próximos de zero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linear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principal armadilha do MAPE aparece quando: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reais são muito grandes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alvo é uma categoria (sim/não)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há valores reais próximos de zero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linear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dois modelos que preveem alvos de unidades/escalas diferentes (ex.: minutos × reais), o mais adequado é usar: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MAE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RMSE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máximo em unidades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R² ou o MAPE (métricas sem unidade)</a:t>
            </a: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dois modelos que preveem alvos de unidades/escalas diferentes (ex.: minutos × reais), o mais adequado é usar: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MAE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RMSE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máximo em unidades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o R² ou o MAPE (métricas sem unidade)     ✓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31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cálculo do R², a "soma dos desvios² da média" representa: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os valores reais se espalham em torno da média (a variância)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do modelo em cada previsão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previsto médio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MAPE do conjunto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32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9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cálculo do R², a "soma dos desvios² da média" representa: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o quanto os valores reais se espalham em torno da média (a variância)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do modelo em cada previsão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previsto médio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MAPE do conjunto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33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métrica para qual pergunta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9144000" cy="914400"/>
        </p:xfrm>
        <a:graphic>
          <a:graphicData uri="http://schemas.openxmlformats.org/drawingml/2006/table">
            <a:tbl>
              <a:tblPr/>
              <a:tblGrid>
                <a:gridCol w="704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pergunta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quantas unidades erramos, em média?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Erros grandes são especialmente ruins?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da variação o modelo explica?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o erro em %? (alvos sem valores ~0)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modelos de alvos diferentes?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ou MAPE (sem unidade)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quase sempre um par: um erro na unidade (MAE/RMSE) + o R².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BA93D3683C038409A0878309F352C61" ma:contentTypeVersion="4" ma:contentTypeDescription="Crie um novo documento." ma:contentTypeScope="" ma:versionID="074b36188c442a92b49a54089f1d0fdb">
  <xsd:schema xmlns:xsd="http://www.w3.org/2001/XMLSchema" xmlns:xs="http://www.w3.org/2001/XMLSchema" xmlns:p="http://schemas.microsoft.com/office/2006/metadata/properties" xmlns:ns2="84be3ff4-bd35-45b6-b3b9-42b43ac23156" targetNamespace="http://schemas.microsoft.com/office/2006/metadata/properties" ma:root="true" ma:fieldsID="134aa041acf6f39004dfe675cf405851" ns2:_="">
    <xsd:import namespace="84be3ff4-bd35-45b6-b3b9-42b43ac2315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e3ff4-bd35-45b6-b3b9-42b43ac2315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4be3ff4-bd35-45b6-b3b9-42b43ac23156" xsi:nil="true"/>
  </documentManagement>
</p:properties>
</file>

<file path=customXml/itemProps1.xml><?xml version="1.0" encoding="utf-8"?>
<ds:datastoreItem xmlns:ds="http://schemas.openxmlformats.org/officeDocument/2006/customXml" ds:itemID="{D2EEE03B-ABF5-49A1-9BCA-42C33A1992E4}"/>
</file>

<file path=customXml/itemProps2.xml><?xml version="1.0" encoding="utf-8"?>
<ds:datastoreItem xmlns:ds="http://schemas.openxmlformats.org/officeDocument/2006/customXml" ds:itemID="{0E959DA5-E0E5-4800-AEC1-4768553DB916}"/>
</file>

<file path=customXml/itemProps3.xml><?xml version="1.0" encoding="utf-8"?>
<ds:datastoreItem xmlns:ds="http://schemas.openxmlformats.org/officeDocument/2006/customXml" ds:itemID="{3A912527-9D70-4E92-B76C-32EC96B43A06}"/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2411</Words>
  <Application>Microsoft Office PowerPoint</Application>
  <PresentationFormat>Widescreen</PresentationFormat>
  <Paragraphs>300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 Aula 4 - Revisão</dc:title>
  <dc:subject>PptxGenJS Presentation</dc:subject>
  <dc:creator>Consultoria</dc:creator>
  <cp:lastModifiedBy>Giovani Giulio Tristão Thibes Vieira</cp:lastModifiedBy>
  <cp:revision>4</cp:revision>
  <dcterms:created xsi:type="dcterms:W3CDTF">2026-08-24T22:54:51Z</dcterms:created>
  <dcterms:modified xsi:type="dcterms:W3CDTF">2026-08-25T11:12:00Z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0x010100CBA93D3683C038409A0878309F352C61</vt:lpwstr>
  </property>
</Properties>
</file>