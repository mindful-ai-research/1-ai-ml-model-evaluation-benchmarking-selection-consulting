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7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87" r:id="rId3"/>
    <p:sldId id="288" r:id="rId4"/>
    <p:sldId id="257" r:id="rId5"/>
    <p:sldId id="258" r:id="rId6"/>
    <p:sldId id="259" r:id="rId7"/>
    <p:sldId id="260" r:id="rId8"/>
    <p:sldId id="273" r:id="rId9"/>
    <p:sldId id="262" r:id="rId10"/>
    <p:sldId id="261" r:id="rId11"/>
    <p:sldId id="263" r:id="rId12"/>
    <p:sldId id="264" r:id="rId13"/>
    <p:sldId id="265" r:id="rId14"/>
    <p:sldId id="266" r:id="rId15"/>
    <p:sldId id="267" r:id="rId16"/>
    <p:sldId id="289" r:id="rId17"/>
    <p:sldId id="269" r:id="rId18"/>
    <p:sldId id="270" r:id="rId19"/>
    <p:sldId id="271" r:id="rId20"/>
    <p:sldId id="275" r:id="rId21"/>
    <p:sldId id="276" r:id="rId22"/>
    <p:sldId id="290" r:id="rId23"/>
    <p:sldId id="278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381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48636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011680"/>
            <a:ext cx="11002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CONSULTORIA ESPECIALIZADA EM CIÊNCIA DE DADOS 1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94360" y="2560320"/>
            <a:ext cx="110029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Métricas de regressão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594360" y="448056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94360" y="44805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04  ·  25/08/2026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01 -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04/08/2026    ·    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curso, semana a semana (1/2)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594360" y="1554480"/>
          <a:ext cx="11000232" cy="4572000"/>
        </p:xfrm>
        <a:graphic>
          <a:graphicData uri="http://schemas.openxmlformats.org/drawingml/2006/table">
            <a:tbl>
              <a:tblPr/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20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3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Aula (Dia/Mês)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Assunto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— 04/08</a:t>
                      </a:r>
                      <a:endParaRPr lang="en-US" sz="1350" dirty="0">
                        <a:solidFill>
                          <a:schemeClr val="bg1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Introdução: fundamentos da avaliação de modelos</a:t>
                      </a:r>
                      <a:endParaRPr lang="en-US" sz="1350" dirty="0">
                        <a:solidFill>
                          <a:schemeClr val="bg1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350" dirty="0">
                        <a:solidFill>
                          <a:schemeClr val="bg1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— 11/08</a:t>
                      </a:r>
                      <a:endParaRPr lang="en-US" sz="135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Métricas de classificação I (confusão, precisão, recall, F1)</a:t>
                      </a:r>
                      <a:endParaRPr lang="en-US" sz="135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50" b="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Lançamento</a:t>
                      </a:r>
                      <a:r>
                        <a:rPr lang="en-US" sz="135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do </a:t>
                      </a:r>
                      <a:r>
                        <a:rPr lang="en-US" sz="1350" b="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</a:t>
                      </a:r>
                      <a:endParaRPr lang="en-US" sz="135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— 18/08</a:t>
                      </a:r>
                      <a:endParaRPr lang="en-US" sz="1350" dirty="0">
                        <a:solidFill>
                          <a:schemeClr val="bg1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Métricas de classificação II (ROC-AUC, PR, log-loss)</a:t>
                      </a:r>
                      <a:endParaRPr lang="en-US" sz="1350" dirty="0">
                        <a:solidFill>
                          <a:schemeClr val="bg1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350" dirty="0">
                        <a:solidFill>
                          <a:schemeClr val="bg1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— 25/08</a:t>
                      </a:r>
                      <a:endParaRPr lang="en-US" sz="135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Métricas de regressão (MAE, RMSE, R², resíduos)</a:t>
                      </a:r>
                      <a:endParaRPr lang="en-US" sz="135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Projeto: proposta</a:t>
                      </a:r>
                      <a:endParaRPr lang="en-US" sz="135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— 01/09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Validação hold-out e Pipeline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— 08/09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Validação cruzada I (k-fold, estratificado)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— 15/09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Validação cruzada II (grupos, temporal, aninhada)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— 22/09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 err="1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Busca</a:t>
                      </a: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350" dirty="0" err="1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exaustiva</a:t>
                      </a: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de </a:t>
                      </a:r>
                      <a:r>
                        <a:rPr lang="en-US" sz="1350" dirty="0" err="1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hiperparâmetros</a:t>
                      </a: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(grid search)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 err="1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</a:t>
                      </a:r>
                      <a:r>
                        <a:rPr lang="en-US" sz="135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: dados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— 29/09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Busca aleatória e menção a AutoML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01 -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04/08/2026    ·    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curso, semana a semana (2/2)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594360" y="1554480"/>
          <a:ext cx="11000232" cy="4572000"/>
        </p:xfrm>
        <a:graphic>
          <a:graphicData uri="http://schemas.openxmlformats.org/drawingml/2006/table">
            <a:tbl>
              <a:tblPr/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20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3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Aula (Dia/Mês)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Assunto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— 06/10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Curvas de validação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Desafio 3 (subst.)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— 13/10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Curvas de aprendizado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— 20/10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Seleção e comparação de modelos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 — 27/10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Limiar de decisão e calibração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— 03/11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Leakage e reprodutibilidade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— 10/11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Seleção de atributos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— 17/11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Estudo de caso integrado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— 24/11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Comunicação e reprodutibilidade dos resultados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50" b="1" dirty="0" err="1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Desafio</a:t>
                      </a:r>
                      <a:r>
                        <a:rPr lang="en-US" sz="135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6 (subst.)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— 01/12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Revisão integrada e apresentações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Apresentação final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04 -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25/08/2026    ·    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da aula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508760"/>
            <a:ext cx="11002975" cy="1371600"/>
          </a:xfrm>
          <a:prstGeom prst="roundRect">
            <a:avLst>
              <a:gd name="adj" fmla="val 60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05840" y="1508760"/>
            <a:ext cx="101800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o </a:t>
            </a:r>
            <a:r>
              <a:rPr lang="en-US" sz="21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de um modelo de regressão</a:t>
            </a:r>
            <a:r>
              <a:rPr lang="en-US" sz="21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o erro absoluto médio </a:t>
            </a:r>
            <a:r>
              <a:rPr lang="en-US" sz="21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(MAE)</a:t>
            </a:r>
            <a:r>
              <a:rPr lang="en-US" sz="21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 raiz do erro quadrático </a:t>
            </a:r>
            <a:r>
              <a:rPr lang="en-US" sz="21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(RMSE)</a:t>
            </a:r>
            <a:r>
              <a:rPr lang="en-US" sz="21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 </a:t>
            </a:r>
            <a:r>
              <a:rPr lang="en-US" sz="21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r>
              <a:rPr lang="en-US" sz="21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o erro percentual </a:t>
            </a:r>
            <a:r>
              <a:rPr lang="en-US" sz="21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(MAPE)</a:t>
            </a:r>
            <a:r>
              <a:rPr lang="en-US" sz="21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sabendo quando cada um engana.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94360" y="32004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CAMINHO DE HOJE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3611880"/>
            <a:ext cx="67665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buSzPct val="100000"/>
              <a:buChar char="•"/>
            </a:pPr>
            <a:r>
              <a:rPr lang="en-US" sz="15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e RMSE — </a:t>
            </a:r>
            <a:r>
              <a:rPr lang="en-US" sz="15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erro em minutos — e quem pune o atraso enorme.</a:t>
            </a:r>
            <a:endParaRPr lang="en-US" sz="1550" dirty="0"/>
          </a:p>
          <a:p>
            <a:pPr marL="254000" indent="-254000">
              <a:buSzPct val="100000"/>
              <a:buChar char="•"/>
            </a:pPr>
            <a:r>
              <a:rPr lang="en-US" sz="15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— </a:t>
            </a:r>
            <a:r>
              <a:rPr lang="en-US" sz="15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placar até 1: quanto melhor que 'chutar sempre o mesmo tempo' (negativo = pior que o chute).</a:t>
            </a:r>
            <a:endParaRPr lang="en-US" sz="1550" dirty="0"/>
          </a:p>
          <a:p>
            <a:pPr marL="254000" indent="-254000">
              <a:buSzPct val="100000"/>
              <a:buChar char="•"/>
            </a:pPr>
            <a:r>
              <a:rPr lang="en-US" sz="15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 — </a:t>
            </a:r>
            <a:r>
              <a:rPr lang="en-US" sz="15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erro em porcentagem — e sua armadilha.</a:t>
            </a:r>
            <a:endParaRPr lang="en-US" sz="1550" dirty="0"/>
          </a:p>
          <a:p>
            <a:pPr marL="254000" indent="-254000">
              <a:buSzPct val="100000"/>
              <a:buChar char="•"/>
            </a:pPr>
            <a:r>
              <a:rPr lang="en-US" sz="15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 — </a:t>
            </a:r>
            <a:r>
              <a:rPr lang="en-US" sz="15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gráfico que mostra onde o modelo erra.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726680" y="3200400"/>
            <a:ext cx="3886200" cy="2697480"/>
          </a:xfrm>
          <a:prstGeom prst="roundRect">
            <a:avLst>
              <a:gd name="adj" fmla="val 3051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8019288" y="3493008"/>
            <a:ext cx="3300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EXEMPLO DE HOJE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019288" y="3995928"/>
            <a:ext cx="3300984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buSzPct val="100000"/>
              <a:buChar char="•"/>
            </a:pPr>
            <a:r>
              <a:rPr lang="en-US" sz="14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de entrega — 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app prevê quantos minutos o pedido vai levar.</a:t>
            </a:r>
            <a:endParaRPr lang="en-US" sz="1400" dirty="0"/>
          </a:p>
          <a:p>
            <a:pPr marL="254000" indent="-254000">
              <a:buSzPct val="100000"/>
              <a:buChar char="•"/>
            </a:pPr>
            <a:r>
              <a:rPr lang="en-US" sz="14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teoria vale para tudo — 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preço, demanda, temperatura — muda só o número.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5943600"/>
            <a:ext cx="110029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Aula 3 (classificação: acertou/errou) para a regressão: agora a pergunta é 'quão longe' ficou a previsão.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04 -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25/08/2026    ·    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955280" y="640080"/>
            <a:ext cx="393192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3000" b="1" dirty="0">
                <a:solidFill>
                  <a:srgbClr val="E9F5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3000" dirty="0"/>
          </a:p>
        </p:txBody>
      </p:sp>
      <p:sp>
        <p:nvSpPr>
          <p:cNvPr id="5" name="Shape 3"/>
          <p:cNvSpPr/>
          <p:nvPr/>
        </p:nvSpPr>
        <p:spPr>
          <a:xfrm>
            <a:off x="594360" y="2331720"/>
            <a:ext cx="1828800" cy="47548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94360" y="23317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297180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</a:rPr>
              <a:t>A </a:t>
            </a:r>
            <a:r>
              <a:rPr lang="en-US" sz="3200" b="1" dirty="0" err="1">
                <a:solidFill>
                  <a:srgbClr val="12303A"/>
                </a:solidFill>
                <a:latin typeface="Cambria" pitchFamily="34" charset="0"/>
                <a:ea typeface="Cambria" pitchFamily="34" charset="-122"/>
              </a:rPr>
              <a:t>definição</a:t>
            </a:r>
            <a:r>
              <a:rPr lang="en-US" sz="32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</a:rPr>
              <a:t> do </a:t>
            </a:r>
            <a:r>
              <a:rPr lang="en-US" sz="3200" b="1" dirty="0" err="1">
                <a:solidFill>
                  <a:srgbClr val="12303A"/>
                </a:solidFill>
                <a:latin typeface="Cambria" pitchFamily="34" charset="0"/>
                <a:ea typeface="Cambria" pitchFamily="34" charset="-122"/>
              </a:rPr>
              <a:t>erro</a:t>
            </a:r>
            <a:endParaRPr lang="en-US" sz="3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04 -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25/08/2026    ·    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Agora o modelo prevê um número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1002975" cy="1280160"/>
          </a:xfrm>
          <a:prstGeom prst="roundRect">
            <a:avLst>
              <a:gd name="adj" fmla="val 6429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05840" y="1417320"/>
            <a:ext cx="1018001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Aula 2/3 o modelo dizia </a:t>
            </a:r>
            <a:r>
              <a:rPr lang="en-US" sz="18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'sim ou não'</a:t>
            </a:r>
            <a:r>
              <a:rPr lang="en-US" sz="18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Agora ele devolve um </a:t>
            </a:r>
            <a:r>
              <a:rPr lang="en-US" sz="18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</a:t>
            </a:r>
            <a:r>
              <a:rPr lang="en-US" sz="18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o tempo de entrega. Por isso 'acurácia' não serve — medimos </a:t>
            </a:r>
            <a:r>
              <a:rPr lang="en-US" sz="18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quantos minutos ele errou</a:t>
            </a:r>
            <a:r>
              <a:rPr lang="en-US" sz="18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2880360"/>
            <a:ext cx="1100297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buSzPct val="100000"/>
              <a:buChar char="•"/>
            </a:pPr>
            <a:r>
              <a:rPr lang="en-US" sz="16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 contínua — </a:t>
            </a:r>
            <a:r>
              <a:rPr lang="en-US" sz="1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app responde '30 minutos', não 'rápido/lento'.</a:t>
            </a:r>
            <a:endParaRPr lang="en-US" sz="1650" dirty="0"/>
          </a:p>
          <a:p>
            <a:pPr marL="254000" indent="-254000">
              <a:buSzPct val="100000"/>
              <a:buChar char="•"/>
            </a:pPr>
            <a:r>
              <a:rPr lang="en-US" sz="16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Acertar na mosca é raro — </a:t>
            </a:r>
            <a:r>
              <a:rPr lang="en-US" sz="1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quase nunca chega exatamente aos 30; o que importa é o quão perto.</a:t>
            </a:r>
            <a:endParaRPr lang="en-US" sz="1650" dirty="0"/>
          </a:p>
          <a:p>
            <a:pPr marL="254000" indent="-254000">
              <a:buSzPct val="100000"/>
              <a:buChar char="•"/>
            </a:pPr>
            <a:r>
              <a:rPr lang="en-US" sz="16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métrica resume os erros — </a:t>
            </a:r>
            <a:r>
              <a:rPr lang="en-US" sz="1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 número que responde 'de quantos minutos erramos, em média'.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04 -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25/08/2026    ·    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Erro: o quanto a previsão errou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1002975" cy="822960"/>
          </a:xfrm>
          <a:prstGeom prst="roundRect">
            <a:avLst>
              <a:gd name="adj" fmla="val 100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14400" y="1536192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82880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= valor real − valor previsto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94360" y="2377440"/>
            <a:ext cx="1100297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buSzPct val="100000"/>
              <a:buChar char="•"/>
            </a:pP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— 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cada caso, o valor real menos o que o modelo previu.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sinal — 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positivo = real acima da previsão (o modelo subestimou); negativo = real abaixo (superestimou).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importa — 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as métricas de hoje (MAE, RMSE, R², MAPE) são formas de resumir esses erros num único número.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04 -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25/08/2026    ·    18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Olhe o gráfico de erros</a:t>
            </a:r>
            <a:endParaRPr lang="en-US" sz="2800" dirty="0"/>
          </a:p>
        </p:txBody>
      </p:sp>
      <p:pic>
        <p:nvPicPr>
          <p:cNvPr id="5" name="Image 0" descr="figuras_aula4/f1_residuos.png"/>
          <p:cNvPicPr>
            <a:picLocks noChangeAspect="1"/>
          </p:cNvPicPr>
          <p:nvPr/>
        </p:nvPicPr>
        <p:blipFill>
          <a:blip r:embed="rId3"/>
          <a:srcRect l="2044" t="9346"/>
          <a:stretch>
            <a:fillRect/>
          </a:stretch>
        </p:blipFill>
        <p:spPr>
          <a:xfrm>
            <a:off x="1841389" y="1033218"/>
            <a:ext cx="8509221" cy="2602859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2CC2491C-04DA-8C34-C7B3-38C4A69AE371}"/>
              </a:ext>
            </a:extLst>
          </p:cNvPr>
          <p:cNvSpPr txBox="1"/>
          <p:nvPr/>
        </p:nvSpPr>
        <p:spPr>
          <a:xfrm rot="16200000">
            <a:off x="1367477" y="2334647"/>
            <a:ext cx="578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erro</a:t>
            </a: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AC95B9C0-7CFB-562A-6165-C9B0D4546DCC}"/>
              </a:ext>
            </a:extLst>
          </p:cNvPr>
          <p:cNvSpPr/>
          <p:nvPr/>
        </p:nvSpPr>
        <p:spPr>
          <a:xfrm>
            <a:off x="733508" y="4402055"/>
            <a:ext cx="11002975" cy="1238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buSzPct val="100000"/>
              <a:buChar char="•"/>
            </a:pPr>
            <a:r>
              <a:rPr lang="en-US" sz="17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Nuvem sem padrão em torno de 0 — </a:t>
            </a: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sinal — o modelo acerta parecido em pedidos rápidos e demorados.</a:t>
            </a:r>
            <a:endParaRPr lang="en-US" sz="1700" dirty="0"/>
          </a:p>
          <a:p>
            <a:pPr marL="254000" indent="-254000">
              <a:buSzPct val="100000"/>
              <a:buChar char="•"/>
            </a:pPr>
            <a:r>
              <a:rPr lang="en-US" sz="17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de funil — </a:t>
            </a: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erro cresce nos pedidos mais demorados — o app é confiável só nos curtos.</a:t>
            </a:r>
            <a:endParaRPr lang="en-US" sz="1700" dirty="0"/>
          </a:p>
          <a:p>
            <a:pPr marL="254000" indent="-254000">
              <a:buSzPct val="100000"/>
              <a:buChar char="•"/>
            </a:pPr>
            <a:r>
              <a:rPr lang="en-US" sz="17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/ padrão claro — </a:t>
            </a: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é simples demais e erra de forma sistemática (ex.: sempre atrasa nos longos).</a:t>
            </a:r>
            <a:endParaRPr lang="en-US" sz="1700" dirty="0"/>
          </a:p>
          <a:p>
            <a:pPr marL="254000" indent="-254000">
              <a:buSzPct val="100000"/>
              <a:buChar char="•"/>
            </a:pPr>
            <a:r>
              <a:rPr lang="en-US" sz="17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 quase todos de um lado — </a:t>
            </a: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viés: o app subestima (ou </a:t>
            </a:r>
            <a:r>
              <a:rPr lang="en-US" sz="17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superestima</a:t>
            </a: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04 -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25/08/2026    ·    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955280" y="640080"/>
            <a:ext cx="393192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3000" b="1" dirty="0">
                <a:solidFill>
                  <a:srgbClr val="E9F5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3000" dirty="0"/>
          </a:p>
        </p:txBody>
      </p:sp>
      <p:sp>
        <p:nvSpPr>
          <p:cNvPr id="5" name="Shape 3"/>
          <p:cNvSpPr/>
          <p:nvPr/>
        </p:nvSpPr>
        <p:spPr>
          <a:xfrm>
            <a:off x="594360" y="2331720"/>
            <a:ext cx="1828800" cy="47548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94360" y="23317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297180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MAE e RMSE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94360" y="448056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erro na mesma unidade do alvo — e quem se importa com os outliers.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04 -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25/08/2026    ·    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erros em 5 pedidos (aplicação)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1002975" cy="914400"/>
          </a:xfrm>
          <a:prstGeom prst="roundRect">
            <a:avLst>
              <a:gd name="adj" fmla="val 90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05840" y="1371600"/>
            <a:ext cx="101800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Aplicando </a:t>
            </a:r>
            <a:r>
              <a:rPr lang="en-US" sz="17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= real − previsto</a:t>
            </a:r>
            <a:r>
              <a:rPr lang="en-US" sz="17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aos pedidos de hoje. Guarde o </a:t>
            </a:r>
            <a:r>
              <a:rPr lang="en-US" sz="17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</a:t>
            </a:r>
            <a:r>
              <a:rPr lang="en-US" sz="17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o atraso enorme volta em toda métrica.</a:t>
            </a:r>
            <a:endParaRPr lang="en-US" sz="1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651760"/>
          <a:ext cx="11000232" cy="27432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764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Pedido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Previsto (min)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(min)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 (min)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+44  (moto quebrou)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5943600"/>
            <a:ext cx="110029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positivo = chegou depois do previsto (o app subestimou); negativo = chegou antes.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04 -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25/08/2026    ·    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MAE: de quantos minutos erramos, em média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1002975" cy="868680"/>
          </a:xfrm>
          <a:prstGeom prst="roundRect">
            <a:avLst>
              <a:gd name="adj" fmla="val 9474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14400" y="1581912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874520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= média dos erros, sem sinal  =  média dos |real − previsto|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94360" y="2514600"/>
            <a:ext cx="1100297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buSzPct val="100000"/>
              <a:buChar char="•"/>
            </a:pP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 serve — 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dizer, em minutos, o erro típico do app — leitura direta: 'em média erramos X min'.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— 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 dos 5 pedidos (sem sinal): 5, 3, 2, 6, 44 → MAE = 60/5 = 12 minutos.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Aguenta o atraso enorme — 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pedido de 44 min entra pelo valor, sem ser exagerado — o MAE não surta.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04 -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25/08/2026    ·    9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RMSE: pune com força o atraso enorme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1002975" cy="868680"/>
          </a:xfrm>
          <a:prstGeom prst="roundRect">
            <a:avLst>
              <a:gd name="adj" fmla="val 9474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14400" y="1581912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874520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= raiz da média dos erros AO QUADRADO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94360" y="2514600"/>
            <a:ext cx="1100297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buSzPct val="100000"/>
              <a:buChar char="•"/>
            </a:pP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 serve — 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um atraso grande é especialmente ruim e você quer que ele pese muito.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pesa — 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elevar ao quadrado faz o erro de 44 virar 1936 — domina a conta; a raiz devolve para minutos.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— 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mesmos 5 pedidos, RMSE ≈ 20 minutos (contra MAE = 12): o atraso de 44 min puxou o RMSE para cima.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04 -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25/08/2026    ·    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MAE vs RMSE, lado a lado</a:t>
            </a:r>
            <a:endParaRPr lang="en-US" sz="2800" dirty="0"/>
          </a:p>
        </p:txBody>
      </p:sp>
      <p:pic>
        <p:nvPicPr>
          <p:cNvPr id="5" name="Image 0" descr="figuras_aula4/f2_mae_rm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1417320"/>
            <a:ext cx="6675120" cy="29900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5943600"/>
            <a:ext cx="110029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delivery: MAE = 12 min (erro típico) e RMSE = 20 min (sente o pedido que atrasou 44). O RMSE é sempre ≥ MAE; quanto maior a diferença, mais há atrasos fora do padrão.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04 -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25/08/2026    ·    11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955280" y="640080"/>
            <a:ext cx="393192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3000" b="1" dirty="0">
                <a:solidFill>
                  <a:srgbClr val="E9F5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3000" dirty="0"/>
          </a:p>
        </p:txBody>
      </p:sp>
      <p:sp>
        <p:nvSpPr>
          <p:cNvPr id="5" name="Shape 3"/>
          <p:cNvSpPr/>
          <p:nvPr/>
        </p:nvSpPr>
        <p:spPr>
          <a:xfrm>
            <a:off x="594360" y="2331720"/>
            <a:ext cx="1828800" cy="47548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94360" y="23317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297180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R²: um placar até 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94360" y="448056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Quão melhor o modelo é do que simplesmente prever a média.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04 -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25/08/2026    ·    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R²: o app é melhor que um chute preguiçoso?</a:t>
            </a:r>
            <a:endParaRPr lang="en-US" sz="2800" dirty="0"/>
          </a:p>
        </p:txBody>
      </p:sp>
      <p:pic>
        <p:nvPicPr>
          <p:cNvPr id="5" name="Image 0" descr="figuras_aula4/f3_r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1371600"/>
            <a:ext cx="5394960" cy="3703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5943600"/>
            <a:ext cx="110029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'chute preguiçoso' é dar sempre o mesmo tempo (a média, ~39 min) para todo pedido. O R² compara o modelo com esse chute: 1,0 = perfeito; 0 = igual ao chute; negativo = pior que o chute.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04 -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25/08/2026    ·    13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R²: como se calcula o 'erro'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11002975" cy="822960"/>
          </a:xfrm>
          <a:prstGeom prst="roundRect">
            <a:avLst>
              <a:gd name="adj" fmla="val 100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14400" y="1490472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78308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1 − (soma dos erros²) ÷ (soma dos desvios²)</a:t>
            </a:r>
            <a:endParaRPr lang="en-US" sz="1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/>
        </p:nvGraphicFramePr>
        <p:xfrm>
          <a:off x="594360" y="2286000"/>
          <a:ext cx="11000232" cy="3072384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2219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Pedido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Previsto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(erro)²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Desvio</a:t>
                      </a: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= real − </a:t>
                      </a:r>
                      <a:r>
                        <a:rPr lang="en-US" sz="120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(desvio)²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1936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 err="1">
                          <a:latin typeface="Calibri" charset="0"/>
                          <a:ea typeface="Calibri" charset="0"/>
                          <a:cs typeface="Calibri" charset="0"/>
                        </a:rPr>
                        <a:t>Média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latin typeface="Calibri" charset="0"/>
                          <a:ea typeface="Calibri" charset="0"/>
                          <a:cs typeface="Calibri" charset="0"/>
                        </a:rPr>
                        <a:t>39</a:t>
                      </a: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722229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101009" y="5573268"/>
            <a:ext cx="50958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R² = 1 − 2010 ÷ 1700 =   1 – 1.18    = −0,18</a:t>
            </a:r>
            <a:endParaRPr lang="en-US" sz="2000" b="1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04 -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25/08/2026    ·    14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R²: como ler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783080"/>
            <a:ext cx="1100297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buSzPct val="100000"/>
              <a:buChar char="•"/>
            </a:pPr>
            <a:r>
              <a:rPr lang="en-US" sz="17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 serve — </a:t>
            </a: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placar até 1 que diz o quanto o modelo é melhor que dar sempre o tempo médio (pode ser negativo).</a:t>
            </a:r>
            <a:endParaRPr lang="en-US" sz="1700" dirty="0"/>
          </a:p>
          <a:p>
            <a:pPr marL="254000" indent="-254000">
              <a:buSzPct val="100000"/>
              <a:buChar char="•"/>
            </a:pPr>
            <a:r>
              <a:rPr lang="en-US" sz="17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minutos — </a:t>
            </a: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uma fração (sem unidade); por isso reporte-o SEMPRE junto do MAE ou RMSE em minutos.</a:t>
            </a:r>
            <a:endParaRPr lang="en-US" sz="1700" dirty="0"/>
          </a:p>
          <a:p>
            <a:pPr marL="254000" indent="-254000">
              <a:buSzPct val="100000"/>
              <a:buChar char="•"/>
            </a:pPr>
            <a:r>
              <a:rPr lang="en-US" sz="17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 ao comparar — </a:t>
            </a: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de problemas diferentes (delivery × preço) e </a:t>
            </a:r>
            <a:r>
              <a:rPr lang="en-US" sz="17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principalmente</a:t>
            </a: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</a:t>
            </a:r>
            <a:r>
              <a:rPr lang="en-US" sz="17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variâncias</a:t>
            </a: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diferentes</a:t>
            </a: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não é diretamente comparável.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04 -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25/08/2026    ·    15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955280" y="640080"/>
            <a:ext cx="393192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3000" b="1" dirty="0">
                <a:solidFill>
                  <a:srgbClr val="E9F5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3000" dirty="0"/>
          </a:p>
        </p:txBody>
      </p:sp>
      <p:sp>
        <p:nvSpPr>
          <p:cNvPr id="5" name="Shape 3"/>
          <p:cNvSpPr/>
          <p:nvPr/>
        </p:nvSpPr>
        <p:spPr>
          <a:xfrm>
            <a:off x="594360" y="2331720"/>
            <a:ext cx="1828800" cy="47548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94360" y="23317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297180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MAPE: o erro em porcentagem</a:t>
            </a:r>
            <a:endParaRPr lang="en-US" sz="3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04 -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25/08/2026    ·    16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MAPE: o erro em porcentagem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1002975" cy="868680"/>
          </a:xfrm>
          <a:prstGeom prst="roundRect">
            <a:avLst>
              <a:gd name="adj" fmla="val 9474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14400" y="1581912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874520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 = média de ( |erro| ÷ valor real ) × 100%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94360" y="2514600"/>
            <a:ext cx="1100297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buSzPct val="100000"/>
              <a:buChar char="•"/>
            </a:pP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 serve — 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 o erro em %, que não depende do tamanho: 'erramos, em média, 15%'.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— 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 previsto 30, real 35 → erro 5 sobre 35 = 14%. Faz a média disso em todos os pedidos.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armadilha — 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pelo valor real: quando ele é pequeno (um pedido de 5 min, errar 5 min = 100%), o MAPE explode.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04 -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25/08/2026    ·    20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955280" y="640080"/>
            <a:ext cx="393192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3000" b="1" dirty="0">
                <a:solidFill>
                  <a:srgbClr val="E9F5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3000" dirty="0"/>
          </a:p>
        </p:txBody>
      </p:sp>
      <p:sp>
        <p:nvSpPr>
          <p:cNvPr id="5" name="Shape 3"/>
          <p:cNvSpPr/>
          <p:nvPr/>
        </p:nvSpPr>
        <p:spPr>
          <a:xfrm>
            <a:off x="594360" y="2331720"/>
            <a:ext cx="1828800" cy="47548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94360" y="23317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297180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Escolher a métrica e medir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94360" y="448056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objetivo pede uma métrica; e como calcular no scikit-learn.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04 -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25/08/2026    ·    21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 métrica pela pergunta</a:t>
            </a:r>
            <a:endParaRPr lang="en-US" sz="28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194560"/>
          <a:ext cx="11000232" cy="3200400"/>
        </p:xfrm>
        <a:graphic>
          <a:graphicData uri="http://schemas.openxmlformats.org/drawingml/2006/table">
            <a:tbl>
              <a:tblPr/>
              <a:tblGrid>
                <a:gridCol w="6675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5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você quer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Métrica indicada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erro típico em minutos, fácil de explicar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Punir os atrasos enormes (o pedido de 44 min)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 placar até 1 (melhor que o chute da média)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erro em % (só se não houver pedidos curtíssimos)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MAPE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94360" y="5943600"/>
            <a:ext cx="110029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quase sempre um par: um erro em minutos (MAE/RMSE) + o R².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04 -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25/08/2026    ·    23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Erros comuns e boas práticas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783080"/>
            <a:ext cx="5318608" cy="4114800"/>
          </a:xfrm>
          <a:prstGeom prst="roundRect">
            <a:avLst>
              <a:gd name="adj" fmla="val 20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14400" y="2057400"/>
            <a:ext cx="467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5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Erros comuns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467852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Reportar só o R², sem o erro em unidades.</a:t>
            </a:r>
            <a:endParaRPr lang="en-US" sz="15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MAPE com valores perto de zero.</a:t>
            </a:r>
            <a:endParaRPr lang="en-US" sz="15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Ignorar o gráfico de erros.</a:t>
            </a:r>
            <a:endParaRPr lang="en-US" sz="15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MAE ou RMSE (que têm unidade) entre alvos de escalas diferentes — use R² ou MAPE.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78728" y="1783080"/>
            <a:ext cx="5318608" cy="411480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598768" y="2057400"/>
            <a:ext cx="467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5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Boas práticas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598768" y="2697480"/>
            <a:ext cx="467852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MAE ou RMSE junto do R².</a:t>
            </a:r>
            <a:endParaRPr lang="en-US" sz="15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olhe os erros.</a:t>
            </a:r>
            <a:endParaRPr lang="en-US" sz="15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a métrica pelo custo do erro.</a:t>
            </a:r>
            <a:endParaRPr lang="en-US" sz="15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Meça na validação; teste só no fim.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04 -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25/08/2026    ·    23</a:t>
            </a:r>
            <a:endParaRPr lang="en-US" sz="800" dirty="0"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167BBE67-6F37-5C25-2ACD-6D39FB9E73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8723" y="1027045"/>
            <a:ext cx="4031974" cy="403197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BA93D3683C038409A0878309F352C61" ma:contentTypeVersion="4" ma:contentTypeDescription="Crie um novo documento." ma:contentTypeScope="" ma:versionID="074b36188c442a92b49a54089f1d0fdb">
  <xsd:schema xmlns:xsd="http://www.w3.org/2001/XMLSchema" xmlns:xs="http://www.w3.org/2001/XMLSchema" xmlns:p="http://schemas.microsoft.com/office/2006/metadata/properties" xmlns:ns2="84be3ff4-bd35-45b6-b3b9-42b43ac23156" targetNamespace="http://schemas.microsoft.com/office/2006/metadata/properties" ma:root="true" ma:fieldsID="134aa041acf6f39004dfe675cf405851" ns2:_="">
    <xsd:import namespace="84be3ff4-bd35-45b6-b3b9-42b43ac23156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be3ff4-bd35-45b6-b3b9-42b43ac23156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84be3ff4-bd35-45b6-b3b9-42b43ac23156" xsi:nil="true"/>
  </documentManagement>
</p:properties>
</file>

<file path=customXml/itemProps1.xml><?xml version="1.0" encoding="utf-8"?>
<ds:datastoreItem xmlns:ds="http://schemas.openxmlformats.org/officeDocument/2006/customXml" ds:itemID="{BB8F0953-3324-4079-97DA-C1E92B07651D}"/>
</file>

<file path=customXml/itemProps2.xml><?xml version="1.0" encoding="utf-8"?>
<ds:datastoreItem xmlns:ds="http://schemas.openxmlformats.org/officeDocument/2006/customXml" ds:itemID="{1736C801-DBE3-4DB1-A830-EAA3E21685A1}"/>
</file>

<file path=customXml/itemProps3.xml><?xml version="1.0" encoding="utf-8"?>
<ds:datastoreItem xmlns:ds="http://schemas.openxmlformats.org/officeDocument/2006/customXml" ds:itemID="{0DEC60B8-7792-420A-A045-4FDCBEA7F79D}"/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1908</Words>
  <Application>Microsoft Office PowerPoint</Application>
  <PresentationFormat>Widescreen</PresentationFormat>
  <Paragraphs>302</Paragraphs>
  <Slides>23</Slides>
  <Notes>23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Cambria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CD1 Aula 4</dc:title>
  <dc:subject>PptxGenJS Presentation</dc:subject>
  <dc:creator>Consultoria</dc:creator>
  <cp:lastModifiedBy>Giovani Giulio</cp:lastModifiedBy>
  <cp:revision>3</cp:revision>
  <dcterms:created xsi:type="dcterms:W3CDTF">2026-08-16T03:06:36Z</dcterms:created>
  <dcterms:modified xsi:type="dcterms:W3CDTF">2026-08-16T05:41:13Z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0x010100CBA93D3683C038409A0878309F352C61</vt:lpwstr>
  </property>
</Properties>
</file>