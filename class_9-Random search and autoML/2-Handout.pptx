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7" r:id="rId3"/>
    <p:sldId id="28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56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1003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CIÊNCIA DE DADOS 1 · BUSCA DE HIPERPARÂMETROS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0"/>
            <a:ext cx="1100324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2303A"/>
                </a:solidFill>
                <a:latin typeface="Cambria"/>
              </a:rPr>
              <a:t>Busca aleatória e AutoML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03320"/>
            <a:ext cx="1100324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Calibri"/>
              </a:rPr>
              <a:t>Escolher hiperparâmetros quando não dá para testar tudo, e o que a automação faz com isso (Aula 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(1/2)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178193"/>
              </p:ext>
            </p:extLst>
          </p:nvPr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04/08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Introdução: fundamentos da avaliação de modelos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11/08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 (confusão, precisão, recall, F1)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</a:t>
                      </a: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</a:t>
                      </a: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18/08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II (ROC-AUC, PR, log-loss)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25/08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regressão (MAE, RMSE, R², resíduos)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proposta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01/09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hold-out e Pipeline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08/09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 (k-fold, estratificado)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15/09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II (grupos, temporal, aninhada)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— 22/09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</a:t>
                      </a: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exaustiva</a:t>
                      </a: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hiperparâmetros</a:t>
                      </a: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(grid search)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— 06/10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aleatória e menção a AutoML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</a:t>
                      </a: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 (subst.)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(2/2)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352810"/>
              </p:ext>
            </p:extLst>
          </p:nvPr>
        </p:nvGraphicFramePr>
        <p:xfrm>
          <a:off x="594360" y="1554480"/>
          <a:ext cx="11000232" cy="4114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— 13/10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validação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latin typeface="Calibri" charset="0"/>
                          <a:ea typeface="Calibri" charset="0"/>
                          <a:cs typeface="Calibri" charset="0"/>
                        </a:rPr>
                        <a:t>20/10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SEMANA ACADEMICA ( SEM AULA )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4581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— 27/10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aprendizado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— 03/11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e comparação de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— 10/11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Leakage 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reprodutibilidade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— 17/11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— 24/11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caso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integrado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reprodutibilidade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dos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 (subst.)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— 01/12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final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De onde viemos: a conta da Aula 08, e a de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floresta aleatória do lab = muitas árvores de decisão (Aula 01), cada uma treinada numa amostra diferente dos dados; a previsão é o voto delas.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393192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AULA 08 · logística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valores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nº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0,1 · 1 · 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class_weight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None · balanced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combinações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3 × 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treinos (5 dobras)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303A"/>
                          </a:solidFill>
                          <a:latin typeface="Calibri"/>
                        </a:rPr>
                        <a:t>6 × 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B5A5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160520"/>
            <a:ext cx="3931920" cy="1572768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453128"/>
            <a:ext cx="33467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QUE FOI BARATO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910328"/>
            <a:ext cx="3346703" cy="585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Só </a:t>
            </a:r>
            <a:r>
              <a:rPr sz="1250" b="1">
                <a:solidFill>
                  <a:srgbClr val="12303A"/>
                </a:solidFill>
                <a:latin typeface="Calibri"/>
              </a:rPr>
              <a:t>2 hiperparâmetros</a:t>
            </a:r>
            <a:r>
              <a:rPr sz="1250" b="0">
                <a:solidFill>
                  <a:srgbClr val="475569"/>
                </a:solidFill>
                <a:latin typeface="Calibri"/>
              </a:rPr>
              <a:t>, com poucos valores cada. O "2" da conta é o nº de VALORES do class_weight, não o nº de hiperparâmetros.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46320" y="1783080"/>
          <a:ext cx="6748272" cy="3113532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HOJE · floresta aleatória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 que controla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valores na grade (exemplo)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nº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quantas árvores a floresta tem (mais árvores = média mais estável, treino mais lento)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50 · 100 · 150 · 200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max_depth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quantas perguntas em sequência cada árvore pode fazer (a complexidade)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2 · 4 · 6 · 8 · 12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min_samples_leaf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o mínimo de músicas em cada folha, o fim de cada caminho da árvore (impede folha que decora 1 exemplo)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1 · 5 · 10 · 15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max_features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a fração das variáveis sorteada a cada pergunta da árvore (deixa as árvores diferentes)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0,3 · 0,5 · 0,7 · 0,9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ccp_alpha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a poda: corta os galhos que melhoram pouco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0,0001 · 0,001 · 0,01 · 0,1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230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846320" y="4754880"/>
            <a:ext cx="6751289" cy="9601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4992624"/>
            <a:ext cx="6202649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12303A"/>
                </a:solidFill>
                <a:latin typeface="Consolas"/>
              </a:rPr>
              <a:t>4 × 5 × 4 × 4 × 4  =  1.280 combinações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12303A"/>
                </a:solidFill>
                <a:latin typeface="Consolas"/>
              </a:rPr>
              <a:t>1.280 × 4 dobras (as do lab)  =  5.120 treinos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Com 5 dobras, como na Aula 08, seriam 6.400. Hoje: em vez de testar todas, SORTEAR algumas — sorteando 12 combinações (n_iter = 12), a mesma floresta custa 12 × 4 = 48 treinos.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Objetivo da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1003249" cy="117043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81912"/>
            <a:ext cx="10180289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Saber </a:t>
            </a:r>
            <a:r>
              <a:rPr sz="1600" b="1">
                <a:solidFill>
                  <a:srgbClr val="12303A"/>
                </a:solidFill>
                <a:latin typeface="Calibri"/>
              </a:rPr>
              <a:t>por que sortear combinações funciona</a:t>
            </a:r>
            <a:r>
              <a:rPr sz="1600" b="0">
                <a:solidFill>
                  <a:srgbClr val="475569"/>
                </a:solidFill>
                <a:latin typeface="Calibri"/>
              </a:rPr>
              <a:t> tão bem quanto testar todas, usar o </a:t>
            </a:r>
            <a:r>
              <a:rPr sz="1600" b="1">
                <a:solidFill>
                  <a:srgbClr val="12303A"/>
                </a:solidFill>
                <a:latin typeface="Calibri"/>
              </a:rPr>
              <a:t>RandomizedSearchCV</a:t>
            </a:r>
            <a:r>
              <a:rPr sz="1600" b="0">
                <a:solidFill>
                  <a:srgbClr val="475569"/>
                </a:solidFill>
                <a:latin typeface="Calibri"/>
              </a:rPr>
              <a:t> com as distribuições certas, reportar a nota </a:t>
            </a:r>
            <a:r>
              <a:rPr sz="1600" b="1">
                <a:solidFill>
                  <a:srgbClr val="12303A"/>
                </a:solidFill>
                <a:latin typeface="Calibri"/>
              </a:rPr>
              <a:t>sem se enganar</a:t>
            </a:r>
            <a:r>
              <a:rPr sz="1600" b="0">
                <a:solidFill>
                  <a:srgbClr val="475569"/>
                </a:solidFill>
                <a:latin typeface="Calibri"/>
              </a:rPr>
              <a:t> e reconhecer o que o </a:t>
            </a:r>
            <a:r>
              <a:rPr sz="1600" b="1">
                <a:solidFill>
                  <a:srgbClr val="12303A"/>
                </a:solidFill>
                <a:latin typeface="Calibri"/>
              </a:rPr>
              <a:t>AutoML</a:t>
            </a:r>
            <a:r>
              <a:rPr sz="1600" b="0">
                <a:solidFill>
                  <a:srgbClr val="475569"/>
                </a:solidFill>
                <a:latin typeface="Calibri"/>
              </a:rPr>
              <a:t> automatiza e o que ele não automatiza.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514600"/>
            <a:ext cx="6675120" cy="267919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807208"/>
            <a:ext cx="6089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CAMINHO DE HOJE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64408"/>
            <a:ext cx="6089904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1. Por que sortear funciona — </a:t>
            </a:r>
            <a:r>
              <a:rPr sz="1350" b="0">
                <a:solidFill>
                  <a:srgbClr val="475569"/>
                </a:solidFill>
                <a:latin typeface="Calibri"/>
              </a:rPr>
              <a:t>o relevo das músicas, grade × aleatória e a conta de probabilidade.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2. RandomizedSearchCV — </a:t>
            </a:r>
            <a:r>
              <a:rPr sz="1350" b="0">
                <a:solidFill>
                  <a:srgbClr val="475569"/>
                </a:solidFill>
                <a:latin typeface="Calibri"/>
              </a:rPr>
              <a:t>distribuições, faixas, código e leitura da saída.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3. Refinar e reportar — </a:t>
            </a:r>
            <a:r>
              <a:rPr sz="1350" b="0">
                <a:solidFill>
                  <a:srgbClr val="475569"/>
                </a:solidFill>
                <a:latin typeface="Calibri"/>
              </a:rPr>
              <a:t>do grosso ao fino, e a nota honesta.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4. Buscas com memória e AutoML — </a:t>
            </a:r>
            <a:r>
              <a:rPr sz="1350" b="0">
                <a:solidFill>
                  <a:srgbClr val="475569"/>
                </a:solidFill>
                <a:latin typeface="Calibri"/>
              </a:rPr>
              <a:t>bayesiana e automação do pipeline inteiro.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514600"/>
            <a:ext cx="3886200" cy="295351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2807208"/>
            <a:ext cx="3300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 ANALOGIA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3264408"/>
            <a:ext cx="3300984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Achar o cume de uma serra na neblina. </a:t>
            </a:r>
            <a:r>
              <a:rPr sz="1350" b="0">
                <a:solidFill>
                  <a:srgbClr val="475569"/>
                </a:solidFill>
                <a:latin typeface="Calibri"/>
              </a:rPr>
              <a:t>Você só enxerga onde está, e cada leitura do altímetro custa uma hora de caminhada.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Grade: </a:t>
            </a:r>
            <a:r>
              <a:rPr sz="1350" b="0">
                <a:solidFill>
                  <a:srgbClr val="475569"/>
                </a:solidFill>
                <a:latin typeface="Calibri"/>
              </a:rPr>
              <a:t>medir num quadriculado fixo. </a:t>
            </a:r>
            <a:r>
              <a:rPr sz="1350" b="1">
                <a:solidFill>
                  <a:srgbClr val="12303A"/>
                </a:solidFill>
                <a:latin typeface="Calibri"/>
              </a:rPr>
              <a:t>Aleatória: </a:t>
            </a:r>
            <a:r>
              <a:rPr sz="1350" b="0">
                <a:solidFill>
                  <a:srgbClr val="475569"/>
                </a:solidFill>
                <a:latin typeface="Calibri"/>
              </a:rPr>
              <a:t>medir em pontos sorteados. </a:t>
            </a:r>
            <a:r>
              <a:rPr sz="1350" b="1">
                <a:solidFill>
                  <a:srgbClr val="12303A"/>
                </a:solidFill>
                <a:latin typeface="Calibri"/>
              </a:rPr>
              <a:t>Bayesiana: </a:t>
            </a:r>
            <a:r>
              <a:rPr sz="1350" b="0">
                <a:solidFill>
                  <a:srgbClr val="475569"/>
                </a:solidFill>
                <a:latin typeface="Calibri"/>
              </a:rPr>
              <a:t>escolher o próximo ponto olhando as leituras anteriores.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O caso de hoje são as músicas dos labs 08 e 09: prever o "hit" (12% das faixas), com AP como régua. Cada leitura do altímetro = uma validação cruzada.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640080"/>
            <a:ext cx="393192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23000" b="1">
                <a:solidFill>
                  <a:srgbClr val="E9F5F3"/>
                </a:solidFill>
                <a:latin typeface="Cambria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4323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PARTE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100" b="1">
                <a:solidFill>
                  <a:srgbClr val="12303A"/>
                </a:solidFill>
                <a:latin typeface="Cambria"/>
              </a:rPr>
              <a:t>Por que sortear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O relevo das músicas, grade × aleatória no mesmo orçamento, e a conta que explica o resultado.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 problema: achar o pico sem ver o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floresta do lab nas músicas, variando 2 dos seus hiperparâmetros (slide 3). Cada cor = AP média de 5 dobras. 475 combinações × 5 = 2.375 treinos.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6</a:t>
            </a:r>
          </a:p>
        </p:txBody>
      </p:sp>
      <p:pic>
        <p:nvPicPr>
          <p:cNvPr id="6" name="Picture 5" descr="cd9rf_rele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1783080"/>
            <a:ext cx="6334759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783080"/>
            <a:ext cx="3962369" cy="379476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2075688"/>
            <a:ext cx="3377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O MAPA ENSINA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532888"/>
            <a:ext cx="3377153" cy="2807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Cada ponto custa 5 treinos </a:t>
            </a:r>
            <a:r>
              <a:rPr sz="1250" b="0">
                <a:solidFill>
                  <a:srgbClr val="475569"/>
                </a:solidFill>
                <a:latin typeface="Calibri"/>
              </a:rPr>
              <a:t>(uma validação cruzada) e não há fórmula para ir direto ao pico: só medindo. Este mapa inteiro ninguém faz na prática.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A poda manda: </a:t>
            </a:r>
            <a:r>
              <a:rPr sz="1250" b="0">
                <a:solidFill>
                  <a:srgbClr val="475569"/>
                </a:solidFill>
                <a:latin typeface="Calibri"/>
              </a:rPr>
              <a:t>sozinha, leva a AP de 0,12 a 0,65 — com ccp_alpha acima de 0,01 a floresta é podada demais e desaba.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max_features muda pouco: </a:t>
            </a:r>
            <a:r>
              <a:rPr sz="1250" b="0">
                <a:solidFill>
                  <a:srgbClr val="475569"/>
                </a:solidFill>
                <a:latin typeface="Calibri"/>
              </a:rPr>
              <a:t>na melhor poda, a AP só vai de 0,59 a 0,65. As listras são ruído.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A região boa é larga: </a:t>
            </a:r>
            <a:r>
              <a:rPr sz="1250" b="0">
                <a:solidFill>
                  <a:srgbClr val="475569"/>
                </a:solidFill>
                <a:latin typeface="Calibri"/>
              </a:rPr>
              <a:t>com ccp_alpha abaixo de ~0,01, quase tudo passa de 0,58.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A pergunta da aula: com 16, 40 ou 60 medições em vez de 2.375, onde coloco cada uma?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Mesmo orçamento, dois desenhos: 16 medições no relevo das músicas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Os pontos brancos são as medições de cada busca, sobre o mapa do slide anterior. O círculo laranja é a melhor de cada uma.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7</a:t>
            </a:r>
          </a:p>
        </p:txBody>
      </p:sp>
      <p:pic>
        <p:nvPicPr>
          <p:cNvPr id="6" name="Picture 5" descr="cd9rf_grade_al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72357"/>
            <a:ext cx="7589520" cy="29990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783080"/>
            <a:ext cx="3093689" cy="366674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96528" y="2075688"/>
            <a:ext cx="250847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ACONTECEU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32888"/>
            <a:ext cx="2508473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Grade: </a:t>
            </a:r>
            <a:r>
              <a:rPr sz="1250" b="0">
                <a:solidFill>
                  <a:srgbClr val="475569"/>
                </a:solidFill>
                <a:latin typeface="Calibri"/>
              </a:rPr>
              <a:t>só 4 valores de poda, e 2 deles (0,01 e 0,1) na região ruim: metade das 16 medições desperdiçada. Melhor: AP 0,615.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Aleatória (semente 0): </a:t>
            </a:r>
            <a:r>
              <a:rPr sz="1250" b="0">
                <a:solidFill>
                  <a:srgbClr val="475569"/>
                </a:solidFill>
                <a:latin typeface="Calibri"/>
              </a:rPr>
              <a:t>16 valores distintos de cada hiperparâmetro; 4 caíram acima de 0,01. Melhor: 0,627.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Aqui a aleatória ganhou. </a:t>
            </a:r>
            <a:r>
              <a:rPr sz="1250" b="0">
                <a:solidFill>
                  <a:srgbClr val="475569"/>
                </a:solidFill>
                <a:latin typeface="Calibri"/>
              </a:rPr>
              <a:t>Sorte da semente 0? O próximo slide responde.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A grade repete cada valor de poda 4 vezes — inclusive os dois ruins. A aleatória nunca repete um valor.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Uma semente não diz nada: repetindo o sorteio 100 vezes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 mesma busca aleatória (n_iter = 16) com 100 sementes diferentes. A linha laranja é a grade 4 ×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8</a:t>
            </a:r>
          </a:p>
        </p:txBody>
      </p:sp>
      <p:pic>
        <p:nvPicPr>
          <p:cNvPr id="6" name="Picture 5" descr="cd9rf_sem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86534"/>
            <a:ext cx="6492240" cy="35707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783080"/>
            <a:ext cx="4190969" cy="355701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9248" y="2075688"/>
            <a:ext cx="36057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AS 100 SEMENTES MOSTRAM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532888"/>
            <a:ext cx="3605753" cy="2569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100 de 100 </a:t>
            </a:r>
            <a:r>
              <a:rPr sz="1250" b="0">
                <a:solidFill>
                  <a:srgbClr val="475569"/>
                </a:solidFill>
                <a:latin typeface="Calibri"/>
              </a:rPr>
              <a:t>buscas aleatórias ficaram acima da grade (0,615).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Média: 0,640. </a:t>
            </a:r>
            <a:r>
              <a:rPr sz="1250" b="0">
                <a:solidFill>
                  <a:srgbClr val="475569"/>
                </a:solidFill>
                <a:latin typeface="Calibri"/>
              </a:rPr>
              <a:t>Pior caso: 0,618. Melhor: 0,654. A semente 0 (0,627) ficou até abaixo da média.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A promessa é de PROBABILIDADE: </a:t>
            </a:r>
            <a:r>
              <a:rPr sz="1250" b="0">
                <a:solidFill>
                  <a:srgbClr val="475569"/>
                </a:solidFill>
                <a:latin typeface="Calibri"/>
              </a:rPr>
              <a:t>quase sempre boa, nunca garantida. A pior semente ficou só 0,003 acima da grade.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E a grade? </a:t>
            </a:r>
            <a:r>
              <a:rPr sz="1250" b="0">
                <a:solidFill>
                  <a:srgbClr val="475569"/>
                </a:solidFill>
                <a:latin typeface="Calibri"/>
              </a:rPr>
              <a:t>É uma aposta só: os 4 valores de poda que você escolheu são tudo o que ela vai 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Por isso se fixa random_state: para reproduzir. Mas não se escolhe a semente pelo resultado; isso seria outra forma de "espiar o teste".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Por que o sorteio vence quando poucos hiperparâmetros importam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 argumento clássico de Bergstra e Bengio (2012), em 16 pontos.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9</a:t>
            </a:r>
          </a:p>
        </p:txBody>
      </p:sp>
      <p:pic>
        <p:nvPicPr>
          <p:cNvPr id="6" name="Picture 5" descr="cd9_intu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83592"/>
            <a:ext cx="6949440" cy="34851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783080"/>
            <a:ext cx="3730752" cy="389534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2075688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MECANISMO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2532888"/>
            <a:ext cx="3145536" cy="2907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Projete os pontos no eixo que </a:t>
            </a:r>
            <a:r>
              <a:rPr sz="1300" b="1">
                <a:solidFill>
                  <a:srgbClr val="12303A"/>
                </a:solidFill>
                <a:latin typeface="Calibri"/>
              </a:rPr>
              <a:t>importa</a:t>
            </a:r>
            <a:r>
              <a:rPr sz="1300" b="0">
                <a:solidFill>
                  <a:srgbClr val="475569"/>
                </a:solidFill>
                <a:latin typeface="Calibri"/>
              </a:rPr>
              <a:t> (como a poda nas músicas).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Grade: </a:t>
            </a:r>
            <a:r>
              <a:rPr sz="1300" b="0">
                <a:solidFill>
                  <a:srgbClr val="475569"/>
                </a:solidFill>
                <a:latin typeface="Calibri"/>
              </a:rPr>
              <a:t>os 16 pontos caem em só 4 valores, repetidos 4 vezes. Os 12 extras testaram o eixo que não importa.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Aleatória: </a:t>
            </a:r>
            <a:r>
              <a:rPr sz="1300" b="0">
                <a:solidFill>
                  <a:srgbClr val="475569"/>
                </a:solidFill>
                <a:latin typeface="Calibri"/>
              </a:rPr>
              <a:t>cada ponto tem um valor NOVO em cada eixo, então são 16 leituras distintas do eixo que importa.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Com 5 hiperparâmetros e só 1 importante, a grade desperdiça ainda mais.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Nas músicas é exatamente assim: a poda manda e max_features muda pouco. E em geral você não sabe de antemão quem manda.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A conta que explica: 1 − (1 − p)ⁿ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Com n sorteios, qual a chance de pelo menos um cair na região boa, se ela ocupa uma fração p do espaço?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3249" cy="7772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10454609" cy="301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12303A"/>
                </a:solidFill>
                <a:latin typeface="Consolas"/>
              </a:rPr>
              <a:t>P(nenhum cai) = (1 − p)ⁿ     →     P(pelo menos um cai na região boa) = 1 − (1 − p)ⁿ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788920"/>
          <a:ext cx="6400800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n_iter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região boa = 5% do espaço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músicas: AP ≥ 0,62 = 15%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1 − 0,95¹⁰ = 40%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1 − 0,85¹⁰ = 81%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1 − 0,95¹⁶ = 56%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5A54"/>
                          </a:solidFill>
                          <a:latin typeface="Calibri"/>
                        </a:rPr>
                        <a:t>1 − 0,85¹⁶ = 93%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1 − 0,95³⁰ = 79%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1 − 0,85³⁰ = 99%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5A54"/>
                          </a:solidFill>
                          <a:latin typeface="Calibri"/>
                        </a:rPr>
                        <a:t>1 − 0,95⁶⁰ = 95%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≈ 100%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2788920"/>
            <a:ext cx="4233672" cy="2944368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8" y="3081527"/>
            <a:ext cx="3648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 CONTA DIZ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3538727"/>
            <a:ext cx="3648456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O nº de hiperparâmetros não aparece na conta: </a:t>
            </a:r>
            <a:r>
              <a:rPr sz="1250" b="0">
                <a:solidFill>
                  <a:srgbClr val="475569"/>
                </a:solidFill>
                <a:latin typeface="Calibri"/>
              </a:rPr>
              <a:t>vale com 2 ou com 20. Na grade, cada hiperparâmetro novo multiplica o custo.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Nas músicas, 16 sorteios dão 93%. </a:t>
            </a:r>
            <a:r>
              <a:rPr sz="1250" b="0">
                <a:solidFill>
                  <a:srgbClr val="475569"/>
                </a:solidFill>
                <a:latin typeface="Calibri"/>
              </a:rPr>
              <a:t>E das 100 sementes, 97 passaram de 0,62 — a conta acertou.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Região estreita pede mais orçamento: </a:t>
            </a:r>
            <a:r>
              <a:rPr sz="1250" b="0">
                <a:solidFill>
                  <a:srgbClr val="475569"/>
                </a:solidFill>
                <a:latin typeface="Calibri"/>
              </a:rPr>
              <a:t>com 5%, são 60 sorteios para 95%. É assim que se escolhe o n_iter.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A ressalva: "p" é a fração do espaço que VOCÊ definiu. Faixa mal escolhida encolhe a região boa — é o assunto da Parte 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640080"/>
            <a:ext cx="393192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23000" b="1">
                <a:solidFill>
                  <a:srgbClr val="E9F5F3"/>
                </a:solidFill>
                <a:latin typeface="Cambria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4323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PARTE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100" b="1">
                <a:solidFill>
                  <a:srgbClr val="12303A"/>
                </a:solidFill>
                <a:latin typeface="Cambria"/>
              </a:rPr>
              <a:t>RandomizedSearchCV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Distribuições no lugar de listas, faixas bem escolhidas e a leitura da saída.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De listas para distribuições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Na grade você lista valores; na aleatória você diz DE ONDE sortear. As distribuições vêm do scipy.stats, a biblioteca de estatística do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11000231" cy="27432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distribuição (scipy.stats)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sorteia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 para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exemplo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randint(a, b)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inteiros de a até b − 1, todos com a mesma chance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contagens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max_depth: randint(2, 15)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uniform(início, largura)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reais em [início, início + largura]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frações e proporções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max_features: uniform(0.3, 0.6)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5A54"/>
                          </a:solidFill>
                          <a:latin typeface="Calibri"/>
                        </a:rPr>
                        <a:t>loguniform(a, b)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reais de a até b, com a mesma chance em cada ORDEM DE GRANDEZA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o que varia por fator de 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C: loguniform(1e-2, 1e2)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lista [..]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um item da lista, todos com a mesma chance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categorias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class_weight: [None, "balanced"]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526280"/>
            <a:ext cx="11003249" cy="123444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818888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ATENÇÃO À ASSINATURA DO uniform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276088"/>
            <a:ext cx="10418033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uniform(0.3, 0.6) sorteia entre 0,3 e </a:t>
            </a:r>
            <a:r>
              <a:rPr sz="1250" b="1">
                <a:solidFill>
                  <a:srgbClr val="12303A"/>
                </a:solidFill>
                <a:latin typeface="Calibri"/>
              </a:rPr>
              <a:t>0,9</a:t>
            </a:r>
            <a:r>
              <a:rPr sz="1250" b="0">
                <a:solidFill>
                  <a:srgbClr val="475569"/>
                </a:solidFill>
                <a:latin typeface="Calibri"/>
              </a:rPr>
              <a:t> (início + largura), e não entre 0,3 e 0,6. É o erro mais comum na montagem do dicionário.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No código, 1e-2 = 0,01 e 1e2 = 100 (notação científica: o número depois do "e" é a potência de 10).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Exemplo na mão: por que o C se sorteia em escala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 C da regressão logística (Aula 08), na faixa [0,01; 100]: são 4 ordens de grandeza. Onde caem os sorteios?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6492240" cy="2103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faixa de C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uniform: chance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loguniform: chance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0,01 a 0,1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0,09%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0,1 a 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0,9%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 a 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10 a 100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5A54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783080"/>
            <a:ext cx="4142232" cy="242316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68" y="2075688"/>
            <a:ext cx="3557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 CONTA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532888"/>
            <a:ext cx="3557016" cy="1435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uniform: </a:t>
            </a:r>
            <a:r>
              <a:rPr sz="1350" b="0">
                <a:solidFill>
                  <a:srgbClr val="475569"/>
                </a:solidFill>
                <a:latin typeface="Calibri"/>
              </a:rPr>
              <a:t>a chance é proporcional ao TAMANHO do trecho. O trecho de 10 a 100 tem 90 das 99,99 unidades: 90%.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loguniform: </a:t>
            </a:r>
            <a:r>
              <a:rPr sz="1350" b="0">
                <a:solidFill>
                  <a:srgbClr val="475569"/>
                </a:solidFill>
                <a:latin typeface="Calibri"/>
              </a:rPr>
              <a:t>sorteia o EXPOENTE uniformemente entre −2 e 2. Cada ordem de grandeza recebe 1/4.</a:t>
            </a:r>
          </a:p>
        </p:txBody>
      </p:sp>
      <p:pic>
        <p:nvPicPr>
          <p:cNvPr id="10" name="Picture 9" descr="cd9v7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19" y="4023360"/>
            <a:ext cx="530352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Nas músicas a poda boa fica abaixo de 0,01. Num uniform(0; 0,1), 90% dos sorteios cairiam acima de 0,01 — na região onde a floresta desaba.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A faixa também é decisão sua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Faixa larga demais desperdiça orçamento; estreita demais deixa o pico de fora.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532120" cy="346557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ACONTECEU NA SEMENTE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32888"/>
            <a:ext cx="4946904" cy="2478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Faixa usada: ccp_alpha em loguniform(0,00001; 0,1), ou seja, 4 ordens de grandeza.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A região ruim (acima de 0,01) ocupa 1 dessas 4: </a:t>
            </a:r>
            <a:r>
              <a:rPr sz="1350" b="1">
                <a:solidFill>
                  <a:srgbClr val="12303A"/>
                </a:solidFill>
                <a:latin typeface="Calibri"/>
              </a:rPr>
              <a:t>25% dos sorteios</a:t>
            </a:r>
            <a:r>
              <a:rPr sz="1350" b="0">
                <a:solidFill>
                  <a:srgbClr val="475569"/>
                </a:solidFill>
                <a:latin typeface="Calibri"/>
              </a:rPr>
              <a:t> em média.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Na semente 0 foram </a:t>
            </a:r>
            <a:r>
              <a:rPr sz="1350" b="1">
                <a:solidFill>
                  <a:srgbClr val="12303A"/>
                </a:solidFill>
                <a:latin typeface="Calibri"/>
              </a:rPr>
              <a:t>4 de 16</a:t>
            </a:r>
            <a:r>
              <a:rPr sz="1350" b="0">
                <a:solidFill>
                  <a:srgbClr val="475569"/>
                </a:solidFill>
                <a:latin typeface="Calibri"/>
              </a:rPr>
              <a:t> — exatamente o esperado. É o preço de não saber a escala de antemão.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Com a faixa de 0,00001 a 0,01 (3 ordens), todo o orçamento teria ido para a região útil.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83080"/>
            <a:ext cx="5105369" cy="346557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2075688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COMO ESCOLHER A FAIXA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532888"/>
            <a:ext cx="4520153" cy="2478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Comece largo e em log </a:t>
            </a:r>
            <a:r>
              <a:rPr sz="1350" b="0">
                <a:solidFill>
                  <a:srgbClr val="475569"/>
                </a:solidFill>
                <a:latin typeface="Calibri"/>
              </a:rPr>
              <a:t>quando não souber a escala: é barato descobrir onde fica a região boa.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Use o que já se sabe: </a:t>
            </a:r>
            <a:r>
              <a:rPr sz="1350" b="0">
                <a:solidFill>
                  <a:srgbClr val="475569"/>
                </a:solidFill>
                <a:latin typeface="Calibri"/>
              </a:rPr>
              <a:t>documentação, defaults e resultados anteriores (o default da floresta é ccp_alpha = 0, sem poda).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Olhe onde os melhores caíram. </a:t>
            </a:r>
            <a:r>
              <a:rPr sz="1350" b="0">
                <a:solidFill>
                  <a:srgbClr val="475569"/>
                </a:solidFill>
                <a:latin typeface="Calibri"/>
              </a:rPr>
              <a:t>Se eles encostam na borda da faixa, o pico pode estar FORA: amplie.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2303A"/>
                </a:solidFill>
                <a:latin typeface="Calibri"/>
              </a:rPr>
              <a:t>Depois estreite </a:t>
            </a:r>
            <a:r>
              <a:rPr sz="1350" b="0">
                <a:solidFill>
                  <a:srgbClr val="475569"/>
                </a:solidFill>
                <a:latin typeface="Calibri"/>
              </a:rPr>
              <a:t>(Parte 3): a segunda rodada gasta o orçamento só onde vale a pena.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O sorteio só é esperto dentro do espaço que você deu a ele. Definir o espaço continua sendo trabalho de cientista de dados.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RandomizedSearchCV na prática: as músicas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Cada argumento é uma peça de uma aula anterior.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1003249" cy="2743200"/>
          </a:xfrm>
          <a:prstGeom prst="roundRect">
            <a:avLst>
              <a:gd name="adj" fmla="val 2700"/>
            </a:avLst>
          </a:prstGeom>
          <a:solidFill>
            <a:srgbClr val="0B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71729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from scipy.stats import loguniform, uniform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from sklearn.model_selection import RandomizedSearchCV, StratifiedKFold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from sklearn.ensemble import RandomForestClassifier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pipe = Pipeline([("esc", StandardScaler()),</a:t>
            </a:r>
            <a:r>
              <a:rPr sz="1000">
                <a:solidFill>
                  <a:srgbClr val="9CD3CC"/>
                </a:solidFill>
                <a:latin typeface="Consolas"/>
              </a:rPr>
              <a:t>         # Aula 05: sem vazar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     ("clf", RandomForestClassifier(random_state=0))])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dist = {"clf__ccp_alpha":    loguniform(1e-5, 1e-1),</a:t>
            </a:r>
            <a:r>
              <a:rPr sz="1000">
                <a:solidFill>
                  <a:srgbClr val="9CD3CC"/>
                </a:solidFill>
                <a:latin typeface="Consolas"/>
              </a:rPr>
              <a:t>   # a poda, em log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"clf__max_features": uniform(0.1, 0.8)}</a:t>
            </a:r>
            <a:r>
              <a:rPr sz="1000">
                <a:solidFill>
                  <a:srgbClr val="9CD3CC"/>
                </a:solidFill>
                <a:latin typeface="Consolas"/>
              </a:rPr>
              <a:t>       # de 0,1 a 0,9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cv = StratifiedKFold(5, shuffle=True, random_state=0)</a:t>
            </a:r>
            <a:r>
              <a:rPr sz="1000">
                <a:solidFill>
                  <a:srgbClr val="9CD3CC"/>
                </a:solidFill>
                <a:latin typeface="Consolas"/>
              </a:rPr>
              <a:t>         # Aulas 06-07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busca = RandomizedSearchCV(pipe, dist, n_iter=40, cv=cv,</a:t>
            </a:r>
            <a:r>
              <a:rPr sz="1000">
                <a:solidFill>
                  <a:srgbClr val="9CD3CC"/>
                </a:solidFill>
                <a:latin typeface="Consolas"/>
              </a:rPr>
              <a:t>       # orçamento: 40 × 5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scoring="average_precision",</a:t>
            </a:r>
            <a:r>
              <a:rPr sz="1000">
                <a:solidFill>
                  <a:srgbClr val="9CD3CC"/>
                </a:solidFill>
                <a:latin typeface="Consolas"/>
              </a:rPr>
              <a:t>                       # Aulas 03-04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            random_state=0, n_jobs=-1)</a:t>
            </a:r>
            <a:r>
              <a:rPr sz="1000">
                <a:solidFill>
                  <a:srgbClr val="9CD3CC"/>
                </a:solidFill>
                <a:latin typeface="Consolas"/>
              </a:rPr>
              <a:t>       # reprodutível; usa todos os núcleos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Consolas"/>
              </a:rPr>
              <a:t>busca.fit(X_tr, y_tr)</a:t>
            </a:r>
            <a:r>
              <a:rPr sz="1000">
                <a:solidFill>
                  <a:srgbClr val="9CD3CC"/>
                </a:solidFill>
                <a:latin typeface="Consolas"/>
              </a:rPr>
              <a:t>                                      # o teste fica guardado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572000"/>
            <a:ext cx="11003249" cy="124358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4864608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RESULTADO NAS MÚSICAS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321808"/>
            <a:ext cx="1041803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best_score_ = </a:t>
            </a:r>
            <a:r>
              <a:rPr sz="1300" b="1">
                <a:solidFill>
                  <a:srgbClr val="12303A"/>
                </a:solidFill>
                <a:latin typeface="Calibri"/>
              </a:rPr>
              <a:t>0,652</a:t>
            </a:r>
            <a:r>
              <a:rPr sz="1300" b="0">
                <a:solidFill>
                  <a:srgbClr val="475569"/>
                </a:solidFill>
                <a:latin typeface="Calibri"/>
              </a:rPr>
              <a:t> com ccp_alpha ≈ 0,0019 e max_features ≈ 0,45 — o pico do mapa. Custo: 40 × 5 = 200 treinos, contra 2.375 do mapa inteiro.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O prefixo "clf__" aponta para o passo "clf" do Pipeline, exatamente como na grade da Aula 08.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Lendo a saída: o pódio e o ruído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cv_results_ ordenado pelo rank: as 5 primeiras da busca com n_iter = 16 (semente 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6949440" cy="252374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ccp_alpha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max_features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AP média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± desvio (5 dobras)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0,0026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0,54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5A54"/>
                          </a:solidFill>
                          <a:latin typeface="Calibri"/>
                        </a:rPr>
                        <a:t>0,627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0,118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0,0005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5A54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0,104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0,00003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0,104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0,0012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0,43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0,616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0,112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0,0007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0,72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0,613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0,112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783080"/>
            <a:ext cx="3730752" cy="273405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2075688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COMO 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2532888"/>
            <a:ext cx="3145536" cy="1746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1">
                <a:solidFill>
                  <a:srgbClr val="12303A"/>
                </a:solidFill>
                <a:latin typeface="Calibri"/>
              </a:rPr>
              <a:t>Os 5 primeiros empatam: </a:t>
            </a:r>
            <a:r>
              <a:rPr sz="1100" b="0">
                <a:solidFill>
                  <a:srgbClr val="475569"/>
                </a:solidFill>
                <a:latin typeface="Calibri"/>
              </a:rPr>
              <a:t>diferença de 0,014; desvio de ±0,11.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1">
                <a:solidFill>
                  <a:srgbClr val="12303A"/>
                </a:solidFill>
                <a:latin typeface="Calibri"/>
              </a:rPr>
              <a:t>É o platô </a:t>
            </a:r>
            <a:r>
              <a:rPr sz="1100" b="0">
                <a:solidFill>
                  <a:srgbClr val="475569"/>
                </a:solidFill>
                <a:latin typeface="Calibri"/>
              </a:rPr>
              <a:t>(Aula 08): o 1º lugar ganhou em parte por sorte.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00" b="1">
                <a:solidFill>
                  <a:srgbClr val="12303A"/>
                </a:solidFill>
                <a:latin typeface="Calibri"/>
              </a:rPr>
              <a:t>Os dois 2º são o mesmo modelo: </a:t>
            </a:r>
            <a:r>
              <a:rPr sz="1100" b="0">
                <a:solidFill>
                  <a:srgbClr val="475569"/>
                </a:solidFill>
                <a:latin typeface="Calibri"/>
              </a:rPr>
              <a:t>0,62 e 0,61 de 18 variáveis dão 11 por pergunta, e as duas podas quase não cortam.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800600"/>
            <a:ext cx="11003249" cy="905256"/>
          </a:xfrm>
          <a:prstGeom prst="roundRect">
            <a:avLst>
              <a:gd name="adj" fmla="val 2700"/>
            </a:avLst>
          </a:prstGeom>
          <a:solidFill>
            <a:srgbClr val="0B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029200"/>
            <a:ext cx="10271729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res = pd.DataFrame(busca.cv_results_).sort_values("rank_test_score")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res[["param_clf__ccp_alpha", "param_clf__max_features", "mean_test_score", "std_test_score"]].head()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Na dúvida, prefira a configuração mais simples ou mais estável (menor desvio). best_params_ é só a primeira linha desta tabela.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640080"/>
            <a:ext cx="393192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23000" b="1">
                <a:solidFill>
                  <a:srgbClr val="E9F5F3"/>
                </a:solidFill>
                <a:latin typeface="Cambria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4323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PARTE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100" b="1">
                <a:solidFill>
                  <a:srgbClr val="12303A"/>
                </a:solidFill>
                <a:latin typeface="Cambria"/>
              </a:rPr>
              <a:t>Refinar e reportar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Do grosso ao fino, e a nota que se pode prometer.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Grade ou aleatória? Na prática, as duas, em sequência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532120" cy="24597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PREFIRA A GRADE QUANDO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4946904" cy="1472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Poucos eixos discretos — </a:t>
            </a:r>
            <a:r>
              <a:rPr sz="1250" b="0">
                <a:solidFill>
                  <a:srgbClr val="475569"/>
                </a:solidFill>
                <a:latin typeface="Calibri"/>
              </a:rPr>
              <a:t>2 ou 3 hiperparâmetros, com poucos valores cada.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Você quer cobrir TUDO — </a:t>
            </a:r>
            <a:r>
              <a:rPr sz="1250" b="0">
                <a:solidFill>
                  <a:srgbClr val="475569"/>
                </a:solidFill>
                <a:latin typeface="Calibri"/>
              </a:rPr>
              <a:t>o espaço é pequeno e cabe inteiro no orçamento.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Está refinando — </a:t>
            </a:r>
            <a:r>
              <a:rPr sz="1250" b="0">
                <a:solidFill>
                  <a:srgbClr val="475569"/>
                </a:solidFill>
                <a:latin typeface="Calibri"/>
              </a:rPr>
              <a:t>uma grade pequena em volta de uma região já conhecida.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5105369" cy="245973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4848" y="1618488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PREFIRA A ALEATÓRIA QUANDO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075688"/>
            <a:ext cx="4520153" cy="1472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Espaço grande ou contínuo — </a:t>
            </a:r>
            <a:r>
              <a:rPr sz="1250" b="0">
                <a:solidFill>
                  <a:srgbClr val="475569"/>
                </a:solidFill>
                <a:latin typeface="Calibri"/>
              </a:rPr>
              <a:t>muitos hiperparâmetros, ou valores reais.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Orçamento fixo — </a:t>
            </a:r>
            <a:r>
              <a:rPr sz="1250" b="0">
                <a:solidFill>
                  <a:srgbClr val="475569"/>
                </a:solidFill>
                <a:latin typeface="Calibri"/>
              </a:rPr>
              <a:t>você decide o custo (n_iter), e não a grade.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Não sabe quem importa — </a:t>
            </a:r>
            <a:r>
              <a:rPr sz="1250" b="0">
                <a:solidFill>
                  <a:srgbClr val="475569"/>
                </a:solidFill>
                <a:latin typeface="Calibri"/>
              </a:rPr>
              <a:t>o sorteio testa valores novos em todos os eixos.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50207"/>
            <a:ext cx="11003249" cy="182880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4242816"/>
            <a:ext cx="1041803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 RECEITA DO GROSSO AO FINO (coarse-to-fine)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00016"/>
            <a:ext cx="10418033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1. Aleatória larga, em log, </a:t>
            </a:r>
            <a:r>
              <a:rPr sz="1300" b="0">
                <a:solidFill>
                  <a:srgbClr val="475569"/>
                </a:solidFill>
                <a:latin typeface="Calibri"/>
              </a:rPr>
              <a:t>para descobrir onde fica a região boa.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2. Grade pequena </a:t>
            </a:r>
            <a:r>
              <a:rPr sz="1300" b="0">
                <a:solidFill>
                  <a:srgbClr val="475569"/>
                </a:solidFill>
                <a:latin typeface="Calibri"/>
              </a:rPr>
              <a:t>em volta dos melhores pontos, para confirmar e refinar.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3. Pare quando os números virarem platô: </a:t>
            </a:r>
            <a:r>
              <a:rPr sz="1300" b="0">
                <a:solidFill>
                  <a:srgbClr val="475569"/>
                </a:solidFill>
                <a:latin typeface="Calibri"/>
              </a:rPr>
              <a:t>refinar dentro do ruído é gastar orçamento à toa.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É o mapa da neblina: primeiro saltos longos para achar a encosta certa, depois passos curtos perto do cume.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Exemplo: o refino nas músicas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Grade 4 × 4 em volta do melhor ponto da aleatória (ccp_alpha ≈ 0,0019, max_features ≈ 0,45).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667512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ccp_alpha  \  max_features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0,75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0,00095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0,610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0,649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0,577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0,612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0,0019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0,620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5A54"/>
                          </a:solidFill>
                          <a:latin typeface="Calibri"/>
                        </a:rPr>
                        <a:t>0,652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0,595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0,608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0,0038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0,625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0,649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0,583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0,614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0,0076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0,620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0,628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0,607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2303A"/>
                          </a:solidFill>
                          <a:latin typeface="Calibri"/>
                        </a:rPr>
                        <a:t>0,607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783080"/>
            <a:ext cx="4005072" cy="300837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82128" y="20756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O QUE O REFINO MOSTROU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2532888"/>
            <a:ext cx="3419856" cy="2020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Todas as 16 células </a:t>
            </a:r>
            <a:r>
              <a:rPr sz="1300" b="0">
                <a:solidFill>
                  <a:srgbClr val="475569"/>
                </a:solidFill>
                <a:latin typeface="Calibri"/>
              </a:rPr>
              <a:t>ficaram entre 0,577 e 0,652.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A melhor (0,652) </a:t>
            </a:r>
            <a:r>
              <a:rPr sz="1300" b="0">
                <a:solidFill>
                  <a:srgbClr val="475569"/>
                </a:solidFill>
                <a:latin typeface="Calibri"/>
              </a:rPr>
              <a:t>é o próprio ponto que a aleatória já tinha achado: o refino não encontrou nada melhor. E as diferenças cabem no desvio de ±0,12.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Conclusão honesta: </a:t>
            </a:r>
            <a:r>
              <a:rPr sz="1300" b="0">
                <a:solidFill>
                  <a:srgbClr val="475569"/>
                </a:solidFill>
                <a:latin typeface="Calibri"/>
              </a:rPr>
              <a:t>é um platô. A busca já tinha achado a região boa; refinar mais não ajuda.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Na Aula 10 (curvas de validação) vamos olhar um hiperparâmetro de cada vez para enxergar esse platô com clareza.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Buscar sem se enganar: o best_score_ é otimista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Quem escolhe não mede (Aula 07). Três números da mesma busca nas músicas (n_iter = 40).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11000232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número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 onde vem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serve para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best_score_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0,652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o MÁXIMO de 40 médias de CV, na mesma validação que escolheu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escolher os hiperparâmetros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nested CV (5 × 5)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5A54"/>
                          </a:solidFill>
                          <a:latin typeface="Calibri"/>
                        </a:rPr>
                        <a:t>0,615 ± 0,126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a busca inteira refeita em 5 rodadas; cada rodada mede numa dobra que a busca não viu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estimar o desempenho do PROCEDIMENTO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teste guardado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0,711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o best_estimator_ tocando o teste uma única vez (Aula 05) — só 38 hits: uma medição com muito ruído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a confirmação final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069080"/>
            <a:ext cx="6812280" cy="1188720"/>
          </a:xfrm>
          <a:prstGeom prst="roundRect">
            <a:avLst>
              <a:gd name="adj" fmla="val 2700"/>
            </a:avLst>
          </a:prstGeom>
          <a:solidFill>
            <a:srgbClr val="0B5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6080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externo = StratifiedKFold(5, shuffle=True, random_state=1)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notas = cross_val_score(busca, X_tr, y_tr, cv=externo,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Consolas"/>
              </a:rPr>
              <a:t>                        scoring="average_precision")</a:t>
            </a:r>
            <a:r>
              <a:rPr sz="1250">
                <a:solidFill>
                  <a:srgbClr val="9CD3CC"/>
                </a:solidFill>
                <a:latin typeface="Consolas"/>
              </a:rPr>
              <a:t>  # a busca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4069080"/>
            <a:ext cx="3867912" cy="171907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4361688"/>
            <a:ext cx="3282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POR QUE O best_score_ SOBE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4818888"/>
            <a:ext cx="3282696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É o máximo de 40 notas ruidosas (maldição do vencedor, Aula 07). O teste, 0,711, cai dentro da faixa das notas externas.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Notas externas da nested: 0,635 · 0,623 · 0,793 · 0,626 · 0,398. Com tanta dispersão, reporte média ± desvio — um número só engana.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640080"/>
            <a:ext cx="393192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23000" b="1">
                <a:solidFill>
                  <a:srgbClr val="E9F5F3"/>
                </a:solidFill>
                <a:latin typeface="Cambria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4323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PARTE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100" b="1">
                <a:solidFill>
                  <a:srgbClr val="12303A"/>
                </a:solidFill>
                <a:latin typeface="Cambria"/>
              </a:rPr>
              <a:t>Buscas com memória e AutoML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O que vem depois da aleatória, e até onde a automação vai.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Otimização bayesiana: a busca que aprende com as medições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Grade e aleatória não têm memória: a 40ª tentativa ignora as 39 anteriores. A bayesiana usa todas.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22</a:t>
            </a:r>
          </a:p>
        </p:txBody>
      </p:sp>
      <p:pic>
        <p:nvPicPr>
          <p:cNvPr id="6" name="Picture 5" descr="cd9rf_ba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26574"/>
            <a:ext cx="7132320" cy="24906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19" y="1783080"/>
            <a:ext cx="3550889" cy="3931920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39327" y="2075688"/>
            <a:ext cx="296567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COMO ELA DECIDE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532888"/>
            <a:ext cx="2965673" cy="294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2303A"/>
                </a:solidFill>
                <a:latin typeface="Calibri"/>
              </a:rPr>
              <a:t>1. Modelo substituto: </a:t>
            </a:r>
            <a:r>
              <a:rPr sz="1200" b="0">
                <a:solidFill>
                  <a:srgbClr val="475569"/>
                </a:solidFill>
                <a:latin typeface="Calibri"/>
              </a:rPr>
              <a:t>com as medições já feitas, ajusta um modelo barato de "poda → AP", com incerteza (a faixa clara).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2303A"/>
                </a:solidFill>
                <a:latin typeface="Calibri"/>
              </a:rPr>
              <a:t>2. Onde medir: </a:t>
            </a:r>
            <a:r>
              <a:rPr sz="1200" b="0">
                <a:solidFill>
                  <a:srgbClr val="475569"/>
                </a:solidFill>
                <a:latin typeface="Calibri"/>
              </a:rPr>
              <a:t>onde o modelo prevê nota alta OU onde ele está muito incerto.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2303A"/>
                </a:solidFill>
                <a:latin typeface="Calibri"/>
              </a:rPr>
              <a:t>Esquerda: </a:t>
            </a:r>
            <a:r>
              <a:rPr sz="1200" b="0">
                <a:solidFill>
                  <a:srgbClr val="475569"/>
                </a:solidFill>
                <a:latin typeface="Calibri"/>
              </a:rPr>
              <a:t>com 3 medições, há um buraco enorme entre 0,00003 e 0,025. Ela vai EXPLORAR ali, onde pode haver algo melhor.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2303A"/>
                </a:solidFill>
                <a:latin typeface="Calibri"/>
              </a:rPr>
              <a:t>Direita: </a:t>
            </a:r>
            <a:r>
              <a:rPr sz="1200" b="0">
                <a:solidFill>
                  <a:srgbClr val="475569"/>
                </a:solidFill>
                <a:latin typeface="Calibri"/>
              </a:rPr>
              <a:t>com 5 medições, as boas estão todas abaixo de 0,01. Ela vai APROVEITAR: medir entre elas (perto de 0,001).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Mesmo relevo das músicas (um corte com max_features = 0,45). Ferramentas: Optuna, scikit-optimize. Em detalhe, só em Ciência de Dados 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Três jeitos de gastar o mesmo orçamento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1000232" cy="299618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grade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aleatória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bayesiana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onde mede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quadriculado fixo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pontos sorteados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onde o modelo substituto indica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memória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nenhuma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nenhuma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usa todas as medições anteriores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dá para rodar as tentativas ao mesmo tempo?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sim, todas de uma vez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sim, todas de uma vez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pouco: cada ponto depende dos anteriores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o custo cresce com o nº de hiperparâmetros?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sim, multiplica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não: n_iter × dobras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não: n_iter × dobras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brilha quando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espaço pequeno e discreto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espaço grande, poucos eixos importam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cada avaliação é MUITO cara (horas)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no scikit-learn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GridSearchCV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RandomizedSearchCV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303A"/>
                          </a:solidFill>
                          <a:latin typeface="Calibri"/>
                        </a:rPr>
                        <a:t>fora do sklearn (Optuna, skopt)</a:t>
                      </a:r>
                    </a:p>
                  </a:txBody>
                  <a:tcPr marT="36576" marB="36576">
                    <a:lnT w="0">
                      <a:noFill/>
                    </a:lnT>
                    <a:lnB w="0"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A bayesiana economiza tentativas, mas cada uma espera a anterior. Com tentativas rápidas e um computador com vários núcleos, a aleatória costuma bastar.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AutoML: e se TODAS as decisões virassem hiperparâmetros?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Até aqui automatizamos uma etapa do pipeline. O AutoML automatiza a montagem inteira.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24</a:t>
            </a:r>
          </a:p>
        </p:txBody>
      </p:sp>
      <p:pic>
        <p:nvPicPr>
          <p:cNvPr id="6" name="Picture 5" descr="cd9rf_auto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5691"/>
            <a:ext cx="6949440" cy="24124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783080"/>
            <a:ext cx="3733769" cy="3666744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2075688"/>
            <a:ext cx="31485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 IDEIA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2532888"/>
            <a:ext cx="3148553" cy="2679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O gargalo: </a:t>
            </a:r>
            <a:r>
              <a:rPr sz="1250" b="0">
                <a:solidFill>
                  <a:srgbClr val="475569"/>
                </a:solidFill>
                <a:latin typeface="Calibri"/>
              </a:rPr>
              <a:t>tratar faltantes, escalar, escolher variáveis e escolher o modelo continuam sendo decisões manuais, no mesmo Pipeline da Aula 05.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O AutoML </a:t>
            </a:r>
            <a:r>
              <a:rPr sz="1250" b="0">
                <a:solidFill>
                  <a:srgbClr val="475569"/>
                </a:solidFill>
                <a:latin typeface="Calibri"/>
              </a:rPr>
              <a:t>trata cada decisão como mais um eixo do espaço de busca. Na literatura, isso se chama CASH: escolha conjunta de algoritmo e hiperparâmetros.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2303A"/>
                </a:solidFill>
                <a:latin typeface="Calibri"/>
              </a:rPr>
              <a:t>O motor </a:t>
            </a:r>
            <a:r>
              <a:rPr sz="1250" b="0">
                <a:solidFill>
                  <a:srgbClr val="475569"/>
                </a:solidFill>
                <a:latin typeface="Calibri"/>
              </a:rPr>
              <a:t>é o de hoje: sorteio ou bayesiana, com validação cruzada julgando cada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Ferramentas: auto-sklearn, TPOT, FLAML, H2O. Todas são uma busca muito grande sobre pipelines inteiros.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O que o AutoML NÃO automatiza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100324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O motor é validação cruzada. Tudo o que está fora dela continua sendo decisão sua.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532120" cy="363931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A MÁQUINA FAZ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32888"/>
            <a:ext cx="4946904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Testa milhares de pipelines </a:t>
            </a:r>
            <a:r>
              <a:rPr sz="1300" b="0">
                <a:solidFill>
                  <a:srgbClr val="475569"/>
                </a:solidFill>
                <a:latin typeface="Calibri"/>
              </a:rPr>
              <a:t>com validação cruzada, em paralelo.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Escolhe </a:t>
            </a:r>
            <a:r>
              <a:rPr sz="1300" b="0">
                <a:solidFill>
                  <a:srgbClr val="475569"/>
                </a:solidFill>
                <a:latin typeface="Calibri"/>
              </a:rPr>
              <a:t>pré-processamento, modelo e hiperparâmetros.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Registra tudo: </a:t>
            </a:r>
            <a:r>
              <a:rPr sz="1300" b="0">
                <a:solidFill>
                  <a:srgbClr val="475569"/>
                </a:solidFill>
                <a:latin typeface="Calibri"/>
              </a:rPr>
              <a:t>cada tentativa fica num log, o que dá rastreabilidade e reprodutibilidade.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83080"/>
            <a:ext cx="5105369" cy="3639312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2075688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VOCÊ AINDA 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532888"/>
            <a:ext cx="4520153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O problema e a métrica: </a:t>
            </a:r>
            <a:r>
              <a:rPr sz="1300" b="0">
                <a:solidFill>
                  <a:srgbClr val="475569"/>
                </a:solidFill>
                <a:latin typeface="Calibri"/>
              </a:rPr>
              <a:t>AP ou acurácia? Quanto custa cada erro? (Aulas 02–04)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O esquema de validação: </a:t>
            </a:r>
            <a:r>
              <a:rPr sz="1300" b="0">
                <a:solidFill>
                  <a:srgbClr val="475569"/>
                </a:solidFill>
                <a:latin typeface="Calibri"/>
              </a:rPr>
              <a:t>estratificado, por grupo, temporal? (Aulas 06–07)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O que pode entrar no modelo: </a:t>
            </a:r>
            <a:r>
              <a:rPr sz="1300" b="0">
                <a:solidFill>
                  <a:srgbClr val="475569"/>
                </a:solidFill>
                <a:latin typeface="Calibri"/>
              </a:rPr>
              <a:t>nas músicas, a coluna popularidade dá AP 0,936 contra 0,721, porque ela praticamente define o hit (vazamento, Aula 01). O AutoML adoraria usá-la.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12303A"/>
                </a:solidFill>
                <a:latin typeface="Calibri"/>
              </a:rPr>
              <a:t>A nota honesta: </a:t>
            </a:r>
            <a:r>
              <a:rPr sz="1300" b="0">
                <a:solidFill>
                  <a:srgbClr val="475569"/>
                </a:solidFill>
                <a:latin typeface="Calibri"/>
              </a:rPr>
              <a:t>mais tentativas deixam o best_score_ mais otimista. A nested CV ou o teste guardado continuam obrigatórios.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A tecnologia navega o relevo; quem desenha o mapa (dados, métrica, validação) é você.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32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0">
                <a:solidFill>
                  <a:srgbClr val="12303A"/>
                </a:solidFill>
                <a:latin typeface="Cambria"/>
              </a:rPr>
              <a:t>Erros comuns e boas práticas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Aula 09 - Consultoria Especializada em Ciência de Dados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Calibri"/>
              </a:rPr>
              <a:t>29/09/2026    ·   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532120" cy="415137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709928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ERROS COMUNS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67128"/>
            <a:ext cx="4946904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Sortear em escala linear o que varia por ordem de grandeza (C, ccp_alpha).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Faixa larga demais, que gasta o orçamento na região ruim, ou estreita demais, que deixa o pico de fora.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n_iter minúsculo diante do espaço: a conta 1 − (1 − p)ⁿ não fecha.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Buscar fora do Pipeline: o pré-processamento vê a dobra de validação e vaza.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Reportar o best_score_ como resultado final, ou escolher a semente pelo resultado.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Deixar o AutoML usar uma coluna que vaza o alvo.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5105369" cy="4151376"/>
          </a:xfrm>
          <a:prstGeom prst="roundRect">
            <a:avLst>
              <a:gd name="adj" fmla="val 4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84848" y="1709928"/>
            <a:ext cx="452015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5A54"/>
                </a:solidFill>
                <a:latin typeface="Calibri"/>
              </a:rPr>
              <a:t>BOAS PRÁTICAS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167128"/>
            <a:ext cx="4520153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loguniform para o que varia por fator de 10; randint para contagens; listas para categorias.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Aleatória larga primeiro; grade pequena para confirmar; pare no platô.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Escolha o n_iter pela conta de probabilidade, não no chute.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Sempre a busca sobre o Pipeline, com o scoring da métrica que importa.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Reporte a nested CV (média ± desvio) ou o teste guardado; fixe o random_state.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Revise as variáveis antes de automatizar qualquer coisa.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324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Calibri"/>
              </a:rPr>
              <a:t>Na próxima (Aula 10): curvas de validação. Um hiperparâmetro de cada vez, treino × validação, para diagnosticar sub e sobreajuste.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E621ED-C5E9-4D6E-B291-524B939E4E7D}"/>
</file>

<file path=customXml/itemProps2.xml><?xml version="1.0" encoding="utf-8"?>
<ds:datastoreItem xmlns:ds="http://schemas.openxmlformats.org/officeDocument/2006/customXml" ds:itemID="{E300AC82-FD51-4624-B793-E26184E3E2DE}"/>
</file>

<file path=customXml/itemProps3.xml><?xml version="1.0" encoding="utf-8"?>
<ds:datastoreItem xmlns:ds="http://schemas.openxmlformats.org/officeDocument/2006/customXml" ds:itemID="{A45FF816-C5CA-4259-9DB7-3E316B72135A}"/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4575</Words>
  <Application>Microsoft Office PowerPoint</Application>
  <PresentationFormat>Widescreen</PresentationFormat>
  <Paragraphs>605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CD1 - Aula 09: Busca aleatoria e AutoML</dc:title>
  <dc:subject>PptxGenJS Presentation</dc:subject>
  <dc:creator/>
  <cp:lastModifiedBy>Giovani Giulio</cp:lastModifiedBy>
  <cp:revision>6</cp:revision>
  <dcterms:created xsi:type="dcterms:W3CDTF">2026-09-05T23:47:39Z</dcterms:created>
  <dcterms:modified xsi:type="dcterms:W3CDTF">2026-10-06T20:52:41Z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