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28.xml" ContentType="application/vnd.openxmlformats-officedocument.presentationml.slide+xml"/>
  <Override PartName="/ppt/slides/slide3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40.xml" ContentType="application/vnd.openxmlformats-officedocument.presentationml.slide+xml"/>
  <Override PartName="/ppt/slides/slide39.xml" ContentType="application/vnd.openxmlformats-officedocument.presentationml.slide+xml"/>
  <Override PartName="/ppt/slides/slide38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2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93" r:id="rId35"/>
    <p:sldId id="294" r:id="rId36"/>
    <p:sldId id="295" r:id="rId37"/>
    <p:sldId id="296" r:id="rId38"/>
    <p:sldId id="297" r:id="rId39"/>
    <p:sldId id="298" r:id="rId40"/>
    <p:sldId id="299" r:id="rId4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90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47" Type="http://schemas.openxmlformats.org/officeDocument/2006/relationships/customXml" Target="../customXml/item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48" Type="http://schemas.openxmlformats.org/officeDocument/2006/relationships/customXml" Target="../customXml/item3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customXml" Target="../customXml/item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1965960"/>
            <a:ext cx="1100324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0F766E"/>
                </a:solidFill>
                <a:latin typeface="Calibri"/>
              </a:rPr>
              <a:t>CIÊNCIA DE DADOS 1 · REVISÃO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14600"/>
            <a:ext cx="11003249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400" b="1">
                <a:solidFill>
                  <a:srgbClr val="12303A"/>
                </a:solidFill>
                <a:latin typeface="Cambria"/>
              </a:rPr>
              <a:t>Aula 09 — Busca aleatória e AutoML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Aula 09 - Consultoria Especializada em Ciência de Dados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85632" y="642823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06/10/2026    ·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55279" y="640080"/>
            <a:ext cx="3931920" cy="5120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23000" b="1">
                <a:solidFill>
                  <a:srgbClr val="E9F5F3"/>
                </a:solidFill>
                <a:latin typeface="Cambria"/>
              </a:rPr>
              <a:t>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2331720"/>
            <a:ext cx="1828800" cy="475488"/>
          </a:xfrm>
          <a:prstGeom prst="roundRect">
            <a:avLst>
              <a:gd name="adj" fmla="val 16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432304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PARTE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971800"/>
            <a:ext cx="768096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100" b="1">
                <a:solidFill>
                  <a:srgbClr val="12303A"/>
                </a:solidFill>
                <a:latin typeface="Cambria"/>
              </a:rPr>
              <a:t>Relembrando os conceitos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Aula 09 - Consultoria Especializada em Ciência de Dados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85632" y="642823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06/10/2026    ·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100324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0">
                <a:solidFill>
                  <a:srgbClr val="12303A"/>
                </a:solidFill>
                <a:latin typeface="Cambria"/>
              </a:rPr>
              <a:t>Por que sortear vence a grade com o mesmo orçamento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100324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A grade multiplica; o sorteio não. E quase sempre poucos hiperparâmetros importam.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719072"/>
            <a:ext cx="11003249" cy="1481328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975104"/>
            <a:ext cx="10180289" cy="9692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475569"/>
                </a:solidFill>
                <a:latin typeface="Calibri"/>
              </a:rPr>
              <a:t>A floresta tem 5 hiperparâmetros. Uma grade modesta — 4 × 5 × 4 × 4 × 4 — já dá </a:t>
            </a:r>
            <a:r>
              <a:rPr sz="1600" b="1">
                <a:solidFill>
                  <a:srgbClr val="12303A"/>
                </a:solidFill>
                <a:latin typeface="Calibri"/>
              </a:rPr>
              <a:t>1.280 combinações</a:t>
            </a:r>
            <a:r>
              <a:rPr sz="1600" b="0">
                <a:solidFill>
                  <a:srgbClr val="475569"/>
                </a:solidFill>
                <a:latin typeface="Calibri"/>
              </a:rPr>
              <a:t> e, com 5 dobras, </a:t>
            </a:r>
            <a:r>
              <a:rPr sz="1600" b="1">
                <a:solidFill>
                  <a:srgbClr val="12303A"/>
                </a:solidFill>
                <a:latin typeface="Calibri"/>
              </a:rPr>
              <a:t>6.400 treinos</a:t>
            </a:r>
            <a:r>
              <a:rPr sz="1600" b="0">
                <a:solidFill>
                  <a:srgbClr val="475569"/>
                </a:solidFill>
                <a:latin typeface="Calibri"/>
              </a:rPr>
              <a:t>. Cada hiperparâmetro novo MULTIPLICA o custo. O sorteio quebra essa conta: você diz quantas medições quer (n_iter) e o custo para de depender de quantos hiperparâmetros existem.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3401568"/>
            <a:ext cx="5532120" cy="2203704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3694176"/>
            <a:ext cx="49469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B5A54"/>
                </a:solidFill>
                <a:latin typeface="Calibri"/>
              </a:rPr>
              <a:t>GRADE 4 × 4 — 16 medições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4151376"/>
            <a:ext cx="4946904" cy="1216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12303A"/>
                </a:solidFill>
                <a:latin typeface="Calibri"/>
              </a:rPr>
              <a:t>Testa 4 valores de cada um dos dois.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12303A"/>
                </a:solidFill>
                <a:latin typeface="Calibri"/>
              </a:rPr>
              <a:t>Se só um dos dois importa,</a:t>
            </a:r>
            <a:r>
              <a:rPr sz="1400" b="0">
                <a:solidFill>
                  <a:srgbClr val="475569"/>
                </a:solidFill>
                <a:latin typeface="Calibri"/>
              </a:rPr>
              <a:t> você gastou 16 medições para ver 4 valores dele — os outros 12 pontos repetem os mesmos 4, em alturas diferentes do eixo que não importa.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3401568"/>
            <a:ext cx="5105369" cy="2203704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84848" y="3694176"/>
            <a:ext cx="452015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B5A54"/>
                </a:solidFill>
                <a:latin typeface="Calibri"/>
              </a:rPr>
              <a:t>ALEATÓRIA — 16 sorteios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84848" y="4151376"/>
            <a:ext cx="4520153" cy="1216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12303A"/>
                </a:solidFill>
                <a:latin typeface="Calibri"/>
              </a:rPr>
              <a:t>Testa 16 valores DIFERENTES de cada um.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12303A"/>
                </a:solidFill>
                <a:latin typeface="Calibri"/>
              </a:rPr>
              <a:t>Projetado no eixo que importa,</a:t>
            </a:r>
            <a:r>
              <a:rPr sz="1400" b="0">
                <a:solidFill>
                  <a:srgbClr val="475569"/>
                </a:solidFill>
                <a:latin typeface="Calibri"/>
              </a:rPr>
              <a:t> o sorteio cobre 16 posições em vez de 4. É daí que vem a vantagem — não de sorte, de cobertura.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943600"/>
            <a:ext cx="1100324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Calibri"/>
              </a:rPr>
              <a:t>Na base das músicas: grade 4 × 4 deu 0,615; aleatória de 16 sorteios (semente 0) deu 0,627.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Aula 09 - Consultoria Especializada em Ciência de Dados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642823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06/10/2026    ·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100324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0">
                <a:solidFill>
                  <a:srgbClr val="12303A"/>
                </a:solidFill>
                <a:latin typeface="Cambria"/>
              </a:rPr>
              <a:t>A conta que justifica o sorteio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100324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Qual a chance de pelo menos um dos n sorteios cair na região boa?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737360"/>
            <a:ext cx="11003249" cy="96012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975104"/>
            <a:ext cx="10454609" cy="484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500" b="0">
                <a:solidFill>
                  <a:srgbClr val="12303A"/>
                </a:solidFill>
                <a:latin typeface="Consolas"/>
              </a:rPr>
              <a:t>P(acertar ao menos uma vez)  =  1  −  (1 − p)ⁿ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500" b="0">
                <a:solidFill>
                  <a:srgbClr val="12303A"/>
                </a:solidFill>
                <a:latin typeface="Consolas"/>
              </a:rPr>
              <a:t>p = fração do espaço ocupada pela região boa     ·     n = número de sorteios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2834640"/>
          <a:ext cx="11000232" cy="1609344"/>
        </p:xfrm>
        <a:graphic>
          <a:graphicData uri="http://schemas.openxmlformats.org/drawingml/2006/table">
            <a:tbl>
              <a:tblPr/>
              <a:tblGrid>
                <a:gridCol w="33192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 (a região boa ocupa…)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 = 10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 = 16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 = 30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 = 60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303A"/>
                          </a:solidFill>
                          <a:latin typeface="Calibri"/>
                        </a:rPr>
                        <a:t>5 % do espaço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303A"/>
                          </a:solidFill>
                          <a:latin typeface="Calibri"/>
                        </a:rPr>
                        <a:t>40 %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303A"/>
                          </a:solidFill>
                          <a:latin typeface="Calibri"/>
                        </a:rPr>
                        <a:t>56 %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303A"/>
                          </a:solidFill>
                          <a:latin typeface="Calibri"/>
                        </a:rPr>
                        <a:t>79 %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303A"/>
                          </a:solidFill>
                          <a:latin typeface="Calibri"/>
                        </a:rPr>
                        <a:t>95 %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303A"/>
                          </a:solidFill>
                          <a:latin typeface="Calibri"/>
                        </a:rPr>
                        <a:t>10 % do espaço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303A"/>
                          </a:solidFill>
                          <a:latin typeface="Calibri"/>
                        </a:rPr>
                        <a:t>65 %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303A"/>
                          </a:solidFill>
                          <a:latin typeface="Calibri"/>
                        </a:rPr>
                        <a:t>81 %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303A"/>
                          </a:solidFill>
                          <a:latin typeface="Calibri"/>
                        </a:rPr>
                        <a:t>96 %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303A"/>
                          </a:solidFill>
                          <a:latin typeface="Calibri"/>
                        </a:rPr>
                        <a:t>99,8 %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303A"/>
                          </a:solidFill>
                          <a:latin typeface="Calibri"/>
                        </a:rPr>
                        <a:t>15 % do espaço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303A"/>
                          </a:solidFill>
                          <a:latin typeface="Calibri"/>
                        </a:rPr>
                        <a:t>80 %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B5A54"/>
                          </a:solidFill>
                          <a:latin typeface="Calibri"/>
                        </a:rPr>
                        <a:t>93 %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E9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303A"/>
                          </a:solidFill>
                          <a:latin typeface="Calibri"/>
                        </a:rPr>
                        <a:t>99 %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303A"/>
                          </a:solidFill>
                          <a:latin typeface="Calibri"/>
                        </a:rPr>
                        <a:t>≈ 100 %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94360" y="4535424"/>
            <a:ext cx="11003249" cy="1453896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4828032"/>
            <a:ext cx="1041803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B5A54"/>
                </a:solidFill>
                <a:latin typeface="Calibri"/>
              </a:rPr>
              <a:t>O QUE A CONTA NÃO 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5285232"/>
            <a:ext cx="10418033" cy="4663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200" b="1">
                <a:solidFill>
                  <a:srgbClr val="12303A"/>
                </a:solidFill>
                <a:latin typeface="Calibri"/>
              </a:rPr>
              <a:t>O número de hiperparâmetros não aparece na fórmula:</a:t>
            </a:r>
            <a:r>
              <a:rPr sz="1200" b="0">
                <a:solidFill>
                  <a:srgbClr val="475569"/>
                </a:solidFill>
                <a:latin typeface="Calibri"/>
              </a:rPr>
              <a:t> ela só depende de p e de n. Acrescentar um hiperparâmetro irrelevante não encarece a busca aleatória — numa grade, ele multiplicaria o custo por 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Aula 09 - Consultoria Especializada em Ciência de Dados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85632" y="642823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06/10/2026    ·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100324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0">
                <a:solidFill>
                  <a:srgbClr val="12303A"/>
                </a:solidFill>
                <a:latin typeface="Cambria"/>
              </a:rPr>
              <a:t>Ler o resultado: o pódio, o platô e a borda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100324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O best_params_ é uma linha do cv_results_ — e sozinho ele engana.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783080"/>
          <a:ext cx="6766560" cy="219456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posição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AP média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desvio entre dobras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303A"/>
                          </a:solidFill>
                          <a:latin typeface="Calibri"/>
                        </a:rPr>
                        <a:t>1º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B5A54"/>
                          </a:solidFill>
                          <a:latin typeface="Calibri"/>
                        </a:rPr>
                        <a:t>0,627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E9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303A"/>
                          </a:solidFill>
                          <a:latin typeface="Calibri"/>
                        </a:rPr>
                        <a:t>± 0,11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303A"/>
                          </a:solidFill>
                          <a:latin typeface="Calibri"/>
                        </a:rPr>
                        <a:t>2º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303A"/>
                          </a:solidFill>
                          <a:latin typeface="Calibri"/>
                        </a:rPr>
                        <a:t>0,624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303A"/>
                          </a:solidFill>
                          <a:latin typeface="Calibri"/>
                        </a:rPr>
                        <a:t>± 0,10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303A"/>
                          </a:solidFill>
                          <a:latin typeface="Calibri"/>
                        </a:rPr>
                        <a:t>3º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303A"/>
                          </a:solidFill>
                          <a:latin typeface="Calibri"/>
                        </a:rPr>
                        <a:t>0,621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303A"/>
                          </a:solidFill>
                          <a:latin typeface="Calibri"/>
                        </a:rPr>
                        <a:t>± 0,12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303A"/>
                          </a:solidFill>
                          <a:latin typeface="Calibri"/>
                        </a:rPr>
                        <a:t>4º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303A"/>
                          </a:solidFill>
                          <a:latin typeface="Calibri"/>
                        </a:rPr>
                        <a:t>0,617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303A"/>
                          </a:solidFill>
                          <a:latin typeface="Calibri"/>
                        </a:rPr>
                        <a:t>± 0,11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303A"/>
                          </a:solidFill>
                          <a:latin typeface="Calibri"/>
                        </a:rPr>
                        <a:t>5º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303A"/>
                          </a:solidFill>
                          <a:latin typeface="Calibri"/>
                        </a:rPr>
                        <a:t>0,613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303A"/>
                          </a:solidFill>
                          <a:latin typeface="Calibri"/>
                        </a:rPr>
                        <a:t>± 0,10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406640" y="1783080"/>
            <a:ext cx="4190969" cy="2130552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99248" y="2075688"/>
            <a:ext cx="360575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B5A54"/>
                </a:solidFill>
                <a:latin typeface="Calibri"/>
              </a:rPr>
              <a:t>O QUE ISSO 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99248" y="2532888"/>
            <a:ext cx="3605753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050" b="1">
                <a:solidFill>
                  <a:srgbClr val="12303A"/>
                </a:solidFill>
                <a:latin typeface="Calibri"/>
              </a:rPr>
              <a:t>Um platô, não um pódio.</a:t>
            </a:r>
            <a:r>
              <a:rPr sz="1050" b="0">
                <a:solidFill>
                  <a:srgbClr val="475569"/>
                </a:solidFill>
                <a:latin typeface="Calibri"/>
              </a:rPr>
              <a:t> A diferença entre o 1º e o 5º é 0,014; o desvio entre dobras é ±0,11 — oito vezes maior. A diferença cabe no ruído.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050" b="1">
                <a:solidFill>
                  <a:srgbClr val="12303A"/>
                </a:solidFill>
                <a:latin typeface="Calibri"/>
              </a:rPr>
              <a:t>O que fazer:</a:t>
            </a:r>
            <a:r>
              <a:rPr sz="1050" b="0">
                <a:solidFill>
                  <a:srgbClr val="475569"/>
                </a:solidFill>
                <a:latin typeface="Calibri"/>
              </a:rPr>
              <a:t> entre configurações empatadas, prefira a mais simples ou a mais estável, não a que ficou em primeiro por acaso.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4270248"/>
            <a:ext cx="11003249" cy="1719072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4562856"/>
            <a:ext cx="1041803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B5A54"/>
                </a:solidFill>
                <a:latin typeface="Calibri"/>
              </a:rPr>
              <a:t>O MELHOR NA BORDA DA FAIXA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5020056"/>
            <a:ext cx="10418033" cy="7315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12303A"/>
                </a:solidFill>
                <a:latin typeface="Calibri"/>
              </a:rPr>
              <a:t>Se o melhor ccp_alpha sai no MENOR valor que você definiu,</a:t>
            </a:r>
            <a:r>
              <a:rPr sz="1250" b="0">
                <a:solidFill>
                  <a:srgbClr val="475569"/>
                </a:solidFill>
                <a:latin typeface="Calibri"/>
              </a:rPr>
              <a:t> o pico provavelmente está FORA da faixa: a busca foi até onde podia e parou na parede. Amplie e rode de novo. É o gatilho do "grosso ao fino": aleatória larga e em log primeiro, depois uma grade pequena em volta dos melhores — parando quando os números viram platô.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Aula 09 - Consultoria Especializada em Ciência de Dados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85632" y="642823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06/10/2026    ·   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100324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0">
                <a:solidFill>
                  <a:srgbClr val="12303A"/>
                </a:solidFill>
                <a:latin typeface="Cambria"/>
              </a:rPr>
              <a:t>Os três números que saem da mesma busca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100324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Só dois deles podem ser reportados como desempenho.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783080"/>
          <a:ext cx="11000232" cy="2633472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449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número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valor na aula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o que ele é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serve para…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2303A"/>
                          </a:solidFill>
                          <a:latin typeface="Calibri"/>
                        </a:rPr>
                        <a:t>best_score_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2303A"/>
                          </a:solidFill>
                          <a:latin typeface="Calibri"/>
                        </a:rPr>
                        <a:t>0,652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2303A"/>
                          </a:solidFill>
                          <a:latin typeface="Calibri"/>
                        </a:rPr>
                        <a:t>o MÁXIMO de 40 medições feitas na validação que escolheu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0B5A54"/>
                          </a:solidFill>
                          <a:latin typeface="Calibri"/>
                        </a:rPr>
                        <a:t>ESCOLHER — nunca reportar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E9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2303A"/>
                          </a:solidFill>
                          <a:latin typeface="Calibri"/>
                        </a:rPr>
                        <a:t>nested CV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2303A"/>
                          </a:solidFill>
                          <a:latin typeface="Calibri"/>
                        </a:rPr>
                        <a:t>0,615 ± 0,126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2303A"/>
                          </a:solidFill>
                          <a:latin typeface="Calibri"/>
                        </a:rPr>
                        <a:t>a média de rodar a busca inteira dentro de cada dobra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2303A"/>
                          </a:solidFill>
                          <a:latin typeface="Calibri"/>
                        </a:rPr>
                        <a:t>reportar: é a estimativa mais estável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2303A"/>
                          </a:solidFill>
                          <a:latin typeface="Calibri"/>
                        </a:rPr>
                        <a:t>teste guardado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2303A"/>
                          </a:solidFill>
                          <a:latin typeface="Calibri"/>
                        </a:rPr>
                        <a:t>0,711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2303A"/>
                          </a:solidFill>
                          <a:latin typeface="Calibri"/>
                        </a:rPr>
                        <a:t>uma medição única, em dados nunca tocados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2303A"/>
                          </a:solidFill>
                          <a:latin typeface="Calibri"/>
                        </a:rPr>
                        <a:t>reportar, com a ressalva do tamanho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94360" y="4325112"/>
            <a:ext cx="11003249" cy="1435608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4617720"/>
            <a:ext cx="1041803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B5A54"/>
                </a:solidFill>
                <a:latin typeface="Calibri"/>
              </a:rPr>
              <a:t>POR QUE O best_score_ NÃO VALE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5074920"/>
            <a:ext cx="10418033" cy="448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150" b="1">
                <a:solidFill>
                  <a:srgbClr val="12303A"/>
                </a:solidFill>
                <a:latin typeface="Calibri"/>
              </a:rPr>
              <a:t>Quem escolhe não mede (Aula 07).</a:t>
            </a:r>
            <a:r>
              <a:rPr sz="1150" b="0">
                <a:solidFill>
                  <a:srgbClr val="475569"/>
                </a:solidFill>
                <a:latin typeface="Calibri"/>
              </a:rPr>
              <a:t> O best_score_ é o maior de 40 números medidos na MESMA validação que serviu para escolher — tomar o máximo de 40 medições ruidosas já é, por construção, otimista. E o 0,711 do teste guardado veio de 38 hits apenas: é um número com ruído alto, por isso vale dizer a faixa, não só o valor.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Aula 09 - Consultoria Especializada em Ciência de Dados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85632" y="642823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06/10/2026    ·   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100324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0">
                <a:solidFill>
                  <a:srgbClr val="12303A"/>
                </a:solidFill>
                <a:latin typeface="Cambria"/>
              </a:rPr>
              <a:t>O mini-AutoML: o que ele automatiza, e o que não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100324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Uma LISTA de espaços dentro do mesmo RandomizedSearchCV — não uma grade maior.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783080"/>
          <a:ext cx="11000232" cy="1682496"/>
        </p:xfrm>
        <a:graphic>
          <a:graphicData uri="http://schemas.openxmlformats.org/drawingml/2006/table">
            <a:tbl>
              <a:tblPr/>
              <a:tblGrid>
                <a:gridCol w="4297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219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modelo (30 sorteios ao todo)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sorteios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melhor AP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mediana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303A"/>
                          </a:solidFill>
                          <a:latin typeface="Calibri"/>
                        </a:rPr>
                        <a:t>logística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303A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B5A54"/>
                          </a:solidFill>
                          <a:latin typeface="Calibri"/>
                        </a:rPr>
                        <a:t>0,721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E9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303A"/>
                          </a:solidFill>
                          <a:latin typeface="Calibri"/>
                        </a:rPr>
                        <a:t>0,716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303A"/>
                          </a:solidFill>
                          <a:latin typeface="Calibri"/>
                        </a:rPr>
                        <a:t>floresta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303A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303A"/>
                          </a:solidFill>
                          <a:latin typeface="Calibri"/>
                        </a:rPr>
                        <a:t>0,631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303A"/>
                          </a:solidFill>
                          <a:latin typeface="Calibri"/>
                        </a:rPr>
                        <a:t>0,607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303A"/>
                          </a:solidFill>
                          <a:latin typeface="Calibri"/>
                        </a:rPr>
                        <a:t>árvore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303A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303A"/>
                          </a:solidFill>
                          <a:latin typeface="Calibri"/>
                        </a:rPr>
                        <a:t>0,413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303A"/>
                          </a:solidFill>
                          <a:latin typeface="Calibri"/>
                        </a:rPr>
                        <a:t>0,378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94360" y="3630168"/>
            <a:ext cx="11003249" cy="2359152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3922776"/>
            <a:ext cx="1041803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B5A54"/>
                </a:solidFill>
                <a:latin typeface="Calibri"/>
              </a:rPr>
              <a:t>A LEITURA DESSA TABELA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4379976"/>
            <a:ext cx="10418033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150" b="1">
                <a:solidFill>
                  <a:srgbClr val="12303A"/>
                </a:solidFill>
                <a:latin typeface="Calibri"/>
              </a:rPr>
              <a:t>O espaço é CONDICIONAL, não uma grade maior:</a:t>
            </a:r>
            <a:r>
              <a:rPr sz="1150" b="0">
                <a:solidFill>
                  <a:srgbClr val="475569"/>
                </a:solidFill>
                <a:latin typeface="Calibri"/>
              </a:rPr>
              <a:t> o C só existe se o sorteio cair na logística, o ccp_alpha só se cair na floresta. Uma grade cruzaria tudo com tudo e geraria combinações impossíveis.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150" b="1">
                <a:solidFill>
                  <a:srgbClr val="12303A"/>
                </a:solidFill>
                <a:latin typeface="Calibri"/>
              </a:rPr>
              <a:t>Escolher o MODELO pesou 0,31; afinar o vencedor pesou 0,005.</a:t>
            </a:r>
            <a:r>
              <a:rPr sz="1150" b="0">
                <a:solidFill>
                  <a:srgbClr val="475569"/>
                </a:solidFill>
                <a:latin typeface="Calibri"/>
              </a:rPr>
              <a:t> Da logística (0,721) à árvore (0,413) vão 0,31; do melhor sorteio da logística à mediana dela, 0,005. Acrescentar sete modelos sem subir o n_iter dá ~3 sorteios por modelo, e a conta 1 − (1 − p)ⁿ não fecha.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150" b="1">
                <a:solidFill>
                  <a:srgbClr val="12303A"/>
                </a:solidFill>
                <a:latin typeface="Calibri"/>
              </a:rPr>
              <a:t>O que ele NÃO automatiza:</a:t>
            </a:r>
            <a:r>
              <a:rPr sz="1150" b="0">
                <a:solidFill>
                  <a:srgbClr val="475569"/>
                </a:solidFill>
                <a:latin typeface="Calibri"/>
              </a:rPr>
              <a:t> deixar a coluna popularidade entrar leva a AP de 0,721 para 0,936 — ele otimizaria com prazer uma variável que vaza o alvo.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Aula 09 - Consultoria Especializada em Ciência de Dados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85632" y="642823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06/10/2026    ·   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55279" y="640080"/>
            <a:ext cx="3931920" cy="39889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lang="pt-BR" sz="23000" b="1" dirty="0">
                <a:solidFill>
                  <a:srgbClr val="E9F5F3"/>
                </a:solidFill>
                <a:latin typeface="Cambria"/>
              </a:rPr>
              <a:t>2</a:t>
            </a:r>
            <a:endParaRPr sz="23000" b="1" dirty="0">
              <a:solidFill>
                <a:srgbClr val="E9F5F3"/>
              </a:solidFill>
              <a:latin typeface="Cambria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94360" y="2331720"/>
            <a:ext cx="1828800" cy="475488"/>
          </a:xfrm>
          <a:prstGeom prst="roundRect">
            <a:avLst>
              <a:gd name="adj" fmla="val 16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432304"/>
            <a:ext cx="1828800" cy="21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 dirty="0">
                <a:solidFill>
                  <a:srgbClr val="FFFFFF"/>
                </a:solidFill>
                <a:latin typeface="Calibri"/>
              </a:rPr>
              <a:t>PARTE </a:t>
            </a:r>
            <a:r>
              <a:rPr lang="pt-BR" sz="1200" b="1" dirty="0">
                <a:solidFill>
                  <a:srgbClr val="FFFFFF"/>
                </a:solidFill>
                <a:latin typeface="Calibri"/>
              </a:rPr>
              <a:t>2</a:t>
            </a:r>
            <a:endParaRPr sz="12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2971800"/>
            <a:ext cx="768096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100" b="1">
                <a:solidFill>
                  <a:srgbClr val="12303A"/>
                </a:solidFill>
                <a:latin typeface="Cambria"/>
              </a:rPr>
              <a:t>O questionário, questão a questão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Aula 09 - Consultoria Especializada em Ciência de Dados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85632" y="642823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06/10/2026    ·   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100324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0">
                <a:solidFill>
                  <a:srgbClr val="12303A"/>
                </a:solidFill>
                <a:latin typeface="Cambria"/>
              </a:rPr>
              <a:t>Questão 1 de 16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298448"/>
            <a:ext cx="11003249" cy="1170432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10180289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12303A"/>
                </a:solidFill>
                <a:latin typeface="Calibri"/>
              </a:rPr>
              <a:t>A floresta do lab tem 5 hiperparâmetros; uma grade modesta dá 4 × 5 × 4 × 4 × 4 = 1.280 combinações. Com 5 dobras, por que isso motiva a busca aleatória?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651760"/>
            <a:ext cx="11003249" cy="658368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58952" y="2825496"/>
            <a:ext cx="329184" cy="31089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2875788"/>
            <a:ext cx="3291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475569"/>
                </a:solidFill>
                <a:latin typeface="Calibri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834640"/>
            <a:ext cx="10043129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2303A"/>
                </a:solidFill>
                <a:latin typeface="Calibri"/>
              </a:rPr>
              <a:t>porque o GridSearchCV não aceita mais de dois hiperparâmetros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429000"/>
            <a:ext cx="11003249" cy="658368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58952" y="3602736"/>
            <a:ext cx="329184" cy="31089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" y="3653028"/>
            <a:ext cx="3291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475569"/>
                </a:solidFill>
                <a:latin typeface="Calibri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611880"/>
            <a:ext cx="10043129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2303A"/>
                </a:solidFill>
                <a:latin typeface="Calibri"/>
              </a:rPr>
              <a:t>porque a grade perde precisão quando tem muitos eixos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4206240"/>
            <a:ext cx="11003249" cy="658368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58952" y="4379976"/>
            <a:ext cx="329184" cy="31089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8952" y="4430268"/>
            <a:ext cx="3291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475569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89120"/>
            <a:ext cx="10043129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2303A"/>
                </a:solidFill>
                <a:latin typeface="Calibri"/>
              </a:rPr>
              <a:t>porque seriam 6.400 treinos: cada hiperparâmetro novo MULTIPLICA o custo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983480"/>
            <a:ext cx="11003249" cy="658368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58952" y="5157216"/>
            <a:ext cx="329184" cy="31089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8952" y="5207508"/>
            <a:ext cx="3291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475569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5166360"/>
            <a:ext cx="10043129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2303A"/>
                </a:solidFill>
                <a:latin typeface="Calibri"/>
              </a:rPr>
              <a:t>porque combinações demais causam vazamento entre as dobras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943600"/>
            <a:ext cx="1100324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Calibri"/>
              </a:rPr>
              <a:t>Pense antes de virar o slide.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Aula 09 - Consultoria Especializada em Ciência de Dados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5632" y="642823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06/10/2026    ·   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100324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0">
                <a:solidFill>
                  <a:srgbClr val="12303A"/>
                </a:solidFill>
                <a:latin typeface="Cambria"/>
              </a:rPr>
              <a:t>Questão 1 — resposta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100324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A floresta do lab tem 5 hiperparâmetros; uma grade modesta dá 4 × 5 × 4 × 4 × 4 = 1.280 combinações. Com 5 dobras, por que isso motiva a busca aleatória?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783080"/>
            <a:ext cx="11003249" cy="859536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23544" y="2002536"/>
            <a:ext cx="8854409" cy="4206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>
                <a:solidFill>
                  <a:srgbClr val="0B5A54"/>
                </a:solidFill>
                <a:latin typeface="Calibri"/>
              </a:rPr>
              <a:t>C)  porque seriam 6.400 treinos: cada hiperparâmetro novo MULTIPLICA o custo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80289" y="2029967"/>
            <a:ext cx="1143000" cy="36576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180289" y="2112263"/>
            <a:ext cx="1143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CORRETA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898648"/>
            <a:ext cx="11003249" cy="1554480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3191256"/>
            <a:ext cx="1041803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B5A54"/>
                </a:solidFill>
                <a:latin typeface="Calibri"/>
              </a:rPr>
              <a:t>POR QUÊ?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648456"/>
            <a:ext cx="10418033" cy="566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50" b="0">
                <a:solidFill>
                  <a:srgbClr val="475569"/>
                </a:solidFill>
                <a:latin typeface="Calibri"/>
              </a:rPr>
              <a:t>1.280 × 5 = 6.400 ajustes. O custo da grade é multiplicativo: um eixo novo com 4 valores multiplica tudo por 4. A busca aleatória troca isso por um ORÇAMENTO que você fixa (n_iter).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943600"/>
            <a:ext cx="1100324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Calibri"/>
              </a:rPr>
              <a:t>Formulário da Aula 09 · 2 respostas · 16 e 16 de 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Aula 09 - Consultoria Especializada em Ciência de Dados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5632" y="642823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06/10/2026    ·   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100324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0">
                <a:solidFill>
                  <a:srgbClr val="12303A"/>
                </a:solidFill>
                <a:latin typeface="Cambria"/>
              </a:rPr>
              <a:t>Questão 2 de 16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298448"/>
            <a:ext cx="11003249" cy="859536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10180289" cy="347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12303A"/>
                </a:solidFill>
                <a:latin typeface="Calibri"/>
              </a:rPr>
              <a:t>Com o MESMO orçamento de 16 medições, por que o sorteio costuma vencer a grade?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340864"/>
            <a:ext cx="11003249" cy="676656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58952" y="2523744"/>
            <a:ext cx="329184" cy="31089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2574036"/>
            <a:ext cx="3291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475569"/>
                </a:solidFill>
                <a:latin typeface="Calibri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523744"/>
            <a:ext cx="1004312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2303A"/>
                </a:solidFill>
                <a:latin typeface="Calibri"/>
              </a:rPr>
              <a:t>porque o sorteio repete menos combinações já testadas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136392"/>
            <a:ext cx="11003249" cy="676656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58952" y="3319272"/>
            <a:ext cx="329184" cy="31089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" y="3369564"/>
            <a:ext cx="3291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475569"/>
                </a:solidFill>
                <a:latin typeface="Calibri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319272"/>
            <a:ext cx="1004312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2303A"/>
                </a:solidFill>
                <a:latin typeface="Calibri"/>
              </a:rPr>
              <a:t>porque a grade testa só 4 valores do hiperparâmetro que importa, enquanto o sorteio testa 16 valores diferentes dele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931920"/>
            <a:ext cx="11003249" cy="676656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58952" y="4114800"/>
            <a:ext cx="329184" cy="31089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8952" y="4165091"/>
            <a:ext cx="3291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475569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114800"/>
            <a:ext cx="1004312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2303A"/>
                </a:solidFill>
                <a:latin typeface="Calibri"/>
              </a:rPr>
              <a:t>porque pontos aleatórios cobrem áreas maiores do espaço do que pontos alinhados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727448"/>
            <a:ext cx="11003249" cy="676656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58952" y="4910328"/>
            <a:ext cx="329184" cy="31089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8952" y="4960620"/>
            <a:ext cx="3291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475569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910328"/>
            <a:ext cx="1004312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2303A"/>
                </a:solidFill>
                <a:latin typeface="Calibri"/>
              </a:rPr>
              <a:t>porque o sorteio evita as bordas da faixa, onde o desempenho costuma ser pior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943600"/>
            <a:ext cx="1100324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Calibri"/>
              </a:rPr>
              <a:t>Pense antes de virar o slide.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Aula 09 - Consultoria Especializada em Ciência de Dados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5632" y="642823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06/10/2026    ·   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100324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0">
                <a:solidFill>
                  <a:srgbClr val="12303A"/>
                </a:solidFill>
                <a:latin typeface="Cambria"/>
              </a:rPr>
              <a:t>Questão 2 — resposta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100324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Com o MESMO orçamento de 16 medições, por que o sorteio costuma vencer a grade?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783080"/>
            <a:ext cx="11003249" cy="1170432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23544" y="2002536"/>
            <a:ext cx="8854409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>
                <a:solidFill>
                  <a:srgbClr val="0B5A54"/>
                </a:solidFill>
                <a:latin typeface="Calibri"/>
              </a:rPr>
              <a:t>B)  porque a grade testa só 4 valores do hiperparâmetro que importa, enquanto o sorteio testa 16 valores diferentes dele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80289" y="2185416"/>
            <a:ext cx="1143000" cy="36576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180289" y="2267712"/>
            <a:ext cx="1143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CORRETA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209544"/>
            <a:ext cx="11003249" cy="1828800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3502151"/>
            <a:ext cx="1041803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B5A54"/>
                </a:solidFill>
                <a:latin typeface="Calibri"/>
              </a:rPr>
              <a:t>POR QUÊ?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959352"/>
            <a:ext cx="10418033" cy="8412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50" b="0">
                <a:solidFill>
                  <a:srgbClr val="475569"/>
                </a:solidFill>
                <a:latin typeface="Calibri"/>
              </a:rPr>
              <a:t>É o argumento de Bergstra e Bengio (2012). Numa grade 4 × 4, as 16 combinações caem em apenas 4 valores de cada eixo. Se um eixo quase não importa (o max_features, nas músicas) e o outro manda (a poda), a grade gastou 12 medições variando o que não serve. O sorteio dá 16 leituras diferentes do eixo que importa — sem você precisar saber de antemão qual é ele.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943600"/>
            <a:ext cx="1100324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Calibri"/>
              </a:rPr>
              <a:t>Formulário da Aula 09 · 2 respostas · 16 e 16 de 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Aula 09 - Consultoria Especializada em Ciência de Dados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5632" y="642823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06/10/2026    ·   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100324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0">
                <a:solidFill>
                  <a:srgbClr val="12303A"/>
                </a:solidFill>
                <a:latin typeface="Cambria"/>
              </a:rPr>
              <a:t>Questão 3 de 16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298448"/>
            <a:ext cx="11003249" cy="1170432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10180289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12303A"/>
                </a:solidFill>
                <a:latin typeface="Calibri"/>
              </a:rPr>
              <a:t>Na aula, a aleatória de 16 sorteios deu 0,627 contra 0,615 da grade. Repetir a busca com 100 sementes diferentes mostrou que: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651760"/>
            <a:ext cx="11003249" cy="658368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58952" y="2825496"/>
            <a:ext cx="329184" cy="31089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2875788"/>
            <a:ext cx="3291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475569"/>
                </a:solidFill>
                <a:latin typeface="Calibri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834640"/>
            <a:ext cx="10043129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2303A"/>
                </a:solidFill>
                <a:latin typeface="Calibri"/>
              </a:rPr>
              <a:t>metade das sementes ficou abaixo da grade: o ganho foi sorte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429000"/>
            <a:ext cx="11003249" cy="658368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58952" y="3602736"/>
            <a:ext cx="329184" cy="31089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" y="3653028"/>
            <a:ext cx="3291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475569"/>
                </a:solidFill>
                <a:latin typeface="Calibri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611880"/>
            <a:ext cx="10043129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2303A"/>
                </a:solidFill>
                <a:latin typeface="Calibri"/>
              </a:rPr>
              <a:t>a média das 100 sementes é o número que se deve reportar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4206240"/>
            <a:ext cx="11003249" cy="658368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58952" y="4379976"/>
            <a:ext cx="329184" cy="31089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8952" y="4430268"/>
            <a:ext cx="3291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475569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89120"/>
            <a:ext cx="10043129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2303A"/>
                </a:solidFill>
                <a:latin typeface="Calibri"/>
              </a:rPr>
              <a:t>a semente 0 foi a melhor das 100, por isso o resultado pareceu bom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983480"/>
            <a:ext cx="11003249" cy="658368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58952" y="5157216"/>
            <a:ext cx="329184" cy="31089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8952" y="5207508"/>
            <a:ext cx="3291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475569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5166360"/>
            <a:ext cx="10043129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2303A"/>
                </a:solidFill>
                <a:latin typeface="Calibri"/>
              </a:rPr>
              <a:t>as 100 ficaram acima da grade (média 0,640), e a semente 0 ficou até abaixo da média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943600"/>
            <a:ext cx="1100324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Calibri"/>
              </a:rPr>
              <a:t>Pense antes de virar o slide.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Aula 09 - Consultoria Especializada em Ciência de Dados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5632" y="642823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06/10/2026    ·   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100324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0">
                <a:solidFill>
                  <a:srgbClr val="12303A"/>
                </a:solidFill>
                <a:latin typeface="Cambria"/>
              </a:rPr>
              <a:t>Questão 3 — resposta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100324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Na aula, a aleatória de 16 sorteios deu 0,627 contra 0,615 da grade. Repetir a busca com 100 sementes diferentes mostrou que: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783080"/>
            <a:ext cx="11003249" cy="859536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23544" y="2002536"/>
            <a:ext cx="8854409" cy="4206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>
                <a:solidFill>
                  <a:srgbClr val="0B5A54"/>
                </a:solidFill>
                <a:latin typeface="Calibri"/>
              </a:rPr>
              <a:t>D)  as 100 ficaram acima da grade (média 0,640), e a semente 0 ficou até abaixo da média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80289" y="2029967"/>
            <a:ext cx="1143000" cy="36576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180289" y="2112263"/>
            <a:ext cx="1143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CORRETA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898648"/>
            <a:ext cx="11003249" cy="1554480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3191256"/>
            <a:ext cx="1041803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B5A54"/>
                </a:solidFill>
                <a:latin typeface="Calibri"/>
              </a:rPr>
              <a:t>POR QUÊ?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648456"/>
            <a:ext cx="10418033" cy="566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50" b="0">
                <a:solidFill>
                  <a:srgbClr val="475569"/>
                </a:solidFill>
                <a:latin typeface="Calibri"/>
              </a:rPr>
              <a:t>O experimento das 100 sementes serve para mostrar que o ganho não dependeu de sorte — e não para virar o número reportado. Na prática roda-se UMA busca, com random_state fixo. E a promessa da aleatória é de probabilidade: quase sempre dá bom, não é garantia.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943600"/>
            <a:ext cx="1100324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Calibri"/>
              </a:rPr>
              <a:t>Formulário da Aula 09 · 2 respostas · 16 e 16 de 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Aula 09 - Consultoria Especializada em Ciência de Dados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5632" y="642823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06/10/2026    ·   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100324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0">
                <a:solidFill>
                  <a:srgbClr val="12303A"/>
                </a:solidFill>
                <a:latin typeface="Cambria"/>
              </a:rPr>
              <a:t>Questão 4 de 16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298448"/>
            <a:ext cx="11003249" cy="859536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10180289" cy="347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12303A"/>
                </a:solidFill>
                <a:latin typeface="Calibri"/>
              </a:rPr>
              <a:t>Pela conta 1 − (1 − p)^n, se a região boa ocupa p = 15% do espaço, 16 sorteios acertam ela com: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340864"/>
            <a:ext cx="11003249" cy="676656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58952" y="2523744"/>
            <a:ext cx="329184" cy="31089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2574036"/>
            <a:ext cx="3291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475569"/>
                </a:solidFill>
                <a:latin typeface="Calibri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523744"/>
            <a:ext cx="1004312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2303A"/>
                </a:solidFill>
                <a:latin typeface="Calibri"/>
              </a:rPr>
              <a:t>cerca de 93% de chance — e o número de hiperparâmetros não entra na conta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136392"/>
            <a:ext cx="11003249" cy="676656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58952" y="3319272"/>
            <a:ext cx="329184" cy="31089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" y="3369564"/>
            <a:ext cx="3291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475569"/>
                </a:solidFill>
                <a:latin typeface="Calibri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319272"/>
            <a:ext cx="1004312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2303A"/>
                </a:solidFill>
                <a:latin typeface="Calibri"/>
              </a:rPr>
              <a:t>cerca de 15% de chance, a mesma de um sorteio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931920"/>
            <a:ext cx="11003249" cy="676656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58952" y="4114800"/>
            <a:ext cx="329184" cy="31089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8952" y="4165091"/>
            <a:ext cx="3291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475569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114800"/>
            <a:ext cx="1004312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2303A"/>
                </a:solidFill>
                <a:latin typeface="Calibri"/>
              </a:rPr>
              <a:t>cerca de 60% de chance, caindo se houver mais hiperparâmetros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727448"/>
            <a:ext cx="11003249" cy="676656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58952" y="4910328"/>
            <a:ext cx="329184" cy="31089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8952" y="4960620"/>
            <a:ext cx="3291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475569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910328"/>
            <a:ext cx="1004312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2303A"/>
                </a:solidFill>
                <a:latin typeface="Calibri"/>
              </a:rPr>
              <a:t>100% de chance, desde que a faixa esteja bem escolhida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943600"/>
            <a:ext cx="1100324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Calibri"/>
              </a:rPr>
              <a:t>Pense antes de virar o slide.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Aula 09 - Consultoria Especializada em Ciência de Dados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5632" y="642823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06/10/2026    ·   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100324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0">
                <a:solidFill>
                  <a:srgbClr val="12303A"/>
                </a:solidFill>
                <a:latin typeface="Cambria"/>
              </a:rPr>
              <a:t>Questão 4 — resposta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100324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Pela conta 1 − (1 − p)^n, se a região boa ocupa p = 15% do espaço, 16 sorteios acertam ela com: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783080"/>
            <a:ext cx="11003249" cy="859536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23544" y="2002536"/>
            <a:ext cx="8854409" cy="4206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>
                <a:solidFill>
                  <a:srgbClr val="0B5A54"/>
                </a:solidFill>
                <a:latin typeface="Calibri"/>
              </a:rPr>
              <a:t>A)  cerca de 93% de chance — e o número de hiperparâmetros não entra na conta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80289" y="2029967"/>
            <a:ext cx="1143000" cy="36576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180289" y="2112263"/>
            <a:ext cx="1143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CORRETA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898648"/>
            <a:ext cx="11003249" cy="2240280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3191256"/>
            <a:ext cx="1041803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B5A54"/>
                </a:solidFill>
                <a:latin typeface="Calibri"/>
              </a:rPr>
              <a:t>POR QUÊ?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648456"/>
            <a:ext cx="10418033" cy="1252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50" b="0">
                <a:solidFill>
                  <a:srgbClr val="475569"/>
                </a:solidFill>
                <a:latin typeface="Calibri"/>
              </a:rPr>
              <a:t>1 − (1 − 0,15)^16 ≈ 0,93. O mais importante é o que NÃO aparece na fórmula: o número de hiperparâmetros. Sejam 2 ou 20, o custo do sorteio é n_iter × dobras; na grade, cada eixo novo multiplica. A ressalva é que p é a fração do espaço QUE VOCÊ definiu.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50" b="1">
                <a:solidFill>
                  <a:srgbClr val="B91C1C"/>
                </a:solidFill>
                <a:latin typeface="Calibri"/>
              </a:rPr>
              <a:t>A armadilha — </a:t>
            </a:r>
            <a:r>
              <a:rPr sz="1450" b="0">
                <a:solidFill>
                  <a:srgbClr val="475569"/>
                </a:solidFill>
                <a:latin typeface="Calibri"/>
              </a:rPr>
              <a:t>a alternativa que diz "93 %, mas mais hiperparâmetros derrubam essa chance". O número de hiperparâmetros NÃO entra em 1 − (1 − p)ⁿ: a conta só olha p e 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943600"/>
            <a:ext cx="1100324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Calibri"/>
              </a:rPr>
              <a:t>Formulário da Aula 09 · 2 respostas · 16 e 16 de 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Aula 09 - Consultoria Especializada em Ciência de Dados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5632" y="642823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06/10/2026    ·   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100324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0">
                <a:solidFill>
                  <a:srgbClr val="12303A"/>
                </a:solidFill>
                <a:latin typeface="Cambria"/>
              </a:rPr>
              <a:t>Questão 5 de 16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298448"/>
            <a:ext cx="11003249" cy="859536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10180289" cy="347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12303A"/>
                </a:solidFill>
                <a:latin typeface="Calibri"/>
              </a:rPr>
              <a:t>No dicionário da busca, "clf__max_features": uniform(0.1, 0.8) sorteia valores entre: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340864"/>
            <a:ext cx="11003249" cy="676656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58952" y="2523744"/>
            <a:ext cx="329184" cy="31089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2574036"/>
            <a:ext cx="3291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475569"/>
                </a:solidFill>
                <a:latin typeface="Calibri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523744"/>
            <a:ext cx="1004312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2303A"/>
                </a:solidFill>
                <a:latin typeface="Calibri"/>
              </a:rPr>
              <a:t>0,1 e 0,8 — início e fim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136392"/>
            <a:ext cx="11003249" cy="676656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58952" y="3319272"/>
            <a:ext cx="329184" cy="31089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" y="3369564"/>
            <a:ext cx="3291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475569"/>
                </a:solidFill>
                <a:latin typeface="Calibri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319272"/>
            <a:ext cx="1004312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2303A"/>
                </a:solidFill>
                <a:latin typeface="Calibri"/>
              </a:rPr>
              <a:t>0,1 e 0,08 — o segundo argumento é uma fração do primeiro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931920"/>
            <a:ext cx="11003249" cy="676656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58952" y="4114800"/>
            <a:ext cx="329184" cy="31089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8952" y="4165091"/>
            <a:ext cx="3291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475569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114800"/>
            <a:ext cx="1004312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2303A"/>
                </a:solidFill>
                <a:latin typeface="Calibri"/>
              </a:rPr>
              <a:t>0,1 e 0,9 — o segundo argumento é a LARGURA, somada ao início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727448"/>
            <a:ext cx="11003249" cy="676656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58952" y="4910328"/>
            <a:ext cx="329184" cy="31089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8952" y="4960620"/>
            <a:ext cx="3291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475569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910328"/>
            <a:ext cx="1004312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2303A"/>
                </a:solidFill>
                <a:latin typeface="Calibri"/>
              </a:rPr>
              <a:t>0 e 0,8 — o primeiro argumento é apenas o passo mínimo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943600"/>
            <a:ext cx="1100324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Calibri"/>
              </a:rPr>
              <a:t>Pense antes de virar o slide.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Aula 09 - Consultoria Especializada em Ciência de Dados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5632" y="642823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06/10/2026    ·    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100324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0">
                <a:solidFill>
                  <a:srgbClr val="12303A"/>
                </a:solidFill>
                <a:latin typeface="Cambria"/>
              </a:rPr>
              <a:t>Questão 5 — resposta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100324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No dicionário da busca, "clf__max_features": uniform(0.1, 0.8) sorteia valores entre: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783080"/>
            <a:ext cx="11003249" cy="859536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23544" y="2002536"/>
            <a:ext cx="8854409" cy="4206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>
                <a:solidFill>
                  <a:srgbClr val="0B5A54"/>
                </a:solidFill>
                <a:latin typeface="Calibri"/>
              </a:rPr>
              <a:t>C)  0,1 e 0,9 — o segundo argumento é a LARGURA, somada ao início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80289" y="2029967"/>
            <a:ext cx="1143000" cy="36576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180289" y="2112263"/>
            <a:ext cx="1143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CORRETA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898648"/>
            <a:ext cx="11003249" cy="1956816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3191256"/>
            <a:ext cx="1041803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B5A54"/>
                </a:solidFill>
                <a:latin typeface="Calibri"/>
              </a:rPr>
              <a:t>POR QUÊ?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648456"/>
            <a:ext cx="10418033" cy="9692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50" b="0">
                <a:solidFill>
                  <a:srgbClr val="475569"/>
                </a:solidFill>
                <a:latin typeface="Calibri"/>
              </a:rPr>
              <a:t>É o erro mais comum na montagem do dicionário: o scipy.stats.uniform recebe (início, largura), não (início, fim). Logo uniform(0.1, 0.8) cobre de 0,1 a 0,9.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50" b="1">
                <a:solidFill>
                  <a:srgbClr val="B91C1C"/>
                </a:solidFill>
                <a:latin typeface="Calibri"/>
              </a:rPr>
              <a:t>A armadilha — </a:t>
            </a:r>
            <a:r>
              <a:rPr sz="1450" b="0">
                <a:solidFill>
                  <a:srgbClr val="475569"/>
                </a:solidFill>
                <a:latin typeface="Calibri"/>
              </a:rPr>
              <a:t>ler o segundo argumento como o fim da faixa ("de 0,1 a 0,8"). Em uniform(a, b), b é a LARGURA: a faixa vai de a até a + b.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943600"/>
            <a:ext cx="1100324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Calibri"/>
              </a:rPr>
              <a:t>Formulário da Aula 09 · 2 respostas · 16 e 16 de 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Aula 09 - Consultoria Especializada em Ciência de Dados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5632" y="642823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06/10/2026    ·    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100324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0">
                <a:solidFill>
                  <a:srgbClr val="12303A"/>
                </a:solidFill>
                <a:latin typeface="Cambria"/>
              </a:rPr>
              <a:t>Questão 6 de 16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298448"/>
            <a:ext cx="11003249" cy="859536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10180289" cy="347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12303A"/>
                </a:solidFill>
                <a:latin typeface="Calibri"/>
              </a:rPr>
              <a:t>Por que o C da logística (faixa de 0,01 a 100) se sorteia com loguniform e não com uniform?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340864"/>
            <a:ext cx="11003249" cy="676656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58952" y="2523744"/>
            <a:ext cx="329184" cy="31089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2574036"/>
            <a:ext cx="3291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475569"/>
                </a:solidFill>
                <a:latin typeface="Calibri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523744"/>
            <a:ext cx="1004312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2303A"/>
                </a:solidFill>
                <a:latin typeface="Calibri"/>
              </a:rPr>
              <a:t>porque o loguniform evita valores negativos, que quebrariam o modelo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136392"/>
            <a:ext cx="11003249" cy="676656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58952" y="3319272"/>
            <a:ext cx="329184" cy="31089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" y="3369564"/>
            <a:ext cx="3291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475569"/>
                </a:solidFill>
                <a:latin typeface="Calibri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319272"/>
            <a:ext cx="1004312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2303A"/>
                </a:solidFill>
                <a:latin typeface="Calibri"/>
              </a:rPr>
              <a:t>porque no uniform cerca de 90% dos sorteios cairiam entre 10 e 100, enquanto o loguniform dá 25% a cada ordem de grandeza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931920"/>
            <a:ext cx="11003249" cy="676656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58952" y="4114800"/>
            <a:ext cx="329184" cy="31089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8952" y="4165091"/>
            <a:ext cx="3291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475569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114800"/>
            <a:ext cx="1004312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2303A"/>
                </a:solidFill>
                <a:latin typeface="Calibri"/>
              </a:rPr>
              <a:t>porque o uniform só aceita números inteiros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727448"/>
            <a:ext cx="11003249" cy="676656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58952" y="4910328"/>
            <a:ext cx="329184" cy="31089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8952" y="4960620"/>
            <a:ext cx="3291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475569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910328"/>
            <a:ext cx="1004312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2303A"/>
                </a:solidFill>
                <a:latin typeface="Calibri"/>
              </a:rPr>
              <a:t>porque o loguniform concentra os sorteios perto do valor padrão do modelo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943600"/>
            <a:ext cx="1100324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Calibri"/>
              </a:rPr>
              <a:t>Pense antes de virar o slide.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Aula 09 - Consultoria Especializada em Ciência de Dados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5632" y="642823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06/10/2026    ·    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100324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0">
                <a:solidFill>
                  <a:srgbClr val="12303A"/>
                </a:solidFill>
                <a:latin typeface="Cambria"/>
              </a:rPr>
              <a:t>Questão 6 — resposta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100324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Por que o C da logística (faixa de 0,01 a 100) se sorteia com loguniform e não com uniform?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783080"/>
            <a:ext cx="11003249" cy="1170432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23544" y="2002536"/>
            <a:ext cx="8854409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>
                <a:solidFill>
                  <a:srgbClr val="0B5A54"/>
                </a:solidFill>
                <a:latin typeface="Calibri"/>
              </a:rPr>
              <a:t>B)  porque no uniform cerca de 90% dos sorteios cairiam entre 10 e 100, enquanto o loguniform dá 25% a cada ordem de grandeza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80289" y="2185416"/>
            <a:ext cx="1143000" cy="36576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180289" y="2267712"/>
            <a:ext cx="1143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CORRETA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209544"/>
            <a:ext cx="11003249" cy="1828800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3502151"/>
            <a:ext cx="1041803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B5A54"/>
                </a:solidFill>
                <a:latin typeface="Calibri"/>
              </a:rPr>
              <a:t>POR QUÊ?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959352"/>
            <a:ext cx="10418033" cy="8412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50" b="0">
                <a:solidFill>
                  <a:srgbClr val="475569"/>
                </a:solidFill>
                <a:latin typeface="Calibri"/>
              </a:rPr>
              <a:t>No uniform a chance é proporcional ao TAMANHO do trecho, e o trecho de 10 a 100 ocupa quase todo o intervalo. O loguniform sorteia o expoente, então cada década (0,01–0,1; 0,1–1; 1–10; 10–100) recebe a mesma chance. Vale para tudo que varia por fator de 10 — C, ccp_alpha, learning_rate.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943600"/>
            <a:ext cx="1100324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Calibri"/>
              </a:rPr>
              <a:t>Formulário da Aula 09 · 2 respostas · 16 e 16 de 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Aula 09 - Consultoria Especializada em Ciência de Dados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5632" y="642823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06/10/2026    ·    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100324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0">
                <a:solidFill>
                  <a:srgbClr val="12303A"/>
                </a:solidFill>
                <a:latin typeface="Cambria"/>
              </a:rPr>
              <a:t>Questão 7 de 16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298448"/>
            <a:ext cx="11003249" cy="859536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10180289" cy="347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12303A"/>
                </a:solidFill>
                <a:latin typeface="Calibri"/>
              </a:rPr>
              <a:t>Depois da busca, o melhor ccp_alpha caiu exatamente no MENOR valor da faixa que você definiu. O que isso sugere?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340864"/>
            <a:ext cx="11003249" cy="676656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58952" y="2523744"/>
            <a:ext cx="329184" cy="31089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2574036"/>
            <a:ext cx="3291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475569"/>
                </a:solidFill>
                <a:latin typeface="Calibri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523744"/>
            <a:ext cx="1004312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2303A"/>
                </a:solidFill>
                <a:latin typeface="Calibri"/>
              </a:rPr>
              <a:t>que a busca convergiu: o ótimo foi encontrado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136392"/>
            <a:ext cx="11003249" cy="676656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58952" y="3319272"/>
            <a:ext cx="329184" cy="31089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" y="3369564"/>
            <a:ext cx="3291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475569"/>
                </a:solidFill>
                <a:latin typeface="Calibri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319272"/>
            <a:ext cx="1004312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2303A"/>
                </a:solidFill>
                <a:latin typeface="Calibri"/>
              </a:rPr>
              <a:t>que o n_iter foi grande demais e houve sobreajuste da faixa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931920"/>
            <a:ext cx="11003249" cy="676656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58952" y="4114800"/>
            <a:ext cx="329184" cy="31089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8952" y="4165091"/>
            <a:ext cx="3291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475569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114800"/>
            <a:ext cx="1004312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2303A"/>
                </a:solidFill>
                <a:latin typeface="Calibri"/>
              </a:rPr>
              <a:t>que a distribuição deveria ser uniform em vez de loguniform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727448"/>
            <a:ext cx="11003249" cy="676656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58952" y="4910328"/>
            <a:ext cx="329184" cy="31089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8952" y="4960620"/>
            <a:ext cx="3291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475569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910328"/>
            <a:ext cx="1004312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2303A"/>
                </a:solidFill>
                <a:latin typeface="Calibri"/>
              </a:rPr>
              <a:t>que o pico pode estar FORA da faixa: convém ampliá-la e rodar de novo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943600"/>
            <a:ext cx="1100324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Calibri"/>
              </a:rPr>
              <a:t>Pense antes de virar o slide.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Aula 09 - Consultoria Especializada em Ciência de Dados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5632" y="642823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06/10/2026    ·    25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100324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0">
                <a:solidFill>
                  <a:srgbClr val="12303A"/>
                </a:solidFill>
                <a:latin typeface="Cambria"/>
              </a:rPr>
              <a:t>Questão 7 — resposta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100324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Depois da busca, o melhor ccp_alpha caiu exatamente no MENOR valor da faixa que você definiu. O que isso sugere?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783080"/>
            <a:ext cx="11003249" cy="859536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23544" y="2002536"/>
            <a:ext cx="8854409" cy="4206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>
                <a:solidFill>
                  <a:srgbClr val="0B5A54"/>
                </a:solidFill>
                <a:latin typeface="Calibri"/>
              </a:rPr>
              <a:t>D)  que o pico pode estar FORA da faixa: convém ampliá-la e rodar de novo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80289" y="2029967"/>
            <a:ext cx="1143000" cy="36576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180289" y="2112263"/>
            <a:ext cx="1143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CORRETA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898648"/>
            <a:ext cx="11003249" cy="1554480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3191256"/>
            <a:ext cx="1041803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B5A54"/>
                </a:solidFill>
                <a:latin typeface="Calibri"/>
              </a:rPr>
              <a:t>POR QUÊ?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648456"/>
            <a:ext cx="10418033" cy="566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50" b="0">
                <a:solidFill>
                  <a:srgbClr val="475569"/>
                </a:solidFill>
                <a:latin typeface="Calibri"/>
              </a:rPr>
              <a:t>Vencedor encostado na borda é sinal de faixa curta. O sorteio só é esperto dentro do espaço que você deu a ele — definir a faixa continua sendo trabalho de cientista de dados.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943600"/>
            <a:ext cx="1100324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Calibri"/>
              </a:rPr>
              <a:t>Formulário da Aula 09 · 2 respostas · 16 e 16 de 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Aula 09 - Consultoria Especializada em Ciência de Dados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5632" y="642823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06/10/2026    ·    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100324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0">
                <a:solidFill>
                  <a:srgbClr val="12303A"/>
                </a:solidFill>
                <a:latin typeface="Cambria"/>
              </a:rPr>
              <a:t>Questão 8 de 16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298448"/>
            <a:ext cx="11003249" cy="859536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10180289" cy="347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12303A"/>
                </a:solidFill>
                <a:latin typeface="Calibri"/>
              </a:rPr>
              <a:t>Uma RandomizedSearchCV com n_iter = 40 e cv = 5 custa quantos ajustes de modelo (sem contar o refit final)?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340864"/>
            <a:ext cx="11003249" cy="676656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58952" y="2523744"/>
            <a:ext cx="329184" cy="31089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2574036"/>
            <a:ext cx="3291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475569"/>
                </a:solidFill>
                <a:latin typeface="Calibri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523744"/>
            <a:ext cx="1004312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2303A"/>
                </a:solidFill>
                <a:latin typeface="Calibri"/>
              </a:rPr>
              <a:t>200 — n_iter × dobras, independentemente de quantos hiperparâmetros existam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136392"/>
            <a:ext cx="11003249" cy="676656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58952" y="3319272"/>
            <a:ext cx="329184" cy="31089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" y="3369564"/>
            <a:ext cx="3291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475569"/>
                </a:solidFill>
                <a:latin typeface="Calibri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319272"/>
            <a:ext cx="1004312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2303A"/>
                </a:solidFill>
                <a:latin typeface="Calibri"/>
              </a:rPr>
              <a:t>40 — um por sorteio, porque a CV é feita uma vez só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931920"/>
            <a:ext cx="11003249" cy="676656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58952" y="4114800"/>
            <a:ext cx="329184" cy="31089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8952" y="4165091"/>
            <a:ext cx="3291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475569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114800"/>
            <a:ext cx="1004312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2303A"/>
                </a:solidFill>
                <a:latin typeface="Calibri"/>
              </a:rPr>
              <a:t>1.280 — o mesmo da grade equivalente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727448"/>
            <a:ext cx="11003249" cy="676656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58952" y="4910328"/>
            <a:ext cx="329184" cy="31089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8952" y="4960620"/>
            <a:ext cx="3291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475569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910328"/>
            <a:ext cx="1004312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2303A"/>
                </a:solidFill>
                <a:latin typeface="Calibri"/>
              </a:rPr>
              <a:t>depende do número de hiperparâmetros sorteados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943600"/>
            <a:ext cx="1100324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Calibri"/>
              </a:rPr>
              <a:t>Pense antes de virar o slide.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Aula 09 - Consultoria Especializada em Ciência de Dados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5632" y="642823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06/10/2026    ·    27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100324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0">
                <a:solidFill>
                  <a:srgbClr val="12303A"/>
                </a:solidFill>
                <a:latin typeface="Cambria"/>
              </a:rPr>
              <a:t>Questão 8 — resposta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100324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Uma RandomizedSearchCV com n_iter = 40 e cv = 5 custa quantos ajustes de modelo (sem contar o refit final)?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783080"/>
            <a:ext cx="11003249" cy="859536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23544" y="2002536"/>
            <a:ext cx="8854409" cy="4206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>
                <a:solidFill>
                  <a:srgbClr val="0B5A54"/>
                </a:solidFill>
                <a:latin typeface="Calibri"/>
              </a:rPr>
              <a:t>A)  200 — n_iter × dobras, independentemente de quantos hiperparâmetros existam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80289" y="2029967"/>
            <a:ext cx="1143000" cy="36576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180289" y="2112263"/>
            <a:ext cx="1143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CORRETA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898648"/>
            <a:ext cx="11003249" cy="1956816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3191256"/>
            <a:ext cx="1041803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B5A54"/>
                </a:solidFill>
                <a:latin typeface="Calibri"/>
              </a:rPr>
              <a:t>POR QUÊ?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648456"/>
            <a:ext cx="10418033" cy="9692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50" b="0">
                <a:solidFill>
                  <a:srgbClr val="475569"/>
                </a:solidFill>
                <a:latin typeface="Calibri"/>
              </a:rPr>
              <a:t>40 × 5 = 200. Esse é o ponto da busca aleatória: VOCÊ decide o custo pelo n_iter, e ele não cresce com o número de eixos do espaço.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50" b="1">
                <a:solidFill>
                  <a:srgbClr val="B91C1C"/>
                </a:solidFill>
                <a:latin typeface="Calibri"/>
              </a:rPr>
              <a:t>A armadilha — </a:t>
            </a:r>
            <a:r>
              <a:rPr sz="1450" b="0">
                <a:solidFill>
                  <a:srgbClr val="475569"/>
                </a:solidFill>
                <a:latin typeface="Calibri"/>
              </a:rPr>
              <a:t>achar que o custo cresce com o número de hiperparâmetros. Na busca aleatória o custo é n_iter × dobras e nada mais — é justamente isso que a separa da grade.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943600"/>
            <a:ext cx="1100324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Calibri"/>
              </a:rPr>
              <a:t>Formulário da Aula 09 · 2 respostas · 16 e 16 de 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Aula 09 - Consultoria Especializada em Ciência de Dados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5632" y="642823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06/10/2026    ·    28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100324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0">
                <a:solidFill>
                  <a:srgbClr val="12303A"/>
                </a:solidFill>
                <a:latin typeface="Cambria"/>
              </a:rPr>
              <a:t>Questão 9 de 16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298448"/>
            <a:ext cx="11003249" cy="1170432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10180289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12303A"/>
                </a:solidFill>
                <a:latin typeface="Calibri"/>
              </a:rPr>
              <a:t>No cv_results_ da busca, os cinco primeiros colocados vão de 0,627 a 0,613, com desvio entre dobras de ±0,11. A leitura correta é: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651760"/>
            <a:ext cx="11003249" cy="658368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58952" y="2825496"/>
            <a:ext cx="329184" cy="31089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2875788"/>
            <a:ext cx="3291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475569"/>
                </a:solidFill>
                <a:latin typeface="Calibri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834640"/>
            <a:ext cx="10043129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2303A"/>
                </a:solidFill>
                <a:latin typeface="Calibri"/>
              </a:rPr>
              <a:t>o primeiro lugar é claramente melhor: a diferença é de 0,014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429000"/>
            <a:ext cx="11003249" cy="658368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58952" y="3602736"/>
            <a:ext cx="329184" cy="31089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" y="3653028"/>
            <a:ext cx="3291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475569"/>
                </a:solidFill>
                <a:latin typeface="Calibri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611880"/>
            <a:ext cx="10043129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2303A"/>
                </a:solidFill>
                <a:latin typeface="Calibri"/>
              </a:rPr>
              <a:t>a busca falhou e precisa de mais sorteios para separar os candidatos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4206240"/>
            <a:ext cx="11003249" cy="658368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58952" y="4379976"/>
            <a:ext cx="329184" cy="31089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8952" y="4430268"/>
            <a:ext cx="3291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475569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89120"/>
            <a:ext cx="10043129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2303A"/>
                </a:solidFill>
                <a:latin typeface="Calibri"/>
              </a:rPr>
              <a:t>é um platô: a diferença cabe no ruído, e vale preferir a configuração mais simples ou mais estável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983480"/>
            <a:ext cx="11003249" cy="658368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58952" y="5157216"/>
            <a:ext cx="329184" cy="31089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8952" y="5207508"/>
            <a:ext cx="3291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475569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5166360"/>
            <a:ext cx="10043129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2303A"/>
                </a:solidFill>
                <a:latin typeface="Calibri"/>
              </a:rPr>
              <a:t>o desvio alto indica vazamento no Pipeline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943600"/>
            <a:ext cx="1100324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Calibri"/>
              </a:rPr>
              <a:t>Pense antes de virar o slide.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Aula 09 - Consultoria Especializada em Ciência de Dados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5632" y="642823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06/10/2026    ·    29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100324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0">
                <a:solidFill>
                  <a:srgbClr val="12303A"/>
                </a:solidFill>
                <a:latin typeface="Cambria"/>
              </a:rPr>
              <a:t>Questão 9 — resposta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100324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No cv_results_ da busca, os cinco primeiros colocados vão de 0,627 a 0,613, com desvio entre dobras de ±0,11. A leitura correta é: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783080"/>
            <a:ext cx="11003249" cy="859536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23544" y="2002536"/>
            <a:ext cx="8854409" cy="4206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>
                <a:solidFill>
                  <a:srgbClr val="0B5A54"/>
                </a:solidFill>
                <a:latin typeface="Calibri"/>
              </a:rPr>
              <a:t>C)  é um platô: a diferença cabe no ruído, e vale preferir a configuração mais simples ou mais estável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80289" y="2029967"/>
            <a:ext cx="1143000" cy="36576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180289" y="2112263"/>
            <a:ext cx="1143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CORRETA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898648"/>
            <a:ext cx="11003249" cy="1554480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3191256"/>
            <a:ext cx="1041803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B5A54"/>
                </a:solidFill>
                <a:latin typeface="Calibri"/>
              </a:rPr>
              <a:t>POR QUÊ?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648456"/>
            <a:ext cx="10418033" cy="566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50" b="0">
                <a:solidFill>
                  <a:srgbClr val="475569"/>
                </a:solidFill>
                <a:latin typeface="Calibri"/>
              </a:rPr>
              <a:t>Diferença dentro do desvio não é diferença. O best_params_ é só a primeira linha de uma tabela ruidosa; olhar a tabela inteira é o que mostra o platô — e que o 1º lugar ganhou em parte por sorte.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943600"/>
            <a:ext cx="1100324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Calibri"/>
              </a:rPr>
              <a:t>Formulário da Aula 09 · 2 respostas · 16 e 16 de 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Aula 09 - Consultoria Especializada em Ciência de Dados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5632" y="642823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06/10/2026    ·   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100324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0">
                <a:solidFill>
                  <a:srgbClr val="12303A"/>
                </a:solidFill>
                <a:latin typeface="Cambria"/>
              </a:rPr>
              <a:t>Questão 10 de 16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298448"/>
            <a:ext cx="11003249" cy="859536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10180289" cy="347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12303A"/>
                </a:solidFill>
                <a:latin typeface="Calibri"/>
              </a:rPr>
              <a:t>A receita do "grosso ao fino" (coarse-to-fine) é: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340864"/>
            <a:ext cx="11003249" cy="676656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58952" y="2523744"/>
            <a:ext cx="329184" cy="31089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2574036"/>
            <a:ext cx="3291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475569"/>
                </a:solidFill>
                <a:latin typeface="Calibri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523744"/>
            <a:ext cx="1004312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2303A"/>
                </a:solidFill>
                <a:latin typeface="Calibri"/>
              </a:rPr>
              <a:t>grade pequena primeiro, para achar a região, e depois aleatória larga para confirmar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136392"/>
            <a:ext cx="11003249" cy="676656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58952" y="3319272"/>
            <a:ext cx="329184" cy="31089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" y="3369564"/>
            <a:ext cx="3291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475569"/>
                </a:solidFill>
                <a:latin typeface="Calibri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319272"/>
            <a:ext cx="1004312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2303A"/>
                </a:solidFill>
                <a:latin typeface="Calibri"/>
              </a:rPr>
              <a:t>aleatória larga e em log primeiro, depois uma grade pequena em volta dos melhores pontos — parando quando os números viram platô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931920"/>
            <a:ext cx="11003249" cy="676656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58952" y="4114800"/>
            <a:ext cx="329184" cy="31089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8952" y="4165091"/>
            <a:ext cx="3291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475569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114800"/>
            <a:ext cx="1004312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2303A"/>
                </a:solidFill>
                <a:latin typeface="Calibri"/>
              </a:rPr>
              <a:t>aumentar o n_iter até o best_score_ parar de subir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727448"/>
            <a:ext cx="11003249" cy="676656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58952" y="4910328"/>
            <a:ext cx="329184" cy="31089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8952" y="4960620"/>
            <a:ext cx="3291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475569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910328"/>
            <a:ext cx="1004312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2303A"/>
                </a:solidFill>
                <a:latin typeface="Calibri"/>
              </a:rPr>
              <a:t>rodar a busca várias vezes com sementes diferentes e ficar com o melhor resultado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943600"/>
            <a:ext cx="1100324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Calibri"/>
              </a:rPr>
              <a:t>Pense antes de virar o slide.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Aula 09 - Consultoria Especializada em Ciência de Dados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5632" y="642823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06/10/2026    ·    31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100324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0">
                <a:solidFill>
                  <a:srgbClr val="12303A"/>
                </a:solidFill>
                <a:latin typeface="Cambria"/>
              </a:rPr>
              <a:t>Questão 10 — resposta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100324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A receita do "grosso ao fino" (coarse-to-fine) é: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783080"/>
            <a:ext cx="11003249" cy="1170432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23544" y="2002536"/>
            <a:ext cx="8854409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>
                <a:solidFill>
                  <a:srgbClr val="0B5A54"/>
                </a:solidFill>
                <a:latin typeface="Calibri"/>
              </a:rPr>
              <a:t>B)  aleatória larga e em log primeiro, depois uma grade pequena em volta dos melhores pontos — parando quando os números viram platô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80289" y="2185416"/>
            <a:ext cx="1143000" cy="36576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180289" y="2267712"/>
            <a:ext cx="1143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CORRETA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209544"/>
            <a:ext cx="11003249" cy="1828800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3502151"/>
            <a:ext cx="1041803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B5A54"/>
                </a:solidFill>
                <a:latin typeface="Calibri"/>
              </a:rPr>
              <a:t>POR QUÊ?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959352"/>
            <a:ext cx="10418033" cy="8412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50" b="0">
                <a:solidFill>
                  <a:srgbClr val="475569"/>
                </a:solidFill>
                <a:latin typeface="Calibri"/>
              </a:rPr>
              <a:t>Primeiro saltos longos para achar a encosta certa, depois passos curtos perto do cume. Refinar dentro do ruído é gastar orçamento à toa — nas músicas, o refino 4 × 4 não achou nada melhor que o ponto que a aleatória já tinha encontrado. E escolher a semente pelo resultado é trapaça.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943600"/>
            <a:ext cx="1100324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Calibri"/>
              </a:rPr>
              <a:t>Formulário da Aula 09 · 2 respostas · 16 e 16 de 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Aula 09 - Consultoria Especializada em Ciência de Dados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5632" y="642823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06/10/2026    ·    32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100324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0">
                <a:solidFill>
                  <a:srgbClr val="12303A"/>
                </a:solidFill>
                <a:latin typeface="Cambria"/>
              </a:rPr>
              <a:t>Questão 11 de 16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298448"/>
            <a:ext cx="11003249" cy="1170432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10180289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12303A"/>
                </a:solidFill>
                <a:latin typeface="Calibri"/>
              </a:rPr>
              <a:t>Da mesma busca saíram três números: best_score_ 0,652, nested CV 0,615 ± 0,126 e teste guardado 0,711. Qual deles NÃO deve ser reportado como desempenho, e por quê?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651760"/>
            <a:ext cx="11003249" cy="658368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58952" y="2825496"/>
            <a:ext cx="329184" cy="31089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2875788"/>
            <a:ext cx="3291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475569"/>
                </a:solidFill>
                <a:latin typeface="Calibri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834640"/>
            <a:ext cx="10043129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2303A"/>
                </a:solidFill>
                <a:latin typeface="Calibri"/>
              </a:rPr>
              <a:t>o teste, porque foi medido uma vez só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429000"/>
            <a:ext cx="11003249" cy="658368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58952" y="3602736"/>
            <a:ext cx="329184" cy="31089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" y="3653028"/>
            <a:ext cx="3291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475569"/>
                </a:solidFill>
                <a:latin typeface="Calibri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611880"/>
            <a:ext cx="10043129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2303A"/>
                </a:solidFill>
                <a:latin typeface="Calibri"/>
              </a:rPr>
              <a:t>a nested CV, porque usa dobras do treino e não dados novos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4206240"/>
            <a:ext cx="11003249" cy="658368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58952" y="4379976"/>
            <a:ext cx="329184" cy="31089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8952" y="4430268"/>
            <a:ext cx="3291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475569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89120"/>
            <a:ext cx="10043129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2303A"/>
                </a:solidFill>
                <a:latin typeface="Calibri"/>
              </a:rPr>
              <a:t>nenhum: os três medem a mesma coisa e podem ser reportados juntos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983480"/>
            <a:ext cx="11003249" cy="658368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58952" y="5157216"/>
            <a:ext cx="329184" cy="31089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8952" y="5207508"/>
            <a:ext cx="3291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475569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5166360"/>
            <a:ext cx="10043129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2303A"/>
                </a:solidFill>
                <a:latin typeface="Calibri"/>
              </a:rPr>
              <a:t>o best_score_, porque é o MÁXIMO de 40 medições feitas na mesma validação que escolheu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943600"/>
            <a:ext cx="1100324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Calibri"/>
              </a:rPr>
              <a:t>Pense antes de virar o slide.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Aula 09 - Consultoria Especializada em Ciência de Dados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5632" y="642823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06/10/2026    ·    33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100324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0">
                <a:solidFill>
                  <a:srgbClr val="12303A"/>
                </a:solidFill>
                <a:latin typeface="Cambria"/>
              </a:rPr>
              <a:t>Questão 11 — resposta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100324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Da mesma busca saíram três números: best_score_ 0,652, nested CV 0,615 ± 0,126 e teste guardado 0,711. Qual deles NÃO deve ser reportado como desempenho, e por quê?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993392"/>
            <a:ext cx="11003249" cy="859536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23544" y="2212848"/>
            <a:ext cx="8854409" cy="4206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>
                <a:solidFill>
                  <a:srgbClr val="0B5A54"/>
                </a:solidFill>
                <a:latin typeface="Calibri"/>
              </a:rPr>
              <a:t>D)  o best_score_, porque é o MÁXIMO de 40 medições feitas na mesma validação que escolheu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80289" y="2240280"/>
            <a:ext cx="1143000" cy="36576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180289" y="2322576"/>
            <a:ext cx="1143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CORRETA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108960"/>
            <a:ext cx="11003249" cy="2240280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3401568"/>
            <a:ext cx="1041803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B5A54"/>
                </a:solidFill>
                <a:latin typeface="Calibri"/>
              </a:rPr>
              <a:t>POR QUÊ?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858768"/>
            <a:ext cx="10418033" cy="1252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50" b="0">
                <a:solidFill>
                  <a:srgbClr val="475569"/>
                </a:solidFill>
                <a:latin typeface="Calibri"/>
              </a:rPr>
              <a:t>Quem escolhe não mede (Aula 07). O best_score_ serve para ESCOLHER; o número que se reporta vem da nested CV (média ± desvio) ou do teste guardado, tocado uma única vez. Com só 38 hits no teste, o 0,711 também carrega bastante ruído — por isso vale dizer a faixa, não só um número.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50" b="1">
                <a:solidFill>
                  <a:srgbClr val="B91C1C"/>
                </a:solidFill>
                <a:latin typeface="Calibri"/>
              </a:rPr>
              <a:t>A armadilha — </a:t>
            </a:r>
            <a:r>
              <a:rPr sz="1450" b="0">
                <a:solidFill>
                  <a:srgbClr val="475569"/>
                </a:solidFill>
                <a:latin typeface="Calibri"/>
              </a:rPr>
              <a:t>marcar a nested CV como o número a descartar. Ela é a mais confiável dos três; quem não se reporta é o best_score_.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943600"/>
            <a:ext cx="1100324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Calibri"/>
              </a:rPr>
              <a:t>Formulário da Aula 09 · 2 respostas · 16 e 16 de 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Aula 09 - Consultoria Especializada em Ciência de Dados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5632" y="642823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06/10/2026    ·    34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100324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0">
                <a:solidFill>
                  <a:srgbClr val="12303A"/>
                </a:solidFill>
                <a:latin typeface="Cambria"/>
              </a:rPr>
              <a:t>Questão 12 de 16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298448"/>
            <a:ext cx="11003249" cy="859536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10180289" cy="347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12303A"/>
                </a:solidFill>
                <a:latin typeface="Calibri"/>
              </a:rPr>
              <a:t>O que a otimização bayesiana faz que a grade e a aleatória não fazem?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340864"/>
            <a:ext cx="11003249" cy="676656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58952" y="2523744"/>
            <a:ext cx="329184" cy="31089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2574036"/>
            <a:ext cx="3291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475569"/>
                </a:solidFill>
                <a:latin typeface="Calibri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523744"/>
            <a:ext cx="1004312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2303A"/>
                </a:solidFill>
                <a:latin typeface="Calibri"/>
              </a:rPr>
              <a:t>usa as medições já feitas para ajustar um modelo substituto e decidir onde medir em seguida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136392"/>
            <a:ext cx="11003249" cy="676656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58952" y="3319272"/>
            <a:ext cx="329184" cy="31089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" y="3369564"/>
            <a:ext cx="3291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475569"/>
                </a:solidFill>
                <a:latin typeface="Calibri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319272"/>
            <a:ext cx="1004312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2303A"/>
                </a:solidFill>
                <a:latin typeface="Calibri"/>
              </a:rPr>
              <a:t>garante encontrar o ótimo global do espaço de busca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931920"/>
            <a:ext cx="11003249" cy="676656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58952" y="4114800"/>
            <a:ext cx="329184" cy="31089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8952" y="4165091"/>
            <a:ext cx="3291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475569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114800"/>
            <a:ext cx="1004312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2303A"/>
                </a:solidFill>
                <a:latin typeface="Calibri"/>
              </a:rPr>
              <a:t>dispensa a validação cruzada ao avaliar cada candidato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727448"/>
            <a:ext cx="11003249" cy="676656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58952" y="4910328"/>
            <a:ext cx="329184" cy="31089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8952" y="4960620"/>
            <a:ext cx="3291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475569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910328"/>
            <a:ext cx="1004312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2303A"/>
                </a:solidFill>
                <a:latin typeface="Calibri"/>
              </a:rPr>
              <a:t>testa todas as combinações, mas em ordem inteligente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943600"/>
            <a:ext cx="1100324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Calibri"/>
              </a:rPr>
              <a:t>Pense antes de virar o slide.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Aula 09 - Consultoria Especializada em Ciência de Dados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5632" y="642823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06/10/2026    ·    35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100324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0">
                <a:solidFill>
                  <a:srgbClr val="12303A"/>
                </a:solidFill>
                <a:latin typeface="Cambria"/>
              </a:rPr>
              <a:t>Questão 12 — resposta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100324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O que a otimização bayesiana faz que a grade e a aleatória não fazem?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783080"/>
            <a:ext cx="11003249" cy="859536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23544" y="2002536"/>
            <a:ext cx="8854409" cy="4206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>
                <a:solidFill>
                  <a:srgbClr val="0B5A54"/>
                </a:solidFill>
                <a:latin typeface="Calibri"/>
              </a:rPr>
              <a:t>A)  usa as medições já feitas para ajustar um modelo substituto e decidir onde medir em seguida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80289" y="2029967"/>
            <a:ext cx="1143000" cy="36576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180289" y="2112263"/>
            <a:ext cx="1143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CORRETA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898648"/>
            <a:ext cx="11003249" cy="1828800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3191256"/>
            <a:ext cx="1041803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B5A54"/>
                </a:solidFill>
                <a:latin typeface="Calibri"/>
              </a:rPr>
              <a:t>POR QUÊ?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648456"/>
            <a:ext cx="10418033" cy="8412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50" b="0">
                <a:solidFill>
                  <a:srgbClr val="475569"/>
                </a:solidFill>
                <a:latin typeface="Calibri"/>
              </a:rPr>
              <a:t>Grade e aleatória não têm memória: a 40ª tentativa ignora as 39 anteriores. A bayesiana ajusta um modelo barato (com incerteza) e mede onde a nota prevista é alta OU onde há pouca informação. O preço: cada ponto depende do anterior, então ela paraleliza mal. Brilha quando cada avaliação custa horas. Ferramentas: Optuna, scikit-optimize.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943600"/>
            <a:ext cx="1100324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Calibri"/>
              </a:rPr>
              <a:t>Formulário da Aula 09 · 2 respostas · 16 e 16 de 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Aula 09 - Consultoria Especializada em Ciência de Dados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5632" y="642823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06/10/2026    ·    36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100324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0">
                <a:solidFill>
                  <a:srgbClr val="12303A"/>
                </a:solidFill>
                <a:latin typeface="Cambria"/>
              </a:rPr>
              <a:t>Questão 13 de 16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298448"/>
            <a:ext cx="11003249" cy="1170432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10180289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12303A"/>
                </a:solidFill>
                <a:latin typeface="Calibri"/>
              </a:rPr>
              <a:t>No mini-AutoML, o RandomizedSearchCV recebe uma LISTA de espaços (logística, árvore, floresta). Por que isso não é apenas uma grade maior?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651760"/>
            <a:ext cx="11003249" cy="658368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58952" y="2825496"/>
            <a:ext cx="329184" cy="31089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2875788"/>
            <a:ext cx="3291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475569"/>
                </a:solidFill>
                <a:latin typeface="Calibri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834640"/>
            <a:ext cx="10043129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2303A"/>
                </a:solidFill>
                <a:latin typeface="Calibri"/>
              </a:rPr>
              <a:t>porque a lista é percorrida em ordem, e não sorteada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429000"/>
            <a:ext cx="11003249" cy="658368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58952" y="3602736"/>
            <a:ext cx="329184" cy="31089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" y="3653028"/>
            <a:ext cx="3291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475569"/>
                </a:solidFill>
                <a:latin typeface="Calibri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611880"/>
            <a:ext cx="10043129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2303A"/>
                </a:solidFill>
                <a:latin typeface="Calibri"/>
              </a:rPr>
              <a:t>porque cada espaço usa uma métrica diferente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4206240"/>
            <a:ext cx="11003249" cy="658368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58952" y="4379976"/>
            <a:ext cx="329184" cy="31089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8952" y="4430268"/>
            <a:ext cx="3291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475569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89120"/>
            <a:ext cx="10043129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2303A"/>
                </a:solidFill>
                <a:latin typeface="Calibri"/>
              </a:rPr>
              <a:t>porque o espaço é condicional: o C só existe se o sorteio cair na logística, o ccp_alpha só se cair na floresta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983480"/>
            <a:ext cx="11003249" cy="658368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58952" y="5157216"/>
            <a:ext cx="329184" cy="31089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8952" y="5207508"/>
            <a:ext cx="3291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475569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5166360"/>
            <a:ext cx="10043129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2303A"/>
                </a:solidFill>
                <a:latin typeface="Calibri"/>
              </a:rPr>
              <a:t>porque o AutoML substitui a validação cruzada por um conjunto de validação fixo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943600"/>
            <a:ext cx="1100324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Calibri"/>
              </a:rPr>
              <a:t>Pense antes de virar o slide.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Aula 09 - Consultoria Especializada em Ciência de Dados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5632" y="642823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06/10/2026    ·    37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100324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0">
                <a:solidFill>
                  <a:srgbClr val="12303A"/>
                </a:solidFill>
                <a:latin typeface="Cambria"/>
              </a:rPr>
              <a:t>Questão 13 — resposta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100324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No mini-AutoML, o RandomizedSearchCV recebe uma LISTA de espaços (logística, árvore, floresta). Por que isso não é apenas uma grade maior?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783080"/>
            <a:ext cx="11003249" cy="1170432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23544" y="2002536"/>
            <a:ext cx="8854409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>
                <a:solidFill>
                  <a:srgbClr val="0B5A54"/>
                </a:solidFill>
                <a:latin typeface="Calibri"/>
              </a:rPr>
              <a:t>C)  porque o espaço é condicional: o C só existe se o sorteio cair na logística, o ccp_alpha só se cair na floresta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80289" y="2185416"/>
            <a:ext cx="1143000" cy="36576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180289" y="2267712"/>
            <a:ext cx="1143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CORRETA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209544"/>
            <a:ext cx="11003249" cy="2240280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3502151"/>
            <a:ext cx="1041803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B5A54"/>
                </a:solidFill>
                <a:latin typeface="Calibri"/>
              </a:rPr>
              <a:t>POR QUÊ?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959352"/>
            <a:ext cx="10418033" cy="1252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50" b="0">
                <a:solidFill>
                  <a:srgbClr val="475569"/>
                </a:solidFill>
                <a:latin typeface="Calibri"/>
              </a:rPr>
              <a:t>O sorteio tem dois passos: primeiro o espaço, depois os valores dele. Cada modelo traz os SEUS hiperparâmetros, então o espaço não é um retângulo. Na literatura isso é o problema CASH — escolha conjunta de algoritmo e hiperparâmetros.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50" b="1">
                <a:solidFill>
                  <a:srgbClr val="B91C1C"/>
                </a:solidFill>
                <a:latin typeface="Calibri"/>
              </a:rPr>
              <a:t>A armadilha — </a:t>
            </a:r>
            <a:r>
              <a:rPr sz="1450" b="0">
                <a:solidFill>
                  <a:srgbClr val="475569"/>
                </a:solidFill>
                <a:latin typeface="Calibri"/>
              </a:rPr>
              <a:t>ver a lista de espaços como "uma grade maior". Uma grade cruzaria tudo com tudo e geraria combinações impossíveis (um C para a floresta, um ccp_alpha para a logística).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943600"/>
            <a:ext cx="1100324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Calibri"/>
              </a:rPr>
              <a:t>Formulário da Aula 09 · 2 respostas · 16 e 16 de 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Aula 09 - Consultoria Especializada em Ciência de Dados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5632" y="642823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06/10/2026    ·    38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100324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0">
                <a:solidFill>
                  <a:srgbClr val="12303A"/>
                </a:solidFill>
                <a:latin typeface="Cambria"/>
              </a:rPr>
              <a:t>Questão 14 de 16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298448"/>
            <a:ext cx="11003249" cy="1170432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10180289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12303A"/>
                </a:solidFill>
                <a:latin typeface="Calibri"/>
              </a:rPr>
              <a:t>Com 30 sorteios, o mini-AutoML deu: logística 0,721 (mediana 0,716), floresta 0,631 e árvore 0,413. O que esses números ensinam?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651760"/>
            <a:ext cx="11003249" cy="658368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58952" y="2825496"/>
            <a:ext cx="329184" cy="31089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2875788"/>
            <a:ext cx="3291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475569"/>
                </a:solidFill>
                <a:latin typeface="Calibri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834640"/>
            <a:ext cx="10043129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2303A"/>
                </a:solidFill>
                <a:latin typeface="Calibri"/>
              </a:rPr>
              <a:t>que a floresta precisaria de uma faixa melhor para vencer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429000"/>
            <a:ext cx="11003249" cy="658368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58952" y="3602736"/>
            <a:ext cx="329184" cy="31089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" y="3653028"/>
            <a:ext cx="3291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475569"/>
                </a:solidFill>
                <a:latin typeface="Calibri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611880"/>
            <a:ext cx="10043129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2303A"/>
                </a:solidFill>
                <a:latin typeface="Calibri"/>
              </a:rPr>
              <a:t>que escolher o MODELO pesou muito mais (0,31 de diferença) do que afinar o vencedor (0,005 entre o melhor e a mediana)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4206240"/>
            <a:ext cx="11003249" cy="658368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58952" y="4379976"/>
            <a:ext cx="329184" cy="31089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8952" y="4430268"/>
            <a:ext cx="3291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475569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89120"/>
            <a:ext cx="10043129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2303A"/>
                </a:solidFill>
                <a:latin typeface="Calibri"/>
              </a:rPr>
              <a:t>que o AutoML tende a preferir o modelo mais sofisticado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983480"/>
            <a:ext cx="11003249" cy="658368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58952" y="5157216"/>
            <a:ext cx="329184" cy="31089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8952" y="5207508"/>
            <a:ext cx="3291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475569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5166360"/>
            <a:ext cx="10043129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2303A"/>
                </a:solidFill>
                <a:latin typeface="Calibri"/>
              </a:rPr>
              <a:t>que 30 sorteios são insuficientes para comparar modelos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943600"/>
            <a:ext cx="1100324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Calibri"/>
              </a:rPr>
              <a:t>Pense antes de virar o slide.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Aula 09 - Consultoria Especializada em Ciência de Dados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5632" y="642823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06/10/2026    ·    39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100324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0">
                <a:solidFill>
                  <a:srgbClr val="12303A"/>
                </a:solidFill>
                <a:latin typeface="Cambria"/>
              </a:rPr>
              <a:t>Questão 14 — resposta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100324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Com 30 sorteios, o mini-AutoML deu: logística 0,721 (mediana 0,716), floresta 0,631 e árvore 0,413. O que esses números ensinam?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783080"/>
            <a:ext cx="11003249" cy="1170432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23544" y="2002536"/>
            <a:ext cx="8854409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>
                <a:solidFill>
                  <a:srgbClr val="0B5A54"/>
                </a:solidFill>
                <a:latin typeface="Calibri"/>
              </a:rPr>
              <a:t>B)  que escolher o MODELO pesou muito mais (0,31 de diferença) do que afinar o vencedor (0,005 entre o melhor e a mediana)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80289" y="2185416"/>
            <a:ext cx="1143000" cy="36576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180289" y="2267712"/>
            <a:ext cx="1143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CORRETA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209544"/>
            <a:ext cx="11003249" cy="1554480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3502151"/>
            <a:ext cx="1041803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B5A54"/>
                </a:solidFill>
                <a:latin typeface="Calibri"/>
              </a:rPr>
              <a:t>POR QUÊ?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959352"/>
            <a:ext cx="10418033" cy="566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50" b="0">
                <a:solidFill>
                  <a:srgbClr val="475569"/>
                </a:solidFill>
                <a:latin typeface="Calibri"/>
              </a:rPr>
              <a:t>A distância entre modelos foi enorme e a distância dentro do modelo, quase nada. É por isso que automatizar a escolha do modelo rende — e repare que venceu o modelo MAIS SIMPLES, a logística.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943600"/>
            <a:ext cx="1100324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Calibri"/>
              </a:rPr>
              <a:t>Formulário da Aula 09 · 2 respostas · 16 e 16 de 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Aula 09 - Consultoria Especializada em Ciência de Dados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5632" y="642823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06/10/2026    ·    40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100324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0">
                <a:solidFill>
                  <a:srgbClr val="12303A"/>
                </a:solidFill>
                <a:latin typeface="Cambria"/>
              </a:rPr>
              <a:t>Questão 15 de 16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298448"/>
            <a:ext cx="11003249" cy="859536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10180289" cy="347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12303A"/>
                </a:solidFill>
                <a:latin typeface="Calibri"/>
              </a:rPr>
              <a:t>Você acrescenta mais sete modelos ao espaço do AutoML e mantém n_iter = 30. O risco é: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340864"/>
            <a:ext cx="11003249" cy="676656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58952" y="2523744"/>
            <a:ext cx="329184" cy="31089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2574036"/>
            <a:ext cx="3291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475569"/>
                </a:solidFill>
                <a:latin typeface="Calibri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523744"/>
            <a:ext cx="1004312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2303A"/>
                </a:solidFill>
                <a:latin typeface="Calibri"/>
              </a:rPr>
              <a:t>o tempo de execução cair, porque modelos simples treinam rápido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136392"/>
            <a:ext cx="11003249" cy="676656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58952" y="3319272"/>
            <a:ext cx="329184" cy="31089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" y="3369564"/>
            <a:ext cx="3291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475569"/>
                </a:solidFill>
                <a:latin typeface="Calibri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319272"/>
            <a:ext cx="1004312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2303A"/>
                </a:solidFill>
                <a:latin typeface="Calibri"/>
              </a:rPr>
              <a:t>o best_score_ ficar mais confiável, por comparar mais candidatos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931920"/>
            <a:ext cx="11003249" cy="676656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58952" y="4114800"/>
            <a:ext cx="329184" cy="31089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8952" y="4165091"/>
            <a:ext cx="3291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475569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114800"/>
            <a:ext cx="1004312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2303A"/>
                </a:solidFill>
                <a:latin typeface="Calibri"/>
              </a:rPr>
              <a:t>as distribuições perderem efeito, porque o sorteio passa a ser categórico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727448"/>
            <a:ext cx="11003249" cy="676656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58952" y="4910328"/>
            <a:ext cx="329184" cy="31089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8952" y="4960620"/>
            <a:ext cx="3291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475569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910328"/>
            <a:ext cx="1004312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2303A"/>
                </a:solidFill>
                <a:latin typeface="Calibri"/>
              </a:rPr>
              <a:t>cada modelo receber ~3 sorteios: pouco para cobrir o espaço dele, e a conta 1 − (1 − p)^n não fecha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943600"/>
            <a:ext cx="1100324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Calibri"/>
              </a:rPr>
              <a:t>Pense antes de virar o slide.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Aula 09 - Consultoria Especializada em Ciência de Dados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5632" y="642823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06/10/2026    ·    41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100324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0">
                <a:solidFill>
                  <a:srgbClr val="12303A"/>
                </a:solidFill>
                <a:latin typeface="Cambria"/>
              </a:rPr>
              <a:t>Questão 15 — resposta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100324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Você acrescenta mais sete modelos ao espaço do AutoML e mantém n_iter = 30. O risco é: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783080"/>
            <a:ext cx="11003249" cy="859536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23544" y="2002536"/>
            <a:ext cx="8854409" cy="4206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>
                <a:solidFill>
                  <a:srgbClr val="0B5A54"/>
                </a:solidFill>
                <a:latin typeface="Calibri"/>
              </a:rPr>
              <a:t>D)  cada modelo receber ~3 sorteios: pouco para cobrir o espaço dele, e a conta 1 − (1 − p)^n não fecha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80289" y="2029967"/>
            <a:ext cx="1143000" cy="36576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180289" y="2112263"/>
            <a:ext cx="1143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CORRETA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898648"/>
            <a:ext cx="11003249" cy="1554480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3191256"/>
            <a:ext cx="1041803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B5A54"/>
                </a:solidFill>
                <a:latin typeface="Calibri"/>
              </a:rPr>
              <a:t>POR QUÊ?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648456"/>
            <a:ext cx="10418033" cy="566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50" b="0">
                <a:solidFill>
                  <a:srgbClr val="475569"/>
                </a:solidFill>
                <a:latin typeface="Calibri"/>
              </a:rPr>
              <a:t>O orçamento é repartido entre os espaços. Daí os truques do AutoML de verdade: cortar cedo quem vai mal (successive halving — 90 candidatos com 90 músicas, depois os 30 melhores com 270) e começar pelo que funcionou em bases parecidas (meta-aprendizado).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943600"/>
            <a:ext cx="1100324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Calibri"/>
              </a:rPr>
              <a:t>Formulário da Aula 09 · 2 respostas · 16 e 16 de 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Aula 09 - Consultoria Especializada em Ciência de Dados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5632" y="642823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06/10/2026    ·    42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100324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0">
                <a:solidFill>
                  <a:srgbClr val="12303A"/>
                </a:solidFill>
                <a:latin typeface="Cambria"/>
              </a:rPr>
              <a:t>Questão 16 de 16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298448"/>
            <a:ext cx="11003249" cy="1170432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10180289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12303A"/>
                </a:solidFill>
                <a:latin typeface="Calibri"/>
              </a:rPr>
              <a:t>Nas músicas, deixar a coluna popularidade entrar no modelo leva a AP de 0,721 para 0,936. O que isso diz sobre o AutoML?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651760"/>
            <a:ext cx="11003249" cy="658368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58952" y="2825496"/>
            <a:ext cx="329184" cy="31089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2875788"/>
            <a:ext cx="3291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475569"/>
                </a:solidFill>
                <a:latin typeface="Calibri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834640"/>
            <a:ext cx="10043129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2303A"/>
                </a:solidFill>
                <a:latin typeface="Calibri"/>
              </a:rPr>
              <a:t>que ele otimizaria com prazer uma variável que vaza o alvo: decidir o que entra no modelo continua sendo seu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429000"/>
            <a:ext cx="11003249" cy="658368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58952" y="3602736"/>
            <a:ext cx="329184" cy="31089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" y="3653028"/>
            <a:ext cx="3291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475569"/>
                </a:solidFill>
                <a:latin typeface="Calibri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611880"/>
            <a:ext cx="10043129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2303A"/>
                </a:solidFill>
                <a:latin typeface="Calibri"/>
              </a:rPr>
              <a:t>que o AutoML detecta vazamento automaticamente, por isso a nota sobe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4206240"/>
            <a:ext cx="11003249" cy="658368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58952" y="4379976"/>
            <a:ext cx="329184" cy="31089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8952" y="4430268"/>
            <a:ext cx="3291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475569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89120"/>
            <a:ext cx="10043129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2303A"/>
                </a:solidFill>
                <a:latin typeface="Calibri"/>
              </a:rPr>
              <a:t>que a popularidade deveria ser mantida, já que melhora a métrica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983480"/>
            <a:ext cx="11003249" cy="658368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58952" y="5157216"/>
            <a:ext cx="329184" cy="31089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8952" y="5207508"/>
            <a:ext cx="3291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475569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5166360"/>
            <a:ext cx="10043129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2303A"/>
                </a:solidFill>
                <a:latin typeface="Calibri"/>
              </a:rPr>
              <a:t>que o problema some ao usar nested CV em vez do teste guardado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943600"/>
            <a:ext cx="1100324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Calibri"/>
              </a:rPr>
              <a:t>Pense antes de virar o slide.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Aula 09 - Consultoria Especializada em Ciência de Dados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5632" y="642823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06/10/2026    ·    43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100324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0">
                <a:solidFill>
                  <a:srgbClr val="12303A"/>
                </a:solidFill>
                <a:latin typeface="Cambria"/>
              </a:rPr>
              <a:t>Questão 16 — resposta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100324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Nas músicas, deixar a coluna popularidade entrar no modelo leva a AP de 0,721 para 0,936. O que isso diz sobre o AutoML?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783080"/>
            <a:ext cx="11003249" cy="1170432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23544" y="2002536"/>
            <a:ext cx="8854409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>
                <a:solidFill>
                  <a:srgbClr val="0B5A54"/>
                </a:solidFill>
                <a:latin typeface="Calibri"/>
              </a:rPr>
              <a:t>A)  que ele otimizaria com prazer uma variável que vaza o alvo: decidir o que entra no modelo continua sendo seu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80289" y="2185416"/>
            <a:ext cx="1143000" cy="36576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180289" y="2267712"/>
            <a:ext cx="1143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CORRETA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209544"/>
            <a:ext cx="11003249" cy="1828800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3502151"/>
            <a:ext cx="1041803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B5A54"/>
                </a:solidFill>
                <a:latin typeface="Calibri"/>
              </a:rPr>
              <a:t>POR QUÊ?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959352"/>
            <a:ext cx="10418033" cy="8412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50" b="0">
                <a:solidFill>
                  <a:srgbClr val="475569"/>
                </a:solidFill>
                <a:latin typeface="Calibri"/>
              </a:rPr>
              <a:t>O motor do AutoML é validação cruzada: tudo o que está FORA dela continua sendo decisão humana — o problema e a métrica (Aulas 02–04), o esquema de validação (Aulas 06–07), que variáveis podem entrar (vazamento, Aula 01) e a nota honesta. A popularidade praticamente define o hit; a CV só veria a nota subir.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943600"/>
            <a:ext cx="1100324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Calibri"/>
              </a:rPr>
              <a:t>Formulário da Aula 09 · 2 respostas · 16 e 16 de 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Aula 09 - Consultoria Especializada em Ciência de Dados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5632" y="642823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06/10/2026    ·    44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00A52186506F641B6D0943FD8590E16" ma:contentTypeVersion="3" ma:contentTypeDescription="Crie um novo documento." ma:contentTypeScope="" ma:versionID="892c9e91ca2da4b656e9e1873602cb98">
  <xsd:schema xmlns:xsd="http://www.w3.org/2001/XMLSchema" xmlns:xs="http://www.w3.org/2001/XMLSchema" xmlns:p="http://schemas.microsoft.com/office/2006/metadata/properties" xmlns:ns2="4619301c-9bea-416d-958d-6c0d9dcf89c5" targetNamespace="http://schemas.microsoft.com/office/2006/metadata/properties" ma:root="true" ma:fieldsID="8b2a4b9bb00df620f25170aaf9638c53" ns2:_="">
    <xsd:import namespace="4619301c-9bea-416d-958d-6c0d9dcf89c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19301c-9bea-416d-958d-6c0d9dcf89c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E076A05-BF4A-40F5-BB02-34677544DD6D}"/>
</file>

<file path=customXml/itemProps2.xml><?xml version="1.0" encoding="utf-8"?>
<ds:datastoreItem xmlns:ds="http://schemas.openxmlformats.org/officeDocument/2006/customXml" ds:itemID="{AEB77924-7FF1-461E-94EA-40EF29BCF214}"/>
</file>

<file path=customXml/itemProps3.xml><?xml version="1.0" encoding="utf-8"?>
<ds:datastoreItem xmlns:ds="http://schemas.openxmlformats.org/officeDocument/2006/customXml" ds:itemID="{A017089A-56A2-42DA-A1A1-B76E91C92C62}"/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5060</Words>
  <Application>Microsoft Office PowerPoint</Application>
  <PresentationFormat>Widescreen</PresentationFormat>
  <Paragraphs>484</Paragraphs>
  <Slides>40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40</vt:i4>
      </vt:variant>
    </vt:vector>
  </HeadingPairs>
  <TitlesOfParts>
    <vt:vector size="45" baseType="lpstr">
      <vt:lpstr>Arial</vt:lpstr>
      <vt:lpstr>Calibri</vt:lpstr>
      <vt:lpstr>Cambria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Giovani Giulio Tristão Thibes Vieira</cp:lastModifiedBy>
  <cp:revision>3</cp:revision>
  <dcterms:created xsi:type="dcterms:W3CDTF">2026-09-05T23:47:39Z</dcterms:created>
  <dcterms:modified xsi:type="dcterms:W3CDTF">2026-10-06T11:48:00Z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0x010100D00A52186506F641B6D0943FD8590E16</vt:lpwstr>
  </property>
</Properties>
</file>