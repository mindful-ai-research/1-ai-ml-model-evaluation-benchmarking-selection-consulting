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Masters/slideMaster1.xml" ContentType="application/vnd.openxmlformats-officedocument.presentationml.slideMaster+xml"/>
  <Override PartName="/ppt/slideLayouts/slideLayout1.xml" ContentType="application/vnd.openxmlformats-officedocument.presentationml.slideLayout+xml"/>
  <Override PartName="/ppt/theme/theme1.xml" ContentType="application/vnd.openxmlformats-officedocument.them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docProps/core.xml" ContentType="application/vnd.openxmlformats-package.core-properties+xml"/>
  <Override PartName="/docProps/app.xml" ContentType="application/vnd.openxmlformats-officedocument.extended-properties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 varScale="1">
        <p:scale>
          <a:sx n="72" d="100"/>
          <a:sy n="72" d="100"/>
        </p:scale>
        <p:origin x="357" y="3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customXml" Target="../customXml/item1.xml"/><Relationship Id="rId3" Type="http://schemas.openxmlformats.org/officeDocument/2006/relationships/slide" Target="slides/slide2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10" Type="http://schemas.openxmlformats.org/officeDocument/2006/relationships/customXml" Target="../customXml/item3.xml"/><Relationship Id="rId4" Type="http://schemas.openxmlformats.org/officeDocument/2006/relationships/presProps" Target="presProps.xml"/><Relationship Id="rId9" Type="http://schemas.openxmlformats.org/officeDocument/2006/relationships/customXml" Target="../customXml/item2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hyperlink" Target="https://ftp.ibge.gov.br/Censos/Censo_Demografico_2022/Agregados_por_Setores_Censitarios/malha_com_atributos/setores/gpkg/UF/SP/" TargetMode="External"/><Relationship Id="rId2" Type="http://schemas.openxmlformats.org/officeDocument/2006/relationships/hyperlink" Target="https://www.sptrans.com.br/desenvolvedores/cadastro-desenvolvedores/" TargetMode="External"/><Relationship Id="rId1" Type="http://schemas.openxmlformats.org/officeDocument/2006/relationships/slideLayout" Target="../slideLayouts/slideLayout1.xml"/><Relationship Id="rId6" Type="http://schemas.openxmlformats.org/officeDocument/2006/relationships/hyperlink" Target="https://download.geofabrik.de/south-america/brazil/sudeste.html" TargetMode="External"/><Relationship Id="rId5" Type="http://schemas.openxmlformats.org/officeDocument/2006/relationships/hyperlink" Target="https://www.emtu.sp.gov.br/emtu/dados-abertos/dados-abertos-principal/gtfs.fss" TargetMode="External"/><Relationship Id="rId4" Type="http://schemas.openxmlformats.org/officeDocument/2006/relationships/hyperlink" Target="https://geosampa.prefeitura.sp.gov.br/" TargetMode="Externa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94360" y="457200"/>
            <a:ext cx="11003249" cy="7772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2700" b="0">
                <a:solidFill>
                  <a:srgbClr val="12303A"/>
                </a:solidFill>
                <a:latin typeface="Cambria"/>
              </a:rPr>
              <a:t>Desertos de transporte: a pergunta e o que deve sair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594360" y="1325880"/>
            <a:ext cx="11003249" cy="1170432"/>
          </a:xfrm>
          <a:prstGeom prst="roundRect">
            <a:avLst>
              <a:gd name="adj" fmla="val 4000"/>
            </a:avLst>
          </a:prstGeom>
          <a:solidFill>
            <a:srgbClr val="E9F5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1005840" y="1581912"/>
            <a:ext cx="10180289" cy="6583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600" b="1">
                <a:solidFill>
                  <a:srgbClr val="0B5A54"/>
                </a:solidFill>
                <a:latin typeface="Calibri"/>
              </a:rPr>
              <a:t>A pergunta: </a:t>
            </a:r>
            <a:r>
              <a:rPr sz="1600" b="0">
                <a:solidFill>
                  <a:srgbClr val="12303A"/>
                </a:solidFill>
                <a:latin typeface="Calibri"/>
              </a:rPr>
              <a:t>onde, em São Paulo, mora muita gente longe do transporte público? Não é tempo real (isso já existe): é o mapa da desigualdade de acesso, setor a setor.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94360" y="2770632"/>
            <a:ext cx="5486400" cy="2935224"/>
          </a:xfrm>
          <a:prstGeom prst="roundRect">
            <a:avLst>
              <a:gd name="adj" fmla="val 4000"/>
            </a:avLst>
          </a:prstGeom>
          <a:solidFill>
            <a:srgbClr val="E9F5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886968" y="3063239"/>
            <a:ext cx="4901184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1200" b="1">
                <a:solidFill>
                  <a:srgbClr val="0B5A54"/>
                </a:solidFill>
                <a:latin typeface="Calibri"/>
              </a:rPr>
              <a:t>COMO MEDIR (POR SETOR CENSITÁRIO)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86968" y="3520439"/>
            <a:ext cx="4901184" cy="194767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5000"/>
              </a:lnSpc>
              <a:spcAft>
                <a:spcPts val="1000"/>
              </a:spcAft>
            </a:pPr>
            <a:r>
              <a:rPr sz="1150" b="1">
                <a:solidFill>
                  <a:srgbClr val="12303A"/>
                </a:solidFill>
                <a:latin typeface="Calibri"/>
              </a:rPr>
              <a:t>População: </a:t>
            </a:r>
            <a:r>
              <a:rPr sz="1150" b="0">
                <a:solidFill>
                  <a:srgbClr val="475569"/>
                </a:solidFill>
                <a:latin typeface="Calibri"/>
              </a:rPr>
              <a:t>quantas pessoas moram ali (Censo 2022).</a:t>
            </a:r>
          </a:p>
          <a:p>
            <a:pPr algn="l">
              <a:lnSpc>
                <a:spcPct val="125000"/>
              </a:lnSpc>
              <a:spcAft>
                <a:spcPts val="1000"/>
              </a:spcAft>
            </a:pPr>
            <a:r>
              <a:rPr sz="1150" b="1">
                <a:solidFill>
                  <a:srgbClr val="12303A"/>
                </a:solidFill>
                <a:latin typeface="Calibri"/>
              </a:rPr>
              <a:t>Distância: </a:t>
            </a:r>
            <a:r>
              <a:rPr sz="1150" b="0">
                <a:solidFill>
                  <a:srgbClr val="475569"/>
                </a:solidFill>
                <a:latin typeface="Calibri"/>
              </a:rPr>
              <a:t>metros até a parada mais próxima.</a:t>
            </a:r>
          </a:p>
          <a:p>
            <a:pPr algn="l">
              <a:lnSpc>
                <a:spcPct val="125000"/>
              </a:lnSpc>
              <a:spcAft>
                <a:spcPts val="1000"/>
              </a:spcAft>
            </a:pPr>
            <a:r>
              <a:rPr sz="1150" b="1">
                <a:solidFill>
                  <a:srgbClr val="12303A"/>
                </a:solidFill>
                <a:latin typeface="Calibri"/>
              </a:rPr>
              <a:t>Frequência: </a:t>
            </a:r>
            <a:r>
              <a:rPr sz="1150" b="0">
                <a:solidFill>
                  <a:srgbClr val="475569"/>
                </a:solidFill>
                <a:latin typeface="Calibri"/>
              </a:rPr>
              <a:t>partidas por dia útil nas paradas próximas (tem ponto, mas passa ônibus?).</a:t>
            </a:r>
          </a:p>
          <a:p>
            <a:pPr algn="l">
              <a:lnSpc>
                <a:spcPct val="125000"/>
              </a:lnSpc>
              <a:spcAft>
                <a:spcPts val="1000"/>
              </a:spcAft>
            </a:pPr>
            <a:r>
              <a:rPr sz="1150" b="1">
                <a:solidFill>
                  <a:srgbClr val="12303A"/>
                </a:solidFill>
                <a:latin typeface="Calibri"/>
              </a:rPr>
              <a:t>Deserto = </a:t>
            </a:r>
            <a:r>
              <a:rPr sz="1150" b="0">
                <a:solidFill>
                  <a:srgbClr val="475569"/>
                </a:solidFill>
                <a:latin typeface="Calibri"/>
              </a:rPr>
              <a:t>muita gente + longe e/ou pouca frequência. Os limiares (ex.: 500 m) são decisão do grupo, justificada.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46520" y="2770632"/>
            <a:ext cx="5151089" cy="2935224"/>
          </a:xfrm>
          <a:prstGeom prst="roundRect">
            <a:avLst>
              <a:gd name="adj" fmla="val 4000"/>
            </a:avLst>
          </a:prstGeom>
          <a:solidFill>
            <a:srgbClr val="E9F5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6739128" y="3063239"/>
            <a:ext cx="4565873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1200" b="1">
                <a:solidFill>
                  <a:srgbClr val="0B5A54"/>
                </a:solidFill>
                <a:latin typeface="Calibri"/>
              </a:rPr>
              <a:t>O QUE DEVE SAIR (4 ENTREGÁVEIS)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739128" y="3520439"/>
            <a:ext cx="4565873" cy="194767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5000"/>
              </a:lnSpc>
              <a:spcAft>
                <a:spcPts val="1000"/>
              </a:spcAft>
            </a:pPr>
            <a:r>
              <a:rPr sz="1150" b="1">
                <a:solidFill>
                  <a:srgbClr val="12303A"/>
                </a:solidFill>
                <a:latin typeface="Calibri"/>
              </a:rPr>
              <a:t>1. Notebook reprodutível: </a:t>
            </a:r>
            <a:r>
              <a:rPr sz="1150" b="0">
                <a:solidFill>
                  <a:srgbClr val="475569"/>
                </a:solidFill>
                <a:latin typeface="Calibri"/>
              </a:rPr>
              <a:t>do download ao índice, rodando do zero.</a:t>
            </a:r>
          </a:p>
          <a:p>
            <a:pPr algn="l">
              <a:lnSpc>
                <a:spcPct val="125000"/>
              </a:lnSpc>
              <a:spcAft>
                <a:spcPts val="1000"/>
              </a:spcAft>
            </a:pPr>
            <a:r>
              <a:rPr sz="1150" b="1">
                <a:solidFill>
                  <a:srgbClr val="12303A"/>
                </a:solidFill>
                <a:latin typeface="Calibri"/>
              </a:rPr>
              <a:t>2. Mapa interativo (HTML): </a:t>
            </a:r>
            <a:r>
              <a:rPr sz="1150" b="0">
                <a:solidFill>
                  <a:srgbClr val="475569"/>
                </a:solidFill>
                <a:latin typeface="Calibri"/>
              </a:rPr>
              <a:t>setores coloridos pelo índice; clicar mostra população, distância e partidas.</a:t>
            </a:r>
          </a:p>
          <a:p>
            <a:pPr algn="l">
              <a:lnSpc>
                <a:spcPct val="125000"/>
              </a:lnSpc>
              <a:spcAft>
                <a:spcPts val="1000"/>
              </a:spcAft>
            </a:pPr>
            <a:r>
              <a:rPr sz="1150" b="1">
                <a:solidFill>
                  <a:srgbClr val="12303A"/>
                </a:solidFill>
                <a:latin typeface="Calibri"/>
              </a:rPr>
              <a:t>3. Relatório curto (3–5 págs.): </a:t>
            </a:r>
            <a:r>
              <a:rPr sz="1150" b="0">
                <a:solidFill>
                  <a:srgbClr val="475569"/>
                </a:solidFill>
                <a:latin typeface="Calibri"/>
              </a:rPr>
              <a:t>os 10 setores mais desassistidos, os limiares e as limitações.</a:t>
            </a:r>
          </a:p>
          <a:p>
            <a:pPr algn="l">
              <a:lnSpc>
                <a:spcPct val="125000"/>
              </a:lnSpc>
              <a:spcAft>
                <a:spcPts val="1000"/>
              </a:spcAft>
            </a:pPr>
            <a:r>
              <a:rPr sz="1150" b="1">
                <a:solidFill>
                  <a:srgbClr val="12303A"/>
                </a:solidFill>
                <a:latin typeface="Calibri"/>
              </a:rPr>
              <a:t>4. Apresentação ao parceiro: </a:t>
            </a:r>
            <a:r>
              <a:rPr sz="1150" b="0">
                <a:solidFill>
                  <a:srgbClr val="475569"/>
                </a:solidFill>
                <a:latin typeface="Calibri"/>
              </a:rPr>
              <a:t>associação de moradores, ONG ou subprefeitura.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94360" y="5943600"/>
            <a:ext cx="11003249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25000"/>
              </a:lnSpc>
              <a:spcAft>
                <a:spcPts val="0"/>
              </a:spcAft>
            </a:pPr>
            <a:r>
              <a:rPr sz="1150" b="0">
                <a:solidFill>
                  <a:srgbClr val="94A3B8"/>
                </a:solidFill>
                <a:latin typeface="Calibri"/>
              </a:rPr>
              <a:t>Tudo com dado aberto e sem coleta em campo: qualquer pessoa pode refazer o mapa com o nosso código.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94360" y="6428232"/>
            <a:ext cx="905256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800" b="0">
                <a:solidFill>
                  <a:srgbClr val="94A3B8"/>
                </a:solidFill>
                <a:latin typeface="Calibri"/>
              </a:rPr>
              <a:t>Projeto Extensionista  ·  Ciência de Dados 1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485632" y="6428232"/>
            <a:ext cx="310896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25000"/>
              </a:lnSpc>
              <a:spcAft>
                <a:spcPts val="0"/>
              </a:spcAft>
            </a:pPr>
            <a:r>
              <a:rPr sz="800" b="0">
                <a:solidFill>
                  <a:srgbClr val="94A3B8"/>
                </a:solidFill>
                <a:latin typeface="Calibri"/>
              </a:rPr>
              <a:t>09/2026    ·    1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94360" y="457200"/>
            <a:ext cx="11003249" cy="7772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2700" b="0">
                <a:solidFill>
                  <a:srgbClr val="12303A"/>
                </a:solidFill>
                <a:latin typeface="Cambria"/>
              </a:rPr>
              <a:t>Onde pegar os dados: os links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594360" y="1783080"/>
          <a:ext cx="11000232" cy="3675888"/>
        </p:xfrm>
        <a:graphic>
          <a:graphicData uri="http://schemas.openxmlformats.org/drawingml/2006/table">
            <a:tbl>
              <a:tblPr/>
              <a:tblGrid>
                <a:gridCol w="237744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01168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02336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587752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384048">
                <a:tc>
                  <a:txBody>
                    <a:bodyPr/>
                    <a:lstStyle/>
                    <a:p>
                      <a:pPr algn="l"/>
                      <a:r>
                        <a:rPr sz="1150" b="1">
                          <a:solidFill>
                            <a:srgbClr val="FFFFFF"/>
                          </a:solidFill>
                          <a:latin typeface="Calibri"/>
                        </a:rPr>
                        <a:t>dado</a:t>
                      </a:r>
                    </a:p>
                  </a:txBody>
                  <a:tcPr marT="36576" marB="36576">
                    <a:lnT w="0">
                      <a:noFill/>
                    </a:lnT>
                    <a:lnB w="0">
                      <a:noFill/>
                    </a:lnB>
                    <a:solidFill>
                      <a:srgbClr val="0F766E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50" b="1">
                          <a:solidFill>
                            <a:srgbClr val="FFFFFF"/>
                          </a:solidFill>
                          <a:latin typeface="Calibri"/>
                        </a:rPr>
                        <a:t>fonte</a:t>
                      </a:r>
                    </a:p>
                  </a:txBody>
                  <a:tcPr marT="36576" marB="36576">
                    <a:lnT w="0">
                      <a:noFill/>
                    </a:lnT>
                    <a:lnB w="0">
                      <a:noFill/>
                    </a:lnB>
                    <a:solidFill>
                      <a:srgbClr val="0F766E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50" b="1">
                          <a:solidFill>
                            <a:srgbClr val="FFFFFF"/>
                          </a:solidFill>
                          <a:latin typeface="Calibri"/>
                        </a:rPr>
                        <a:t>link</a:t>
                      </a:r>
                    </a:p>
                  </a:txBody>
                  <a:tcPr marT="36576" marB="36576">
                    <a:lnT w="0">
                      <a:noFill/>
                    </a:lnT>
                    <a:lnB w="0">
                      <a:noFill/>
                    </a:lnB>
                    <a:solidFill>
                      <a:srgbClr val="0F766E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50" b="1">
                          <a:solidFill>
                            <a:srgbClr val="FFFFFF"/>
                          </a:solidFill>
                          <a:latin typeface="Calibri"/>
                        </a:rPr>
                        <a:t>o que baixar</a:t>
                      </a:r>
                    </a:p>
                  </a:txBody>
                  <a:tcPr marT="36576" marB="36576">
                    <a:lnT w="0">
                      <a:noFill/>
                    </a:lnT>
                    <a:lnB w="0">
                      <a:noFill/>
                    </a:lnB>
                    <a:solidFill>
                      <a:srgbClr val="0F766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658368">
                <a:tc>
                  <a:txBody>
                    <a:bodyPr/>
                    <a:lstStyle/>
                    <a:p>
                      <a:pPr algn="l"/>
                      <a:r>
                        <a:rPr sz="1150" b="0">
                          <a:solidFill>
                            <a:srgbClr val="12303A"/>
                          </a:solidFill>
                          <a:latin typeface="Calibri"/>
                        </a:rPr>
                        <a:t>Paradas, linhas e horários dos ônibus (GTFS)</a:t>
                      </a:r>
                    </a:p>
                  </a:txBody>
                  <a:tcPr marT="36576" marB="36576">
                    <a:lnT w="0">
                      <a:noFill/>
                    </a:lnT>
                    <a:lnB w="0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50" b="0">
                          <a:solidFill>
                            <a:srgbClr val="12303A"/>
                          </a:solidFill>
                          <a:latin typeface="Calibri"/>
                        </a:rPr>
                        <a:t>SPTrans · Desenvolvedores</a:t>
                      </a:r>
                    </a:p>
                  </a:txBody>
                  <a:tcPr marT="36576" marB="36576">
                    <a:lnT w="0">
                      <a:noFill/>
                    </a:lnT>
                    <a:lnB w="0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50" b="0" u="sng">
                          <a:solidFill>
                            <a:srgbClr val="0F766E"/>
                          </a:solidFill>
                          <a:latin typeface="Calibri"/>
                          <a:hlinkClick r:id="rId2"/>
                        </a:rPr>
                        <a:t>sptrans.com.br/desenvolvedores/cadastro-desenvolvedores</a:t>
                      </a:r>
                    </a:p>
                  </a:txBody>
                  <a:tcPr marT="36576" marB="36576">
                    <a:lnT w="0">
                      <a:noFill/>
                    </a:lnT>
                    <a:lnB w="0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50" b="0">
                          <a:solidFill>
                            <a:srgbClr val="12303A"/>
                          </a:solidFill>
                          <a:latin typeface="Calibri"/>
                        </a:rPr>
                        <a:t>cadastro grátis → login → GTFS (.zip): stops, routes, trips, stop_times</a:t>
                      </a:r>
                    </a:p>
                  </a:txBody>
                  <a:tcPr marT="36576" marB="36576">
                    <a:lnT w="0">
                      <a:noFill/>
                    </a:lnT>
                    <a:lnB w="0">
                      <a:noFill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658368">
                <a:tc>
                  <a:txBody>
                    <a:bodyPr/>
                    <a:lstStyle/>
                    <a:p>
                      <a:pPr algn="l"/>
                      <a:r>
                        <a:rPr sz="1150" b="0">
                          <a:solidFill>
                            <a:srgbClr val="12303A"/>
                          </a:solidFill>
                          <a:latin typeface="Calibri"/>
                        </a:rPr>
                        <a:t>População por setor, já com o mapa</a:t>
                      </a:r>
                    </a:p>
                  </a:txBody>
                  <a:tcPr marT="36576" marB="36576">
                    <a:lnT w="0">
                      <a:noFill/>
                    </a:lnT>
                    <a:lnB w="0">
                      <a:noFill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50" b="0">
                          <a:solidFill>
                            <a:srgbClr val="12303A"/>
                          </a:solidFill>
                          <a:latin typeface="Calibri"/>
                        </a:rPr>
                        <a:t>IBGE · Censo 2022, Agregados por Setores</a:t>
                      </a:r>
                    </a:p>
                  </a:txBody>
                  <a:tcPr marT="36576" marB="36576">
                    <a:lnT w="0">
                      <a:noFill/>
                    </a:lnT>
                    <a:lnB w="0">
                      <a:noFill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50" b="0" u="sng">
                          <a:solidFill>
                            <a:srgbClr val="0F766E"/>
                          </a:solidFill>
                          <a:latin typeface="Calibri"/>
                          <a:hlinkClick r:id="rId3"/>
                        </a:rPr>
                        <a:t>ftp.ibge.gov.br › Censo_Demografico_2022 › Agregados_por_Setores_Censitarios › malha_com_atributos › setores › gpkg › UF › SP</a:t>
                      </a:r>
                    </a:p>
                  </a:txBody>
                  <a:tcPr marT="36576" marB="36576">
                    <a:lnT w="0">
                      <a:noFill/>
                    </a:lnT>
                    <a:lnB w="0">
                      <a:noFill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50" b="0">
                          <a:solidFill>
                            <a:srgbClr val="12303A"/>
                          </a:solidFill>
                          <a:latin typeface="Calibri"/>
                        </a:rPr>
                        <a:t>um arquivo .gpkg: o mapa dos setores já com a população; filtrar o município de SP</a:t>
                      </a:r>
                    </a:p>
                  </a:txBody>
                  <a:tcPr marT="36576" marB="36576">
                    <a:lnT w="0">
                      <a:noFill/>
                    </a:lnT>
                    <a:lnB w="0">
                      <a:noFill/>
                    </a:lnB>
                    <a:solidFill>
                      <a:srgbClr val="F1F5F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658368">
                <a:tc>
                  <a:txBody>
                    <a:bodyPr/>
                    <a:lstStyle/>
                    <a:p>
                      <a:pPr algn="l"/>
                      <a:r>
                        <a:rPr sz="1150" b="0">
                          <a:solidFill>
                            <a:srgbClr val="12303A"/>
                          </a:solidFill>
                          <a:latin typeface="Calibri"/>
                        </a:rPr>
                        <a:t>Distritos, subprefeituras, estações de metrô e trem</a:t>
                      </a:r>
                    </a:p>
                  </a:txBody>
                  <a:tcPr marT="36576" marB="36576">
                    <a:lnT w="0">
                      <a:noFill/>
                    </a:lnT>
                    <a:lnB w="0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50" b="0">
                          <a:solidFill>
                            <a:srgbClr val="12303A"/>
                          </a:solidFill>
                          <a:latin typeface="Calibri"/>
                        </a:rPr>
                        <a:t>GeoSampa (Prefeitura de SP)</a:t>
                      </a:r>
                    </a:p>
                  </a:txBody>
                  <a:tcPr marT="36576" marB="36576">
                    <a:lnT w="0">
                      <a:noFill/>
                    </a:lnT>
                    <a:lnB w="0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50" b="0" u="sng">
                          <a:solidFill>
                            <a:srgbClr val="0F766E"/>
                          </a:solidFill>
                          <a:latin typeface="Calibri"/>
                          <a:hlinkClick r:id="rId4"/>
                        </a:rPr>
                        <a:t>geosampa.prefeitura.sp.gov.br</a:t>
                      </a:r>
                    </a:p>
                  </a:txBody>
                  <a:tcPr marT="36576" marB="36576">
                    <a:lnT w="0">
                      <a:noFill/>
                    </a:lnT>
                    <a:lnB w="0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50" b="0">
                          <a:solidFill>
                            <a:srgbClr val="12303A"/>
                          </a:solidFill>
                          <a:latin typeface="Calibri"/>
                        </a:rPr>
                        <a:t>abrir no navegador (pede um teste "não sou robô") → download: limites e estações</a:t>
                      </a:r>
                    </a:p>
                  </a:txBody>
                  <a:tcPr marT="36576" marB="36576">
                    <a:lnT w="0">
                      <a:noFill/>
                    </a:lnT>
                    <a:lnB w="0">
                      <a:noFill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658368">
                <a:tc>
                  <a:txBody>
                    <a:bodyPr/>
                    <a:lstStyle/>
                    <a:p>
                      <a:pPr algn="l"/>
                      <a:r>
                        <a:rPr sz="1150" b="0">
                          <a:solidFill>
                            <a:srgbClr val="12303A"/>
                          </a:solidFill>
                          <a:latin typeface="Calibri"/>
                        </a:rPr>
                        <a:t>(Opcional) ônibus metropolitanos (GTFS)</a:t>
                      </a:r>
                    </a:p>
                  </a:txBody>
                  <a:tcPr marT="36576" marB="36576">
                    <a:lnT w="0">
                      <a:noFill/>
                    </a:lnT>
                    <a:lnB w="0">
                      <a:noFill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50" b="0">
                          <a:solidFill>
                            <a:srgbClr val="12303A"/>
                          </a:solidFill>
                          <a:latin typeface="Calibri"/>
                        </a:rPr>
                        <a:t>EMTU · Dados Abertos</a:t>
                      </a:r>
                    </a:p>
                  </a:txBody>
                  <a:tcPr marT="36576" marB="36576">
                    <a:lnT w="0">
                      <a:noFill/>
                    </a:lnT>
                    <a:lnB w="0">
                      <a:noFill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50" b="0" u="sng">
                          <a:solidFill>
                            <a:srgbClr val="0F766E"/>
                          </a:solidFill>
                          <a:latin typeface="Calibri"/>
                          <a:hlinkClick r:id="rId5"/>
                        </a:rPr>
                        <a:t>emtu.sp.gov.br › dados abertos › GTFS</a:t>
                      </a:r>
                    </a:p>
                  </a:txBody>
                  <a:tcPr marT="36576" marB="36576">
                    <a:lnT w="0">
                      <a:noFill/>
                    </a:lnT>
                    <a:lnB w="0">
                      <a:noFill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50" b="0">
                          <a:solidFill>
                            <a:srgbClr val="12303A"/>
                          </a:solidFill>
                          <a:latin typeface="Calibri"/>
                        </a:rPr>
                        <a:t>para quem mora na borda da cidade (a página só abre no navegador)</a:t>
                      </a:r>
                    </a:p>
                  </a:txBody>
                  <a:tcPr marT="36576" marB="36576">
                    <a:lnT w="0">
                      <a:noFill/>
                    </a:lnT>
                    <a:lnB w="0">
                      <a:noFill/>
                    </a:lnB>
                    <a:solidFill>
                      <a:srgbClr val="F1F5F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658368">
                <a:tc>
                  <a:txBody>
                    <a:bodyPr/>
                    <a:lstStyle/>
                    <a:p>
                      <a:pPr algn="l"/>
                      <a:r>
                        <a:rPr sz="1150" b="0">
                          <a:solidFill>
                            <a:srgbClr val="12303A"/>
                          </a:solidFill>
                          <a:latin typeface="Calibri"/>
                        </a:rPr>
                        <a:t>(Opcional) ruas, para a distância a pé</a:t>
                      </a:r>
                    </a:p>
                  </a:txBody>
                  <a:tcPr marT="36576" marB="36576">
                    <a:lnT w="0">
                      <a:noFill/>
                    </a:lnT>
                    <a:lnB w="0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50" b="0">
                          <a:solidFill>
                            <a:srgbClr val="12303A"/>
                          </a:solidFill>
                          <a:latin typeface="Calibri"/>
                        </a:rPr>
                        <a:t>OpenStreetMap · Geofabrik</a:t>
                      </a:r>
                    </a:p>
                  </a:txBody>
                  <a:tcPr marT="36576" marB="36576">
                    <a:lnT w="0">
                      <a:noFill/>
                    </a:lnT>
                    <a:lnB w="0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50" b="0" u="sng">
                          <a:solidFill>
                            <a:srgbClr val="0F766E"/>
                          </a:solidFill>
                          <a:latin typeface="Calibri"/>
                          <a:hlinkClick r:id="rId6"/>
                        </a:rPr>
                        <a:t>download.geofabrik.de/south-america/brazil/sudeste.html</a:t>
                      </a:r>
                    </a:p>
                  </a:txBody>
                  <a:tcPr marT="36576" marB="36576">
                    <a:lnT w="0">
                      <a:noFill/>
                    </a:lnT>
                    <a:lnB w="0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50" b="0">
                          <a:solidFill>
                            <a:srgbClr val="12303A"/>
                          </a:solidFill>
                          <a:latin typeface="Calibri"/>
                        </a:rPr>
                        <a:t>o .pbf tem 819 MB: melhor usar o osmnx, que baixa só São Paulo</a:t>
                      </a:r>
                    </a:p>
                  </a:txBody>
                  <a:tcPr marT="36576" marB="36576">
                    <a:lnT w="0">
                      <a:noFill/>
                    </a:lnT>
                    <a:lnB w="0">
                      <a:noFill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6" name="TextBox 5"/>
          <p:cNvSpPr txBox="1"/>
          <p:nvPr/>
        </p:nvSpPr>
        <p:spPr>
          <a:xfrm>
            <a:off x="594360" y="6428232"/>
            <a:ext cx="905256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800" b="0">
                <a:solidFill>
                  <a:srgbClr val="94A3B8"/>
                </a:solidFill>
                <a:latin typeface="Calibri"/>
              </a:rPr>
              <a:t>Projeto Extensionista  ·  Ciência de Dados 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485632" y="6428232"/>
            <a:ext cx="310896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25000"/>
              </a:lnSpc>
              <a:spcAft>
                <a:spcPts val="0"/>
              </a:spcAft>
            </a:pPr>
            <a:r>
              <a:rPr sz="800" b="0">
                <a:solidFill>
                  <a:srgbClr val="94A3B8"/>
                </a:solidFill>
                <a:latin typeface="Calibri"/>
              </a:rPr>
              <a:t>09/2026    ·    2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o" ma:contentTypeID="0x010100D00A52186506F641B6D0943FD8590E16" ma:contentTypeVersion="3" ma:contentTypeDescription="Crie um novo documento." ma:contentTypeScope="" ma:versionID="892c9e91ca2da4b656e9e1873602cb98">
  <xsd:schema xmlns:xsd="http://www.w3.org/2001/XMLSchema" xmlns:xs="http://www.w3.org/2001/XMLSchema" xmlns:p="http://schemas.microsoft.com/office/2006/metadata/properties" xmlns:ns2="4619301c-9bea-416d-958d-6c0d9dcf89c5" targetNamespace="http://schemas.microsoft.com/office/2006/metadata/properties" ma:root="true" ma:fieldsID="8b2a4b9bb00df620f25170aaf9638c53" ns2:_="">
    <xsd:import namespace="4619301c-9bea-416d-958d-6c0d9dcf89c5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SearchPropertie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4619301c-9bea-416d-958d-6c0d9dcf89c5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SearchProperties" ma:index="10" nillable="true" ma:displayName="MediaServiceSearchProperties" ma:hidden="true" ma:internalName="MediaServiceSearchProperties" ma:readOnly="true">
      <xsd:simpleType>
        <xsd:restriction base="dms:Note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Tipo de Conteúdo"/>
        <xsd:element ref="dc:title" minOccurs="0" maxOccurs="1" ma:index="4" ma:displayName="Título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/>
</p:properties>
</file>

<file path=customXml/itemProps1.xml><?xml version="1.0" encoding="utf-8"?>
<ds:datastoreItem xmlns:ds="http://schemas.openxmlformats.org/officeDocument/2006/customXml" ds:itemID="{F69DB1FB-BE9A-4620-AA6C-6C8F122E119C}"/>
</file>

<file path=customXml/itemProps2.xml><?xml version="1.0" encoding="utf-8"?>
<ds:datastoreItem xmlns:ds="http://schemas.openxmlformats.org/officeDocument/2006/customXml" ds:itemID="{74A27C43-6739-4990-B66A-9774BF88B09C}"/>
</file>

<file path=customXml/itemProps3.xml><?xml version="1.0" encoding="utf-8"?>
<ds:datastoreItem xmlns:ds="http://schemas.openxmlformats.org/officeDocument/2006/customXml" ds:itemID="{752868EE-C608-425F-B9FA-1699997611C4}"/>
</file>

<file path=docProps/app.xml><?xml version="1.0" encoding="utf-8"?>
<Properties xmlns="http://schemas.openxmlformats.org/officeDocument/2006/extended-properties" xmlns:vt="http://schemas.openxmlformats.org/officeDocument/2006/docPropsVTypes">
  <TotalTime>2</TotalTime>
  <Words>483</Words>
  <Application>Microsoft Office PowerPoint</Application>
  <PresentationFormat>Widescreen</PresentationFormat>
  <Paragraphs>42</Paragraphs>
  <Slides>2</Slides>
  <Notes>0</Notes>
  <HiddenSlides>0</HiddenSlides>
  <MMClips>0</MMClips>
  <ScaleCrop>false</ScaleCrop>
  <HeadingPairs>
    <vt:vector size="6" baseType="variant">
      <vt:variant>
        <vt:lpstr>Fontes usadas</vt:lpstr>
      </vt:variant>
      <vt:variant>
        <vt:i4>3</vt:i4>
      </vt:variant>
      <vt:variant>
        <vt:lpstr>Tema</vt:lpstr>
      </vt:variant>
      <vt:variant>
        <vt:i4>1</vt:i4>
      </vt:variant>
      <vt:variant>
        <vt:lpstr>Títulos de slides</vt:lpstr>
      </vt:variant>
      <vt:variant>
        <vt:i4>2</vt:i4>
      </vt:variant>
    </vt:vector>
  </HeadingPairs>
  <TitlesOfParts>
    <vt:vector size="6" baseType="lpstr">
      <vt:lpstr>Arial</vt:lpstr>
      <vt:lpstr>Calibri</vt:lpstr>
      <vt:lpstr>Cambria</vt:lpstr>
      <vt:lpstr>Office Theme</vt:lpstr>
      <vt:lpstr>Apresentação do PowerPoint</vt:lpstr>
      <vt:lpstr>Apresentação do PowerPoint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Giovani Giulio</cp:lastModifiedBy>
  <cp:revision>2</cp:revision>
  <dcterms:created xsi:type="dcterms:W3CDTF">2026-09-05T23:47:39Z</dcterms:created>
  <dcterms:modified xsi:type="dcterms:W3CDTF">2026-10-05T14:04:14Z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0x010100D00A52186506F641B6D0943FD8590E16</vt:lpwstr>
  </property>
</Properties>
</file>