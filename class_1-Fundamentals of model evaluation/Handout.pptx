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2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319" r:id="rId6"/>
    <p:sldId id="320" r:id="rId7"/>
    <p:sldId id="321" r:id="rId8"/>
    <p:sldId id="322" r:id="rId9"/>
    <p:sldId id="260" r:id="rId10"/>
    <p:sldId id="261" r:id="rId11"/>
    <p:sldId id="263" r:id="rId12"/>
    <p:sldId id="264" r:id="rId13"/>
    <p:sldId id="266" r:id="rId14"/>
    <p:sldId id="267" r:id="rId15"/>
    <p:sldId id="268" r:id="rId16"/>
    <p:sldId id="323" r:id="rId17"/>
    <p:sldId id="269" r:id="rId18"/>
    <p:sldId id="326" r:id="rId19"/>
    <p:sldId id="324" r:id="rId20"/>
    <p:sldId id="325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2" r:id="rId29"/>
    <p:sldId id="283" r:id="rId30"/>
    <p:sldId id="284" r:id="rId31"/>
    <p:sldId id="285" r:id="rId32"/>
    <p:sldId id="327" r:id="rId33"/>
    <p:sldId id="286" r:id="rId34"/>
    <p:sldId id="328" r:id="rId35"/>
    <p:sldId id="329" r:id="rId36"/>
    <p:sldId id="290" r:id="rId37"/>
    <p:sldId id="291" r:id="rId38"/>
    <p:sldId id="292" r:id="rId39"/>
    <p:sldId id="293" r:id="rId40"/>
    <p:sldId id="330" r:id="rId41"/>
    <p:sldId id="331" r:id="rId42"/>
    <p:sldId id="332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8" r:id="rId5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ustomXml" Target="../customXml/item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0947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CD863-8780-E0AF-282C-D1170D365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424BE6-1763-9DAB-4821-A0FF344B4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0DF4CF-20B8-1E86-76EF-41ED23646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DCACC-4CAA-E4B6-9AE3-5EB8E78D4D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02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37F57-23FD-0D86-FBEA-BB6127CE1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95935C-1F81-AB46-7834-75883C97E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AE08BD-437C-BAD0-FDF3-3FA22C3B5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6D75D-E1BF-43C2-98DE-68F1BF5C97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427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C8B74-E8F5-5908-4F4B-C59A3CB78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962E4-8F75-3710-FB46-A6265ED7D5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1127A3-6C2C-27FA-E904-FB7E8FD7C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F17E31-E13D-1D78-67DC-02D9C430B7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9579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0DCB6-1FC5-1E9E-5E57-F15C2F086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D24D15-247B-DEA9-EB3D-3D3566DF4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2C5CB6-933B-C778-4947-AD3BA07388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F6739-3118-71F2-F79C-DB3A9A9B03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592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1CC5E-D420-79C7-0775-7DB799395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24A79C-C3F4-AE47-CD96-6A7B03FE8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C9C8F6-EDEB-56D1-B322-BF24DEE77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C82D5-E0BF-E191-952D-C69D85B465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7010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74DBB-CE89-12D7-B47B-B65B533F9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EE3DE7-054C-602A-2576-19766F753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EBFD1E-0900-0B4E-0E94-2E0928523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7FFBA-183A-E4AF-CAFF-A3EAA457DC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4249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F7387-9D03-8299-9314-771EE65FA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537738-95C6-FA7A-2CCB-92AC4227C0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1CC8CA-0A9A-B9DF-52CA-C956303AF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6B736-C7EF-A89D-11B0-E2A1FDE32B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8341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F3F6B-F135-3552-5BFE-C63FE6B4D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ED8CC5-FC88-62E8-1ADE-8F2FA5C0C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292C35-E679-135C-7674-F459FF7F1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1DA67-33A9-A468-F356-4412BE4B40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439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B9C7E-35C7-BD75-E8ED-D7E2FCF1A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D71B85-B5AE-B5B0-4481-233E023177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80141E-1EC1-CB87-E808-B824EB458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4C1E2B-66CD-03FE-EF56-28609E0D6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9871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A70ED-03F9-3C10-3CB6-1905E2E92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451548-2985-53F6-40D2-4587F83E5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B779D-E750-86B3-94DF-6C54D4237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3F4D1-A412-D2F5-834F-1D961427A6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81065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71179-3801-43CC-1BF0-76A619732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CB455F-EC1E-70EA-9ABB-F19B37C9A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AC4CF7-72EE-8B9E-C9B6-C0F5F14A55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532D9-42A4-01B6-FAA6-1C66A90AA1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0447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61601-2610-66C7-5B6F-E72B7C6C1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3554C1-5D16-8EFB-1F52-4D0AEE4EB7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67CD6-1A59-8F8E-141A-6BEA22D7EF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89EBC-1B21-01AD-26EB-D8609FDFAD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8237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8CD54-9D1A-9B5D-1F10-02FA815D5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4B59A-46A6-2F22-7A40-D8064E25D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9AE74C-6DBA-0EFB-C981-1984B4817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83332-AA66-7D22-C08E-7FFBC81095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9499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1A035-66AA-DBB8-E74B-B603DAF72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4AA5D-5A57-5C81-6116-4F88337E2C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A90CE9-D370-E207-B411-6B1280048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96E4E-DA2B-8089-177B-958C1518DA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8262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 ESPECIALIZADA EM CIÊNCIA DE DADOS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94360" y="2057400"/>
            <a:ext cx="110029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da avaliação de modelos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94360" y="352044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Generalização, sobreajuste, viés e variância, e vazamento de dados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4663440"/>
            <a:ext cx="3017520" cy="548640"/>
          </a:xfrm>
          <a:prstGeom prst="roundRect">
            <a:avLst>
              <a:gd name="adj" fmla="val 16667"/>
            </a:avLst>
          </a:prstGeom>
          <a:solidFill>
            <a:srgbClr val="E9F5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94360" y="4663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da aula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645920"/>
            <a:ext cx="67208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 do 'como treinar'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entrar no 'quão bom é este modelo?' — o foco vira avaliar e selecionar.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generalização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importa é acertar em dados novos, não decorar o treino.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Diagnosticar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sobreajuste, subajuste e o tradeoff viés e variância a partir de curvas simples.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vazamento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mais perigoso e mais comum, na forma óbvia e na sutil.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o laboratório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teoria alimenta os exercícios de hoje em pandas e scikit-learn.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26680" y="1645920"/>
            <a:ext cx="3886200" cy="4480560"/>
          </a:xfrm>
          <a:prstGeom prst="roundRect">
            <a:avLst>
              <a:gd name="adj" fmla="val 2118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019288" y="193852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VOCÊ SABERÁ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19288" y="2441448"/>
            <a:ext cx="3300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Avaliar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019288" y="3447288"/>
            <a:ext cx="33009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treino nunca basta</a:t>
            </a:r>
            <a:endParaRPr lang="en-US" sz="14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uma curva de complexidade</a:t>
            </a:r>
            <a:endParaRPr lang="en-US" sz="14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e evitar vazamento</a:t>
            </a:r>
            <a:endParaRPr lang="en-US" sz="14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o teste intocável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curso, semana a semana (1/2)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179419"/>
              </p:ext>
            </p:extLst>
          </p:nvPr>
        </p:nvGraphicFramePr>
        <p:xfrm>
          <a:off x="594360" y="1554480"/>
          <a:ext cx="11000232" cy="45720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0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 (Dia/Mês)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Assunto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04/08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Introdução: fundamentos da avaliação de modelos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11/08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Métricas de classificação I (confusão, precisão, recall, F1)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b="1" dirty="0" err="1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Lançamento</a:t>
                      </a:r>
                      <a:r>
                        <a:rPr lang="en-US" sz="13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do </a:t>
                      </a:r>
                      <a:r>
                        <a:rPr lang="en-US" sz="1350" b="1" dirty="0" err="1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18/08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Métricas de classificação II (ROC-AUC, PR, log-loss)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— 25/08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Métricas de regressão (MAE, RMSE, R², resíduos)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Projeto: proposta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— 01/09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 hold-out e Pipeline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— 08/09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 cruzada I (k-fold, estratificado)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— 15/09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 cruzada II (grupos, temporal, aninhada)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— 22/09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 err="1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</a:t>
                      </a: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50" dirty="0" err="1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exaustiva</a:t>
                      </a: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</a:t>
                      </a:r>
                      <a:r>
                        <a:rPr lang="en-US" sz="1350" dirty="0" err="1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hiperparâmetros</a:t>
                      </a: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(grid search)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 err="1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</a:t>
                      </a:r>
                      <a:r>
                        <a:rPr lang="en-US" sz="13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dados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— 29/09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 aleatória e menção a AutoML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curso, semana a semana (2/2)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956331"/>
              </p:ext>
            </p:extLst>
          </p:nvPr>
        </p:nvGraphicFramePr>
        <p:xfrm>
          <a:off x="594360" y="1554480"/>
          <a:ext cx="11000232" cy="45720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0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 (Dia/Mês)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Assunto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— 06/10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Curvas de validação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Desafio 3 (subst.)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— 13/10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Curvas de aprendizado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— 20/10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Seleção e comparação de modelos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— 27/10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Limiar de decisão e calibração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— 03/11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Leakage e reprodutibilidade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— 10/11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Seleção de atributos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— 17/11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Estudo de caso integrado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— 24/11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Comunicação e reprodutibilidade dos resultados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b="1" dirty="0" err="1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Desafio</a:t>
                      </a:r>
                      <a:r>
                        <a:rPr lang="en-US" sz="13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6 (subst.)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— 01/12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Revisão integrada e apresentações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Apresentação final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C17F29-7B5F-B17B-A495-24DD00DEC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6047204-9008-ACC3-1879-92DE938DBEA6}"/>
              </a:ext>
            </a:extLst>
          </p:cNvPr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6DE55C-93E4-559F-CD99-4F5631587D8F}"/>
              </a:ext>
            </a:extLst>
          </p:cNvPr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5</a:t>
            </a:r>
            <a:endParaRPr lang="en-US" sz="8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A433A35B-4EE8-C8A0-0BAB-399BD9920F8F}"/>
              </a:ext>
            </a:extLst>
          </p:cNvPr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</a:t>
            </a:r>
            <a:r>
              <a:rPr lang="en-US" sz="2900" b="1" dirty="0" err="1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essa</a:t>
            </a:r>
            <a:r>
              <a:rPr lang="en-US" sz="29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900" b="1" dirty="0" err="1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disciplina</a:t>
            </a:r>
            <a:r>
              <a:rPr lang="en-US" sz="29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900" b="1" dirty="0" err="1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vai</a:t>
            </a:r>
            <a:r>
              <a:rPr lang="en-US" sz="29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900" b="1" dirty="0" err="1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funcionar</a:t>
            </a:r>
            <a:r>
              <a:rPr lang="en-US" sz="29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endParaRPr lang="en-US" sz="29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B4E02006-0EB7-5AC5-5C68-B8F2EFBD777C}"/>
              </a:ext>
            </a:extLst>
          </p:cNvPr>
          <p:cNvSpPr/>
          <p:nvPr/>
        </p:nvSpPr>
        <p:spPr>
          <a:xfrm>
            <a:off x="997772" y="1234440"/>
            <a:ext cx="7662134" cy="2880360"/>
          </a:xfrm>
          <a:prstGeom prst="roundRect">
            <a:avLst>
              <a:gd name="adj" fmla="val 2857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3BB87146-0A88-1003-6089-E6E3A07EBBEA}"/>
              </a:ext>
            </a:extLst>
          </p:cNvPr>
          <p:cNvSpPr/>
          <p:nvPr/>
        </p:nvSpPr>
        <p:spPr>
          <a:xfrm>
            <a:off x="1317811" y="1463040"/>
            <a:ext cx="67400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Terça</a:t>
            </a:r>
            <a:r>
              <a:rPr lang="en-US" sz="22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-Feira</a:t>
            </a:r>
            <a:endParaRPr lang="en-US" sz="22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6E5B0CD1-3124-8FDA-D145-A9213BED827F}"/>
              </a:ext>
            </a:extLst>
          </p:cNvPr>
          <p:cNvSpPr/>
          <p:nvPr/>
        </p:nvSpPr>
        <p:spPr>
          <a:xfrm>
            <a:off x="1317811" y="2057400"/>
            <a:ext cx="6740017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cs typeface="Calibri" pitchFamily="34" charset="-120"/>
              </a:rPr>
              <a:t>Pré-aula (</a:t>
            </a:r>
            <a:r>
              <a:rPr lang="en-US" sz="1500" b="1" dirty="0" err="1">
                <a:solidFill>
                  <a:srgbClr val="12303A"/>
                </a:solidFill>
                <a:latin typeface="Calibri" pitchFamily="34" charset="0"/>
                <a:cs typeface="Calibri" pitchFamily="34" charset="-120"/>
              </a:rPr>
              <a:t>Enviada</a:t>
            </a: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cs typeface="Calibri" pitchFamily="34" charset="-120"/>
              </a:rPr>
              <a:t> via </a:t>
            </a:r>
            <a:r>
              <a:rPr lang="en-US" sz="1500" b="1" dirty="0" err="1">
                <a:solidFill>
                  <a:srgbClr val="12303A"/>
                </a:solidFill>
                <a:latin typeface="Calibri" pitchFamily="34" charset="0"/>
                <a:cs typeface="Calibri" pitchFamily="34" charset="-120"/>
              </a:rPr>
              <a:t>Youtube</a:t>
            </a: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cs typeface="Calibri" pitchFamily="34" charset="-120"/>
              </a:rPr>
              <a:t>) – 30-60 min</a:t>
            </a:r>
          </a:p>
          <a:p>
            <a:pPr marL="254000" indent="-2540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cs typeface="Calibri" pitchFamily="34" charset="-120"/>
              </a:rPr>
              <a:t>Aula (15 min de </a:t>
            </a:r>
            <a:r>
              <a:rPr lang="en-US" sz="1500" b="1" dirty="0" err="1">
                <a:solidFill>
                  <a:srgbClr val="12303A"/>
                </a:solidFill>
                <a:latin typeface="Calibri" pitchFamily="34" charset="0"/>
                <a:cs typeface="Calibri" pitchFamily="34" charset="-120"/>
              </a:rPr>
              <a:t>revisão</a:t>
            </a: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cs typeface="Calibri" pitchFamily="34" charset="-120"/>
              </a:rPr>
              <a:t> e </a:t>
            </a:r>
            <a:r>
              <a:rPr lang="en-US" sz="1500" b="1" dirty="0" err="1">
                <a:solidFill>
                  <a:srgbClr val="12303A"/>
                </a:solidFill>
                <a:latin typeface="Calibri" pitchFamily="34" charset="0"/>
                <a:cs typeface="Calibri" pitchFamily="34" charset="-120"/>
              </a:rPr>
              <a:t>solução</a:t>
            </a: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cs typeface="Calibri" pitchFamily="34" charset="-120"/>
              </a:rPr>
              <a:t> de </a:t>
            </a:r>
            <a:r>
              <a:rPr lang="en-US" sz="1500" b="1" dirty="0" err="1">
                <a:solidFill>
                  <a:srgbClr val="12303A"/>
                </a:solidFill>
                <a:latin typeface="Calibri" pitchFamily="34" charset="0"/>
                <a:cs typeface="Calibri" pitchFamily="34" charset="-120"/>
              </a:rPr>
              <a:t>duvidas</a:t>
            </a: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cs typeface="Calibri" pitchFamily="34" charset="-120"/>
              </a:rPr>
              <a:t>)</a:t>
            </a:r>
          </a:p>
          <a:p>
            <a:pPr marL="254000" indent="-2540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cs typeface="Calibri" pitchFamily="34" charset="-120"/>
              </a:rPr>
              <a:t>Aula (Restante da aula – </a:t>
            </a:r>
            <a:r>
              <a:rPr lang="en-US" sz="1500" b="1" dirty="0" err="1">
                <a:solidFill>
                  <a:srgbClr val="12303A"/>
                </a:solidFill>
                <a:latin typeface="Calibri" pitchFamily="34" charset="0"/>
                <a:cs typeface="Calibri" pitchFamily="34" charset="-120"/>
              </a:rPr>
              <a:t>Exercícios</a:t>
            </a: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cs typeface="Calibri" pitchFamily="34" charset="-120"/>
              </a:rPr>
              <a:t>)</a:t>
            </a:r>
          </a:p>
          <a:p>
            <a:pPr marL="254000" indent="-254000">
              <a:buSzPct val="100000"/>
              <a:buChar char="•"/>
            </a:pPr>
            <a:endParaRPr lang="en-US" sz="1500" b="1" dirty="0">
              <a:solidFill>
                <a:srgbClr val="12303A"/>
              </a:solidFill>
              <a:latin typeface="Calibri" pitchFamily="34" charset="0"/>
              <a:cs typeface="Calibri" pitchFamily="34" charset="-120"/>
            </a:endParaRPr>
          </a:p>
          <a:p>
            <a:pPr lvl="2">
              <a:buSzPct val="100000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cs typeface="Calibri" pitchFamily="34" charset="-120"/>
              </a:rPr>
              <a:t>	Prof Giovani</a:t>
            </a:r>
          </a:p>
        </p:txBody>
      </p:sp>
    </p:spTree>
    <p:extLst>
      <p:ext uri="{BB962C8B-B14F-4D97-AF65-F5344CB8AC3E}">
        <p14:creationId xmlns:p14="http://schemas.microsoft.com/office/powerpoint/2010/main" val="2151416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05D2FB-4954-6E24-491B-2E057C86A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547704-62FF-F7B0-9F85-696E87A8B4F5}"/>
              </a:ext>
            </a:extLst>
          </p:cNvPr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5E9298-5124-EB8D-490E-4FEF00DA9B8B}"/>
              </a:ext>
            </a:extLst>
          </p:cNvPr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6</a:t>
            </a:r>
            <a:endParaRPr lang="en-US" sz="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877833C-0BEA-7079-1C60-58AE92C58736}"/>
              </a:ext>
            </a:extLst>
          </p:cNvPr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média será calculada</a:t>
            </a:r>
            <a:endParaRPr lang="en-US" sz="29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6941C62E-A9F3-5547-B0BF-A90BB5461FFF}"/>
              </a:ext>
            </a:extLst>
          </p:cNvPr>
          <p:cNvSpPr/>
          <p:nvPr/>
        </p:nvSpPr>
        <p:spPr>
          <a:xfrm>
            <a:off x="594360" y="1600200"/>
            <a:ext cx="11002975" cy="777240"/>
          </a:xfrm>
          <a:prstGeom prst="roundRect">
            <a:avLst>
              <a:gd name="adj" fmla="val 11765"/>
            </a:avLst>
          </a:prstGeom>
          <a:solidFill>
            <a:srgbClr val="1230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B1DFFFA7-B622-7E3A-ACE8-51623A4261E4}"/>
              </a:ext>
            </a:extLst>
          </p:cNvPr>
          <p:cNvSpPr/>
          <p:nvPr/>
        </p:nvSpPr>
        <p:spPr>
          <a:xfrm>
            <a:off x="594360" y="1600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final  =  </a:t>
            </a:r>
            <a:r>
              <a:rPr lang="en-US" sz="2400" b="1" dirty="0">
                <a:solidFill>
                  <a:srgbClr val="7DD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( 1.5P1 + 1.5P2 + PE) / 4</a:t>
            </a:r>
            <a:endParaRPr lang="en-US" sz="2200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1AB31FB9-C1A2-CB6A-1A2E-D2A944CA0C62}"/>
              </a:ext>
            </a:extLst>
          </p:cNvPr>
          <p:cNvSpPr/>
          <p:nvPr/>
        </p:nvSpPr>
        <p:spPr>
          <a:xfrm>
            <a:off x="594360" y="2697480"/>
            <a:ext cx="5318608" cy="2880360"/>
          </a:xfrm>
          <a:prstGeom prst="roundRect">
            <a:avLst>
              <a:gd name="adj" fmla="val 2857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80CFABD5-D991-812B-B732-331226F44656}"/>
              </a:ext>
            </a:extLst>
          </p:cNvPr>
          <p:cNvSpPr/>
          <p:nvPr/>
        </p:nvSpPr>
        <p:spPr>
          <a:xfrm>
            <a:off x="6278728" y="2697480"/>
            <a:ext cx="5318608" cy="288036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103652F2-4486-322E-12EB-5B53F14B2BC9}"/>
              </a:ext>
            </a:extLst>
          </p:cNvPr>
          <p:cNvSpPr/>
          <p:nvPr/>
        </p:nvSpPr>
        <p:spPr>
          <a:xfrm>
            <a:off x="914400" y="292608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 — Primeira parte</a:t>
            </a:r>
            <a:endParaRPr lang="en-US" sz="2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0F08DA35-AB99-495F-660B-548AB6A520F0}"/>
              </a:ext>
            </a:extLst>
          </p:cNvPr>
          <p:cNvSpPr/>
          <p:nvPr/>
        </p:nvSpPr>
        <p:spPr>
          <a:xfrm>
            <a:off x="914400" y="3520440"/>
            <a:ext cx="4678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5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</a:t>
            </a: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sala de aula – 30%</a:t>
            </a:r>
          </a:p>
          <a:p>
            <a:pPr marL="254000" indent="-254000">
              <a:buSzPct val="100000"/>
              <a:buChar char="•"/>
            </a:pPr>
            <a:r>
              <a:rPr lang="en-US" sz="15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Desafios-surpresa</a:t>
            </a: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(40 min) – 70%</a:t>
            </a:r>
            <a:endParaRPr lang="en-US" sz="15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00ACCDAE-8F90-745A-B3A4-5707FDF7EA84}"/>
              </a:ext>
            </a:extLst>
          </p:cNvPr>
          <p:cNvSpPr/>
          <p:nvPr/>
        </p:nvSpPr>
        <p:spPr>
          <a:xfrm>
            <a:off x="6598768" y="292608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 — Segunda parte</a:t>
            </a:r>
            <a:endParaRPr lang="en-US" sz="22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B2A7ED53-761D-FAD7-5E7A-8BF07DDD1187}"/>
              </a:ext>
            </a:extLst>
          </p:cNvPr>
          <p:cNvSpPr/>
          <p:nvPr/>
        </p:nvSpPr>
        <p:spPr>
          <a:xfrm>
            <a:off x="6598768" y="3520440"/>
            <a:ext cx="4678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5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</a:t>
            </a: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sala de aula – 30%</a:t>
            </a:r>
          </a:p>
          <a:p>
            <a:pPr marL="254000" indent="-254000">
              <a:buSzPct val="100000"/>
              <a:buChar char="•"/>
            </a:pPr>
            <a:r>
              <a:rPr lang="en-US" sz="15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Desafios-surpresa</a:t>
            </a: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(40 min) – 70%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201818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055BD6-C3D2-85A9-419E-A291C65A7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986252E-39DC-C3F4-0338-7EECD13B9C1D}"/>
              </a:ext>
            </a:extLst>
          </p:cNvPr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BF1308E-626C-5CF3-D3E6-AF5BB93C7228}"/>
              </a:ext>
            </a:extLst>
          </p:cNvPr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7</a:t>
            </a:r>
            <a:endParaRPr lang="en-US" sz="8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AFA12E72-8794-A333-7FFF-A71821E89CC4}"/>
              </a:ext>
            </a:extLst>
          </p:cNvPr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</a:t>
            </a:r>
            <a:r>
              <a:rPr lang="en-US" sz="2900" b="1" dirty="0" err="1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</a:t>
            </a:r>
            <a:r>
              <a:rPr lang="en-US" sz="29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os </a:t>
            </a:r>
            <a:r>
              <a:rPr lang="en-US" sz="2900" b="1" dirty="0" err="1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desafios</a:t>
            </a:r>
            <a:r>
              <a:rPr lang="en-US" sz="29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são </a:t>
            </a:r>
            <a:r>
              <a:rPr lang="en-US" sz="2900" b="1" dirty="0" err="1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surpresa</a:t>
            </a:r>
            <a:r>
              <a:rPr lang="en-US" sz="29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(não tem data </a:t>
            </a:r>
            <a:r>
              <a:rPr lang="en-US" sz="2900" b="1" dirty="0" err="1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marcada</a:t>
            </a:r>
            <a:r>
              <a:rPr lang="en-US" sz="29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)?</a:t>
            </a:r>
            <a:endParaRPr lang="en-US" sz="29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3943F71A-2DFA-0ABB-B5CF-4C0E30D4C3FB}"/>
              </a:ext>
            </a:extLst>
          </p:cNvPr>
          <p:cNvSpPr/>
          <p:nvPr/>
        </p:nvSpPr>
        <p:spPr>
          <a:xfrm>
            <a:off x="3009087" y="1591026"/>
            <a:ext cx="5770930" cy="777240"/>
          </a:xfrm>
          <a:prstGeom prst="roundRect">
            <a:avLst>
              <a:gd name="adj" fmla="val 11765"/>
            </a:avLst>
          </a:prstGeom>
          <a:solidFill>
            <a:srgbClr val="1230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D3DC0B8B-8FC3-8752-D892-9AF67FFA29CF}"/>
              </a:ext>
            </a:extLst>
          </p:cNvPr>
          <p:cNvSpPr/>
          <p:nvPr/>
        </p:nvSpPr>
        <p:spPr>
          <a:xfrm>
            <a:off x="3009086" y="1591026"/>
            <a:ext cx="577093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Sala de Aula</a:t>
            </a:r>
            <a:endParaRPr lang="en-US" sz="2200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3AA36029-72D3-0A06-EF4B-5539D6E46319}"/>
              </a:ext>
            </a:extLst>
          </p:cNvPr>
          <p:cNvSpPr/>
          <p:nvPr/>
        </p:nvSpPr>
        <p:spPr>
          <a:xfrm>
            <a:off x="3011364" y="2520666"/>
            <a:ext cx="5768651" cy="1074494"/>
          </a:xfrm>
          <a:prstGeom prst="roundRect">
            <a:avLst>
              <a:gd name="adj" fmla="val 11765"/>
            </a:avLst>
          </a:prstGeom>
          <a:solidFill>
            <a:srgbClr val="1230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B9023B24-F65C-3884-1A8C-134698902DB0}"/>
              </a:ext>
            </a:extLst>
          </p:cNvPr>
          <p:cNvSpPr/>
          <p:nvPr/>
        </p:nvSpPr>
        <p:spPr>
          <a:xfrm>
            <a:off x="3106742" y="2574294"/>
            <a:ext cx="5540108" cy="102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vocês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sempre </a:t>
            </a:r>
            <a:r>
              <a:rPr lang="en-US" sz="2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focados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 a </a:t>
            </a:r>
            <a:r>
              <a:rPr lang="en-US" sz="2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matéria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dia. </a:t>
            </a:r>
            <a:endParaRPr lang="en-US" sz="2200" dirty="0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DCCE8B3C-A8FA-9167-8E0E-4935A7AB78C9}"/>
              </a:ext>
            </a:extLst>
          </p:cNvPr>
          <p:cNvSpPr/>
          <p:nvPr/>
        </p:nvSpPr>
        <p:spPr>
          <a:xfrm>
            <a:off x="3011364" y="3736130"/>
            <a:ext cx="5768651" cy="1295734"/>
          </a:xfrm>
          <a:prstGeom prst="roundRect">
            <a:avLst>
              <a:gd name="adj" fmla="val 11765"/>
            </a:avLst>
          </a:prstGeom>
          <a:solidFill>
            <a:srgbClr val="1230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7B66FAAE-7072-8E29-3B15-782268095E80}"/>
              </a:ext>
            </a:extLst>
          </p:cNvPr>
          <p:cNvSpPr/>
          <p:nvPr/>
        </p:nvSpPr>
        <p:spPr>
          <a:xfrm>
            <a:off x="3106742" y="3808992"/>
            <a:ext cx="5522001" cy="102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Em tempos de IA, é uma </a:t>
            </a:r>
            <a:r>
              <a:rPr lang="en-US" sz="2200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atividade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feita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em sala de aula sob </a:t>
            </a:r>
            <a:r>
              <a:rPr lang="en-US" sz="2200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vigilância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com tempo </a:t>
            </a:r>
            <a:r>
              <a:rPr lang="en-US" sz="2200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limitado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573071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6ED45B-5727-02D0-1A34-E950D5AF0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E1036D9-09A3-07DE-C7EF-91D7EA5B74BA}"/>
              </a:ext>
            </a:extLst>
          </p:cNvPr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174C12-C028-59C8-F22B-679D81A24CD5}"/>
              </a:ext>
            </a:extLst>
          </p:cNvPr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8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5855513-EF3C-BD24-0BD7-F532A0135D30}"/>
              </a:ext>
            </a:extLst>
          </p:cNvPr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 e se </a:t>
            </a:r>
            <a:r>
              <a:rPr lang="en-US" sz="2900" b="1" dirty="0" err="1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</a:t>
            </a:r>
            <a:r>
              <a:rPr lang="en-US" sz="29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900" b="1" dirty="0" err="1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perder</a:t>
            </a:r>
            <a:r>
              <a:rPr lang="en-US" sz="29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um </a:t>
            </a:r>
            <a:r>
              <a:rPr lang="en-US" sz="2900" b="1" dirty="0" err="1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</a:t>
            </a:r>
            <a:r>
              <a:rPr lang="en-US" sz="29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9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788F60B-D5D6-0C98-7C8B-10F709550694}"/>
              </a:ext>
            </a:extLst>
          </p:cNvPr>
          <p:cNvSpPr/>
          <p:nvPr/>
        </p:nvSpPr>
        <p:spPr>
          <a:xfrm>
            <a:off x="594360" y="1600200"/>
            <a:ext cx="2080259" cy="777240"/>
          </a:xfrm>
          <a:prstGeom prst="roundRect">
            <a:avLst>
              <a:gd name="adj" fmla="val 11765"/>
            </a:avLst>
          </a:prstGeom>
          <a:solidFill>
            <a:srgbClr val="1230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4DAD374-FA4B-966C-32C3-75117B830AF0}"/>
              </a:ext>
            </a:extLst>
          </p:cNvPr>
          <p:cNvSpPr/>
          <p:nvPr/>
        </p:nvSpPr>
        <p:spPr>
          <a:xfrm>
            <a:off x="594360" y="1600200"/>
            <a:ext cx="20802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</a:t>
            </a:r>
            <a:endParaRPr lang="en-US" sz="22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C3BBF17B-2E14-75D5-B244-DBC4E1EAD0BD}"/>
              </a:ext>
            </a:extLst>
          </p:cNvPr>
          <p:cNvSpPr/>
          <p:nvPr/>
        </p:nvSpPr>
        <p:spPr>
          <a:xfrm>
            <a:off x="594360" y="2651760"/>
            <a:ext cx="2080259" cy="777240"/>
          </a:xfrm>
          <a:prstGeom prst="roundRect">
            <a:avLst>
              <a:gd name="adj" fmla="val 11765"/>
            </a:avLst>
          </a:prstGeom>
          <a:solidFill>
            <a:srgbClr val="1230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E10E6096-22CF-05DA-8EE7-35FCAF3FABCA}"/>
              </a:ext>
            </a:extLst>
          </p:cNvPr>
          <p:cNvSpPr/>
          <p:nvPr/>
        </p:nvSpPr>
        <p:spPr>
          <a:xfrm>
            <a:off x="594360" y="2651760"/>
            <a:ext cx="20802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endParaRPr lang="en-US" sz="220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0061D397-362C-5434-7BFA-63BD08763C61}"/>
              </a:ext>
            </a:extLst>
          </p:cNvPr>
          <p:cNvSpPr/>
          <p:nvPr/>
        </p:nvSpPr>
        <p:spPr>
          <a:xfrm>
            <a:off x="594360" y="3691890"/>
            <a:ext cx="2080259" cy="777240"/>
          </a:xfrm>
          <a:prstGeom prst="roundRect">
            <a:avLst>
              <a:gd name="adj" fmla="val 11765"/>
            </a:avLst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463EFACD-8176-C4F2-7122-5705976C62EF}"/>
              </a:ext>
            </a:extLst>
          </p:cNvPr>
          <p:cNvSpPr/>
          <p:nvPr/>
        </p:nvSpPr>
        <p:spPr>
          <a:xfrm>
            <a:off x="594360" y="3691890"/>
            <a:ext cx="20802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Desafio</a:t>
            </a: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3</a:t>
            </a:r>
            <a:endParaRPr lang="en-US" sz="2200" b="1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AB61CE45-73AB-0C6D-CC24-03FAA31646C9}"/>
              </a:ext>
            </a:extLst>
          </p:cNvPr>
          <p:cNvSpPr/>
          <p:nvPr/>
        </p:nvSpPr>
        <p:spPr>
          <a:xfrm>
            <a:off x="9879330" y="1600200"/>
            <a:ext cx="2080259" cy="777240"/>
          </a:xfrm>
          <a:prstGeom prst="roundRect">
            <a:avLst>
              <a:gd name="adj" fmla="val 11765"/>
            </a:avLst>
          </a:prstGeom>
          <a:solidFill>
            <a:srgbClr val="1230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94D6C8F5-3C8F-74D1-7C7E-C81EDB35C3CB}"/>
              </a:ext>
            </a:extLst>
          </p:cNvPr>
          <p:cNvSpPr/>
          <p:nvPr/>
        </p:nvSpPr>
        <p:spPr>
          <a:xfrm>
            <a:off x="9879330" y="1600200"/>
            <a:ext cx="20802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</a:t>
            </a:r>
            <a:endParaRPr lang="en-US" sz="22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5C8CD5C7-FCF1-70E1-0283-B3CF0910DE36}"/>
              </a:ext>
            </a:extLst>
          </p:cNvPr>
          <p:cNvSpPr/>
          <p:nvPr/>
        </p:nvSpPr>
        <p:spPr>
          <a:xfrm>
            <a:off x="9879330" y="2651760"/>
            <a:ext cx="2080259" cy="777240"/>
          </a:xfrm>
          <a:prstGeom prst="roundRect">
            <a:avLst>
              <a:gd name="adj" fmla="val 11765"/>
            </a:avLst>
          </a:prstGeom>
          <a:solidFill>
            <a:srgbClr val="1230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129FD24A-7F8C-54E1-864A-3F9A7ACA7809}"/>
              </a:ext>
            </a:extLst>
          </p:cNvPr>
          <p:cNvSpPr/>
          <p:nvPr/>
        </p:nvSpPr>
        <p:spPr>
          <a:xfrm>
            <a:off x="9879330" y="2651760"/>
            <a:ext cx="20802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</a:t>
            </a:r>
            <a:endParaRPr lang="en-US" sz="2200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714D7781-9905-7804-99ED-24D9082FABDF}"/>
              </a:ext>
            </a:extLst>
          </p:cNvPr>
          <p:cNvSpPr/>
          <p:nvPr/>
        </p:nvSpPr>
        <p:spPr>
          <a:xfrm>
            <a:off x="9879330" y="3691890"/>
            <a:ext cx="2080259" cy="777240"/>
          </a:xfrm>
          <a:prstGeom prst="roundRect">
            <a:avLst>
              <a:gd name="adj" fmla="val 11765"/>
            </a:avLst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90702301-F6DC-BEA5-ADD3-9B5A8DB5CED4}"/>
              </a:ext>
            </a:extLst>
          </p:cNvPr>
          <p:cNvSpPr/>
          <p:nvPr/>
        </p:nvSpPr>
        <p:spPr>
          <a:xfrm>
            <a:off x="9879330" y="3691890"/>
            <a:ext cx="20802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Desafio</a:t>
            </a: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6</a:t>
            </a:r>
            <a:endParaRPr lang="en-US" sz="2200" b="1" dirty="0"/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8849DA20-58FD-0E9A-F1D1-572743DF56AC}"/>
              </a:ext>
            </a:extLst>
          </p:cNvPr>
          <p:cNvCxnSpPr/>
          <p:nvPr/>
        </p:nvCxnSpPr>
        <p:spPr>
          <a:xfrm>
            <a:off x="7377344" y="4101483"/>
            <a:ext cx="20773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09C0F093-7D8A-EE84-8839-A51EFCBC2E34}"/>
              </a:ext>
            </a:extLst>
          </p:cNvPr>
          <p:cNvCxnSpPr/>
          <p:nvPr/>
        </p:nvCxnSpPr>
        <p:spPr>
          <a:xfrm flipH="1">
            <a:off x="3000652" y="4101483"/>
            <a:ext cx="18199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4">
            <a:extLst>
              <a:ext uri="{FF2B5EF4-FFF2-40B4-BE49-F238E27FC236}">
                <a16:creationId xmlns:a16="http://schemas.microsoft.com/office/drawing/2014/main" id="{E5FF1734-4F21-6F14-BE0A-B15BB51450FF}"/>
              </a:ext>
            </a:extLst>
          </p:cNvPr>
          <p:cNvSpPr/>
          <p:nvPr/>
        </p:nvSpPr>
        <p:spPr>
          <a:xfrm>
            <a:off x="5055717" y="3712863"/>
            <a:ext cx="20802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SUBSTITUTIVOS</a:t>
            </a:r>
          </a:p>
        </p:txBody>
      </p:sp>
    </p:spTree>
    <p:extLst>
      <p:ext uri="{BB962C8B-B14F-4D97-AF65-F5344CB8AC3E}">
        <p14:creationId xmlns:p14="http://schemas.microsoft.com/office/powerpoint/2010/main" val="2298641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</a:rPr>
              <a:t>Qual a </a:t>
            </a:r>
            <a:r>
              <a:rPr lang="en-US" sz="3200" b="1" dirty="0" err="1">
                <a:solidFill>
                  <a:srgbClr val="12303A"/>
                </a:solidFill>
                <a:latin typeface="Cambria" pitchFamily="34" charset="0"/>
                <a:ea typeface="Cambria" pitchFamily="34" charset="-122"/>
              </a:rPr>
              <a:t>função</a:t>
            </a: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</a:rPr>
              <a:t> dessa </a:t>
            </a:r>
            <a:r>
              <a:rPr lang="en-US" sz="3200" b="1" dirty="0" err="1">
                <a:solidFill>
                  <a:srgbClr val="12303A"/>
                </a:solidFill>
                <a:latin typeface="Cambria" pitchFamily="34" charset="0"/>
                <a:ea typeface="Cambria" pitchFamily="34" charset="-122"/>
              </a:rPr>
              <a:t>disciplina</a:t>
            </a: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</a:rPr>
              <a:t> na </a:t>
            </a:r>
            <a:r>
              <a:rPr lang="en-US" sz="3200" b="1" dirty="0" err="1">
                <a:solidFill>
                  <a:srgbClr val="12303A"/>
                </a:solidFill>
                <a:latin typeface="Cambria" pitchFamily="34" charset="0"/>
                <a:ea typeface="Cambria" pitchFamily="34" charset="-122"/>
              </a:rPr>
              <a:t>formação</a:t>
            </a: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</a:rPr>
              <a:t> do </a:t>
            </a:r>
            <a:r>
              <a:rPr lang="en-US" sz="3200" b="1" dirty="0" err="1">
                <a:solidFill>
                  <a:srgbClr val="12303A"/>
                </a:solidFill>
                <a:latin typeface="Cambria" pitchFamily="34" charset="0"/>
                <a:ea typeface="Cambria" pitchFamily="34" charset="-122"/>
              </a:rPr>
              <a:t>cientista</a:t>
            </a: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</a:rPr>
              <a:t> de dados?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 disciplina se encaixa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645920"/>
            <a:ext cx="1030672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Vocês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sabem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dados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regressão, árvores, k-NN, redes </a:t>
            </a:r>
          </a:p>
          <a:p>
            <a:pPr>
              <a:buSzPct val="100000"/>
            </a:pPr>
            <a:endParaRPr lang="en-US" sz="160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o foco muda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dessa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auxilia-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um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as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</a:t>
            </a:r>
            <a:r>
              <a:rPr lang="en-US" sz="2800" b="1" dirty="0" err="1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</a:t>
            </a: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preciso</a:t>
            </a: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entender</a:t>
            </a: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 </a:t>
            </a:r>
            <a:r>
              <a:rPr lang="en-US" sz="2800" b="1" dirty="0" err="1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conteúdo</a:t>
            </a: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dessa </a:t>
            </a:r>
            <a:r>
              <a:rPr lang="en-US" sz="2800" b="1" dirty="0" err="1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disciplina</a:t>
            </a: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645920"/>
            <a:ext cx="67208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 conversa com o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precisará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apresentar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honestidade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acerta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254000" indent="-254000">
              <a:buSzPct val="100000"/>
              <a:buChar char="•"/>
            </a:pPr>
            <a:endParaRPr lang="en-US" sz="1600" b="1" dirty="0">
              <a:solidFill>
                <a:srgbClr val="1230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 um valor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honesto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resultado inflado leva a decisões erradas e caras.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escolheu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ao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invés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B? Como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assegura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escolhida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foi a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correta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pergunta 'como você avaliou?' — você precisa responder com rigor.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retrabalho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vazamento cedo evita refazer todo o projeto no fim.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26680" y="1645920"/>
            <a:ext cx="3886200" cy="4480560"/>
          </a:xfrm>
          <a:prstGeom prst="roundRect">
            <a:avLst>
              <a:gd name="adj" fmla="val 2118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019288" y="193852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PROJETO REAL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19288" y="2441448"/>
            <a:ext cx="3300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Confiar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019288" y="3447288"/>
            <a:ext cx="33009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honesto</a:t>
            </a:r>
            <a:endParaRPr lang="en-US" sz="14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defensável</a:t>
            </a:r>
            <a:endParaRPr lang="en-US" sz="14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controlado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objetivo real: generalização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645920"/>
            <a:ext cx="10145358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Generalizar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 O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treinado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os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teus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dados de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quando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trazido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o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 se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forma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correta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acertar em exemplos novos, que não estavam nos dados de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um modelo que memoriza o treino pode falhar feio no mundo real.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Imaginem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 professor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uma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completamente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exercicios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 o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</a:t>
            </a: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mal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são os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seus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dados de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o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real, o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o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erros diferentes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59" y="1645920"/>
            <a:ext cx="1024396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treino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quanto o modelo erra nos dados que ele já viu.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generalização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quanto ele erra em dados novos — o que realmente importa.</a:t>
            </a:r>
            <a:endParaRPr lang="en-US" sz="1600" dirty="0"/>
          </a:p>
          <a:p>
            <a:pPr>
              <a:buSzPct val="100000"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1960" y="2423160"/>
            <a:ext cx="11002975" cy="1005840"/>
          </a:xfrm>
          <a:prstGeom prst="roundRect">
            <a:avLst>
              <a:gd name="adj" fmla="val 8182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94359" y="2656243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treino  ≠  Erro em dados novos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55279" y="640080"/>
            <a:ext cx="3931920" cy="5120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3000" b="1" i="0">
                <a:solidFill>
                  <a:srgbClr val="E9F5F3"/>
                </a:solidFill>
                <a:latin typeface="Cambria"/>
              </a:rPr>
              <a:t>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PARTE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12303A"/>
                </a:solidFill>
                <a:latin typeface="Cambria"/>
              </a:rPr>
              <a:t>O Risco da Ilusão: Acurácia no Dado de Treino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480560"/>
            <a:ext cx="749807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0" i="0">
                <a:solidFill>
                  <a:srgbClr val="475569"/>
                </a:solidFill>
                <a:latin typeface="Calibri"/>
              </a:rPr>
              <a:t>Por que avaliar o modelo nos mesmos dados em que ele aprendeu gera conclusões falsas.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Calibri"/>
              </a:rPr>
              <a:t>Aula 01 - Consultoria Especializada em Ciência de Dados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04/08/2026    ·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297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2303A"/>
                </a:solidFill>
                <a:latin typeface="Cambria"/>
              </a:rPr>
              <a:t>O erro mais básico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783080"/>
            <a:ext cx="5318607" cy="4114800"/>
          </a:xfrm>
          <a:prstGeom prst="roundRect">
            <a:avLst>
              <a:gd name="adj" fmla="val 5500"/>
            </a:avLst>
          </a:prstGeom>
          <a:solidFill>
            <a:srgbClr val="E9F5F3"/>
          </a:solidFill>
          <a:ln>
            <a:noFill/>
          </a:ln>
          <a:effectLst>
            <a:outerShdw blurRad="90000" dist="38100" dir="5400000" rotWithShape="0">
              <a:srgbClr val="9CB4B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039112"/>
            <a:ext cx="467852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0">
                <a:solidFill>
                  <a:srgbClr val="0B5A54"/>
                </a:solidFill>
                <a:latin typeface="Cambria"/>
              </a:rPr>
              <a:t>Medir Onde Treinou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4678527" cy="297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500" b="1" i="0">
                <a:solidFill>
                  <a:srgbClr val="12303A"/>
                </a:solidFill>
                <a:latin typeface="Calibri"/>
              </a:rPr>
              <a:t>A Prova com Gabarito</a:t>
            </a:r>
            <a:r>
              <a:rPr sz="1500" b="0" i="0">
                <a:solidFill>
                  <a:srgbClr val="475569"/>
                </a:solidFill>
                <a:latin typeface="Calibri"/>
              </a:rPr>
              <a:t> — Avaliar a performance no mesmo conjunto usado para ajustar os parâmetros do modelo.</a:t>
            </a:r>
          </a:p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475569"/>
                </a:solidFill>
                <a:latin typeface="Calibri"/>
              </a:rPr>
              <a:t>O resultado é artificialmente inflado, pois o algoritmo decorou as respostas em vez de aprender padrões gerais.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783080"/>
            <a:ext cx="5318607" cy="411480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>
            <a:outerShdw blurRad="90000" dist="38100" dir="5400000" rotWithShape="0">
              <a:srgbClr val="9CB4B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98767" y="2039112"/>
            <a:ext cx="467852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0">
                <a:solidFill>
                  <a:srgbClr val="0B5A54"/>
                </a:solidFill>
                <a:latin typeface="Cambria"/>
              </a:rPr>
              <a:t>A Regra de Ouro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8767" y="2697480"/>
            <a:ext cx="4678527" cy="297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500" b="1" i="0">
                <a:solidFill>
                  <a:srgbClr val="12303A"/>
                </a:solidFill>
                <a:latin typeface="Calibri"/>
              </a:rPr>
              <a:t>Isolamento Absoluto</a:t>
            </a:r>
            <a:r>
              <a:rPr sz="1500" b="0" i="0">
                <a:solidFill>
                  <a:srgbClr val="475569"/>
                </a:solidFill>
                <a:latin typeface="Calibri"/>
              </a:rPr>
              <a:t> — Nunca avalie métricas finais em dados utilizados durante a fase de ajuste.</a:t>
            </a:r>
          </a:p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475569"/>
                </a:solidFill>
                <a:latin typeface="Calibri"/>
              </a:rPr>
              <a:t>Reserve uma amostra inédita que o modelo jamais viu para simular a aplicação no mundo real.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Calibri"/>
              </a:rPr>
              <a:t>Aula 01 - Consultoria Especializada em Ciência de Dados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04/08/2026    ·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931E0A-C76D-7F91-9BD4-CBECBC07B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297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2303A"/>
                </a:solidFill>
                <a:latin typeface="Cambria"/>
              </a:rPr>
              <a:t>Exemplo: Árvore Sem Limite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828800"/>
            <a:ext cx="672084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1400"/>
              </a:spcAft>
              <a:buFont typeface="Arial"/>
              <a:buChar char="•"/>
            </a:pPr>
            <a:r>
              <a:rPr sz="1700" b="0" i="0">
                <a:solidFill>
                  <a:srgbClr val="475569"/>
                </a:solidFill>
                <a:latin typeface="Calibri"/>
              </a:rPr>
              <a:t>Uma árvore de decisão sem limite de profundidade decorou perfeitamente os dados de treino.</a:t>
            </a:r>
          </a:p>
          <a:p>
            <a:pPr marL="182880" indent="-182880">
              <a:spcAft>
                <a:spcPts val="1400"/>
              </a:spcAft>
              <a:buFont typeface="Arial"/>
              <a:buChar char="•"/>
            </a:pPr>
            <a:r>
              <a:rPr sz="1700" b="0" i="0">
                <a:solidFill>
                  <a:srgbClr val="475569"/>
                </a:solidFill>
                <a:latin typeface="Calibri"/>
              </a:rPr>
              <a:t>Esse gap é a prova definitiva de Overfitting: alta capacidade de memorização, baixíssima capacidade de generalização.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26679" y="1645920"/>
            <a:ext cx="3886200" cy="4480560"/>
          </a:xfrm>
          <a:prstGeom prst="roundRect">
            <a:avLst>
              <a:gd name="adj" fmla="val 5500"/>
            </a:avLst>
          </a:prstGeom>
          <a:solidFill>
            <a:srgbClr val="E9F5F3"/>
          </a:solidFill>
          <a:ln>
            <a:noFill/>
          </a:ln>
          <a:effectLst>
            <a:outerShdw blurRad="90000" dist="38100" dir="5400000" rotWithShape="0">
              <a:srgbClr val="9CB4B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19288" y="1938528"/>
            <a:ext cx="33009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0B5A54"/>
                </a:solidFill>
                <a:latin typeface="Calibri"/>
              </a:rPr>
              <a:t>MÉTRICAS COMPARATIVAS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19288" y="2468880"/>
            <a:ext cx="3300984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700"/>
              </a:spcAft>
              <a:buFont typeface="Arial"/>
              <a:buChar char="•"/>
            </a:pPr>
            <a:r>
              <a:rPr sz="1400" b="1" i="0">
                <a:solidFill>
                  <a:srgbClr val="12303A"/>
                </a:solidFill>
                <a:latin typeface="Calibri"/>
              </a:rPr>
              <a:t>Treino: 1.000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 — 100% de acurácia</a:t>
            </a:r>
          </a:p>
          <a:p>
            <a:pPr marL="182880" indent="-182880">
              <a:spcAft>
                <a:spcPts val="700"/>
              </a:spcAft>
              <a:buFont typeface="Arial"/>
              <a:buChar char="•"/>
            </a:pPr>
            <a:r>
              <a:rPr sz="1400" b="1" i="0">
                <a:solidFill>
                  <a:srgbClr val="12303A"/>
                </a:solidFill>
                <a:latin typeface="Calibri"/>
              </a:rPr>
              <a:t>Teste: 0.740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 — queda expressiva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Calibri"/>
              </a:rPr>
              <a:t>Aula 01 - Consultoria Especializada em Ciência de Dados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04/08/2026    ·    16</a:t>
            </a:r>
          </a:p>
        </p:txBody>
      </p:sp>
    </p:spTree>
    <p:extLst>
      <p:ext uri="{BB962C8B-B14F-4D97-AF65-F5344CB8AC3E}">
        <p14:creationId xmlns:p14="http://schemas.microsoft.com/office/powerpoint/2010/main" val="1427665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297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2303A"/>
                </a:solidFill>
                <a:latin typeface="Cambria"/>
              </a:rPr>
              <a:t>A Solução: A Divisão Treino / Teste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07008"/>
            <a:ext cx="110029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1">
                <a:solidFill>
                  <a:srgbClr val="0F766E"/>
                </a:solidFill>
                <a:latin typeface="Calibri"/>
              </a:rPr>
              <a:t>O que é a Técnica Hold-Out?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11002975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1300"/>
              </a:spcAft>
              <a:buFont typeface="Arial"/>
              <a:buChar char="•"/>
            </a:pPr>
            <a:r>
              <a:rPr sz="1700" b="1" i="0">
                <a:solidFill>
                  <a:srgbClr val="12303A"/>
                </a:solidFill>
                <a:latin typeface="Calibri"/>
              </a:rPr>
              <a:t>1. Particionamento Direto</a:t>
            </a:r>
            <a:r>
              <a:rPr sz="1700" b="0" i="0">
                <a:solidFill>
                  <a:srgbClr val="475569"/>
                </a:solidFill>
                <a:latin typeface="Calibri"/>
              </a:rPr>
              <a:t> — Consiste em dividir o conjunto de dados original em partes mutuamente exclusivas (Treino e Teste).</a:t>
            </a:r>
          </a:p>
          <a:p>
            <a:pPr marL="182880" indent="-182880">
              <a:spcAft>
                <a:spcPts val="1300"/>
              </a:spcAft>
              <a:buFont typeface="Arial"/>
              <a:buChar char="•"/>
            </a:pPr>
            <a:r>
              <a:rPr sz="1700" b="1" i="0">
                <a:solidFill>
                  <a:srgbClr val="12303A"/>
                </a:solidFill>
                <a:latin typeface="Calibri"/>
              </a:rPr>
              <a:t>2. Divisão Típica (70/30)</a:t>
            </a:r>
            <a:r>
              <a:rPr sz="1700" b="0" i="0">
                <a:solidFill>
                  <a:srgbClr val="475569"/>
                </a:solidFill>
                <a:latin typeface="Calibri"/>
              </a:rPr>
              <a:t> — Aloca a maior fatia (70%-80%) para o ajuste de parâmetros e reserva o restante (20%-30%) em sigilo absoluto.</a:t>
            </a:r>
          </a:p>
          <a:p>
            <a:pPr marL="182880" indent="-182880">
              <a:spcAft>
                <a:spcPts val="1300"/>
              </a:spcAft>
              <a:buFont typeface="Arial"/>
              <a:buChar char="•"/>
            </a:pPr>
            <a:r>
              <a:rPr sz="1700" b="1" i="0">
                <a:solidFill>
                  <a:srgbClr val="12303A"/>
                </a:solidFill>
                <a:latin typeface="Calibri"/>
              </a:rPr>
              <a:t>3. Simulação de Futuro</a:t>
            </a:r>
            <a:r>
              <a:rPr sz="1700" b="0" i="0">
                <a:solidFill>
                  <a:srgbClr val="475569"/>
                </a:solidFill>
                <a:latin typeface="Calibri"/>
              </a:rPr>
              <a:t> — O subconjunto de teste simula dados inéditos do mundo real, avaliando o poder de generalização.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Calibri"/>
              </a:rPr>
              <a:t>Aula 01 - Consultoria Especializada em Ciência de Dados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04/08/2026    ·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3F3E45-23DA-6269-D63C-0A131C093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297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2303A"/>
                </a:solidFill>
                <a:latin typeface="Cambria"/>
              </a:rPr>
              <a:t>Como Funciona a Divisão Hold-Out?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783080"/>
            <a:ext cx="11002975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1200"/>
              </a:spcAft>
              <a:buFont typeface="Arial"/>
              <a:buChar char="•"/>
            </a:pPr>
            <a:r>
              <a:rPr sz="1700" b="1" i="0">
                <a:solidFill>
                  <a:srgbClr val="12303A"/>
                </a:solidFill>
                <a:latin typeface="Calibri"/>
              </a:rPr>
              <a:t>1. O Split Inicial</a:t>
            </a:r>
            <a:r>
              <a:rPr sz="1700" b="0" i="0">
                <a:solidFill>
                  <a:srgbClr val="475569"/>
                </a:solidFill>
                <a:latin typeface="Calibri"/>
              </a:rPr>
              <a:t> — O dataset total de 100% é fatiado de forma estanque. O teste é trancado em um “cofre” simbólico.</a:t>
            </a:r>
          </a:p>
          <a:p>
            <a:pPr marL="182880" indent="-182880">
              <a:spcAft>
                <a:spcPts val="1200"/>
              </a:spcAft>
              <a:buFont typeface="Arial"/>
              <a:buChar char="•"/>
            </a:pPr>
            <a:r>
              <a:rPr sz="1700" b="1" i="0">
                <a:solidFill>
                  <a:srgbClr val="12303A"/>
                </a:solidFill>
                <a:latin typeface="Calibri"/>
              </a:rPr>
              <a:t>2. Ajuste do Modelo</a:t>
            </a:r>
            <a:r>
              <a:rPr sz="1700" b="0" i="0">
                <a:solidFill>
                  <a:srgbClr val="475569"/>
                </a:solidFill>
                <a:latin typeface="Calibri"/>
              </a:rPr>
              <a:t> — O algoritmo aprende padrões olhando apenas para a fatia de treino (X_train, y_train).</a:t>
            </a:r>
          </a:p>
          <a:p>
            <a:pPr marL="182880" indent="-182880">
              <a:spcAft>
                <a:spcPts val="1200"/>
              </a:spcAft>
              <a:buFont typeface="Arial"/>
              <a:buChar char="•"/>
            </a:pPr>
            <a:r>
              <a:rPr sz="1700" b="1" i="0">
                <a:solidFill>
                  <a:srgbClr val="12303A"/>
                </a:solidFill>
                <a:latin typeface="Calibri"/>
              </a:rPr>
              <a:t>3. A “Prova Final”</a:t>
            </a:r>
            <a:r>
              <a:rPr sz="1700" b="0" i="0">
                <a:solidFill>
                  <a:srgbClr val="475569"/>
                </a:solidFill>
                <a:latin typeface="Calibri"/>
              </a:rPr>
              <a:t> — Avaliamos o modelo em X_test. Comparamos com y_test para simular a performance no mundo real.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4892040"/>
            <a:ext cx="11002975" cy="868680"/>
          </a:xfrm>
          <a:prstGeom prst="roundRect">
            <a:avLst>
              <a:gd name="adj" fmla="val 5500"/>
            </a:avLst>
          </a:prstGeom>
          <a:solidFill>
            <a:srgbClr val="0B5A54"/>
          </a:solidFill>
          <a:ln>
            <a:noFill/>
          </a:ln>
          <a:effectLst>
            <a:outerShdw blurRad="90000" dist="38100" dir="5400000" rotWithShape="0">
              <a:srgbClr val="9CB4B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020055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9CD3CC"/>
                </a:solidFill>
                <a:latin typeface="Calibri"/>
              </a:rPr>
              <a:t>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76088"/>
            <a:ext cx="10454335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FFFFFF"/>
                </a:solidFill>
                <a:latin typeface="Consolas"/>
              </a:rPr>
              <a:t>X_train, X_test, y_train, y_test = train_test_split(X, y, test_size=0.30, random_state=42)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Calibri"/>
              </a:rPr>
              <a:t>Aula 01 - Consultoria Especializada em Ciência de Dados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04/08/2026    ·    18</a:t>
            </a:r>
          </a:p>
        </p:txBody>
      </p:sp>
    </p:spTree>
    <p:extLst>
      <p:ext uri="{BB962C8B-B14F-4D97-AF65-F5344CB8AC3E}">
        <p14:creationId xmlns:p14="http://schemas.microsoft.com/office/powerpoint/2010/main" val="5575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F90DE9-6971-2459-9760-B5285F3E9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297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2303A"/>
                </a:solidFill>
                <a:latin typeface="Cambria"/>
              </a:rPr>
              <a:t>Cuidados Essenciais ao Fazer o Split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2194560"/>
            <a:ext cx="3423818" cy="2926080"/>
          </a:xfrm>
          <a:prstGeom prst="roundRect">
            <a:avLst>
              <a:gd name="adj" fmla="val 5500"/>
            </a:avLst>
          </a:prstGeom>
          <a:solidFill>
            <a:srgbClr val="E9F5F3"/>
          </a:solidFill>
          <a:ln>
            <a:noFill/>
          </a:ln>
          <a:effectLst>
            <a:outerShdw blurRad="90000" dist="38100" dir="5400000" rotWithShape="0">
              <a:srgbClr val="9CB4B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2468879"/>
            <a:ext cx="291175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1" i="0">
                <a:solidFill>
                  <a:srgbClr val="0B5A54"/>
                </a:solidFill>
                <a:latin typeface="Cambria"/>
              </a:rPr>
              <a:t>Estratificação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108960"/>
            <a:ext cx="291175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3938" y="2194560"/>
            <a:ext cx="3423818" cy="29260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>
            <a:outerShdw blurRad="90000" dist="38100" dir="5400000" rotWithShape="0">
              <a:srgbClr val="9CB4B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39970" y="2468879"/>
            <a:ext cx="291175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1" i="0">
                <a:solidFill>
                  <a:srgbClr val="0B5A54"/>
                </a:solidFill>
                <a:latin typeface="Cambria"/>
              </a:rPr>
              <a:t>Sem Data Leakage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9970" y="3108960"/>
            <a:ext cx="291175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173516" y="2194560"/>
            <a:ext cx="3423818" cy="2926080"/>
          </a:xfrm>
          <a:prstGeom prst="roundRect">
            <a:avLst>
              <a:gd name="adj" fmla="val 5500"/>
            </a:avLst>
          </a:prstGeom>
          <a:solidFill>
            <a:srgbClr val="E9F5F3"/>
          </a:solidFill>
          <a:ln>
            <a:noFill/>
          </a:ln>
          <a:effectLst>
            <a:outerShdw blurRad="90000" dist="38100" dir="5400000" rotWithShape="0">
              <a:srgbClr val="9CB4B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29548" y="2468879"/>
            <a:ext cx="291175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1" i="0">
                <a:solidFill>
                  <a:srgbClr val="0B5A54"/>
                </a:solidFill>
                <a:latin typeface="Cambria"/>
              </a:rPr>
              <a:t>Reprodutibilidade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9548" y="3108960"/>
            <a:ext cx="291175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Calibri"/>
              </a:rPr>
              <a:t>Aula 01 - Consultoria Especializada em Ciência de Dados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04/08/2026    ·    19</a:t>
            </a:r>
          </a:p>
        </p:txBody>
      </p:sp>
    </p:spTree>
    <p:extLst>
      <p:ext uri="{BB962C8B-B14F-4D97-AF65-F5344CB8AC3E}">
        <p14:creationId xmlns:p14="http://schemas.microsoft.com/office/powerpoint/2010/main" val="26240153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D7E200-4BE0-72E3-6EE2-0A2C9C917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297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2303A"/>
                </a:solidFill>
                <a:latin typeface="Cambria"/>
              </a:rPr>
              <a:t>Gap Treino vs Teste</a:t>
            </a:r>
          </a:p>
        </p:txBody>
      </p:sp>
      <p:pic>
        <p:nvPicPr>
          <p:cNvPr id="3" name="Picture 2" descr="fig06_arvore_profundid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1600200"/>
            <a:ext cx="6949440" cy="39616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Calibri"/>
              </a:rPr>
              <a:t>Aula 01 - Consultoria Especializada em Ciência de Dados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04/08/2026    ·    20</a:t>
            </a:r>
          </a:p>
        </p:txBody>
      </p:sp>
    </p:spTree>
    <p:extLst>
      <p:ext uri="{BB962C8B-B14F-4D97-AF65-F5344CB8AC3E}">
        <p14:creationId xmlns:p14="http://schemas.microsoft.com/office/powerpoint/2010/main" val="979623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21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Hold-out: vantagens e limites</a:t>
            </a:r>
            <a:endParaRPr lang="en-US" sz="2800" dirty="0"/>
          </a:p>
        </p:txBody>
      </p:sp>
      <p:graphicFrame>
        <p:nvGraphicFramePr>
          <p:cNvPr id="12" name="Table 1">
            <a:extLst>
              <a:ext uri="{FF2B5EF4-FFF2-40B4-BE49-F238E27FC236}">
                <a16:creationId xmlns:a16="http://schemas.microsoft.com/office/drawing/2014/main" id="{40624392-8C06-664B-8C52-071A681E5A67}"/>
              </a:ext>
            </a:extLst>
          </p:cNvPr>
          <p:cNvGraphicFramePr>
            <a:graphicFrameLocks noGrp="1"/>
          </p:cNvGraphicFramePr>
          <p:nvPr/>
        </p:nvGraphicFramePr>
        <p:xfrm>
          <a:off x="571500" y="2176462"/>
          <a:ext cx="11029949" cy="3219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7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0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2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486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Aspecto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Vantagens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Limitações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86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Inter"/>
                        </a:rPr>
                        <a:t>Simplicidade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Rápido de implementar e de baixo custo computacional.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Requer volumes de dados suficientemente grandes.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86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Inter"/>
                        </a:rPr>
                        <a:t>Clareza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Proporciona uma separação limpa para avaliação inicial.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A métrica pode variar dependendo da divisão estocástica.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86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Inter"/>
                        </a:rPr>
                        <a:t>Casos de Uso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Ideal para datasets massivos e prototipagem ágil.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Para datasets pequenos, prefira a Validação Cruzada (K-Fold).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Rectangle 2">
            <a:extLst>
              <a:ext uri="{FF2B5EF4-FFF2-40B4-BE49-F238E27FC236}">
                <a16:creationId xmlns:a16="http://schemas.microsoft.com/office/drawing/2014/main" id="{3BBDDF7C-EF48-30DB-386B-BE593903C771}"/>
              </a:ext>
            </a:extLst>
          </p:cNvPr>
          <p:cNvSpPr/>
          <p:nvPr/>
        </p:nvSpPr>
        <p:spPr>
          <a:xfrm>
            <a:off x="581025" y="2786062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3AEE9500-E5B5-D4BE-7FAB-AD8F0C583741}"/>
              </a:ext>
            </a:extLst>
          </p:cNvPr>
          <p:cNvSpPr/>
          <p:nvPr/>
        </p:nvSpPr>
        <p:spPr>
          <a:xfrm>
            <a:off x="3338512" y="2786062"/>
            <a:ext cx="39500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3ACBD49A-0D6C-3550-B66A-993E329EF900}"/>
              </a:ext>
            </a:extLst>
          </p:cNvPr>
          <p:cNvSpPr/>
          <p:nvPr/>
        </p:nvSpPr>
        <p:spPr>
          <a:xfrm>
            <a:off x="7288559" y="2786062"/>
            <a:ext cx="43224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DBAE7AB7-4A19-C3E1-954E-CA24284BCAC1}"/>
              </a:ext>
            </a:extLst>
          </p:cNvPr>
          <p:cNvSpPr/>
          <p:nvPr/>
        </p:nvSpPr>
        <p:spPr>
          <a:xfrm>
            <a:off x="581025" y="3652837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B7115716-293C-E111-5C67-CDC0408384B0}"/>
              </a:ext>
            </a:extLst>
          </p:cNvPr>
          <p:cNvSpPr/>
          <p:nvPr/>
        </p:nvSpPr>
        <p:spPr>
          <a:xfrm>
            <a:off x="3338512" y="3652837"/>
            <a:ext cx="39500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7">
            <a:extLst>
              <a:ext uri="{FF2B5EF4-FFF2-40B4-BE49-F238E27FC236}">
                <a16:creationId xmlns:a16="http://schemas.microsoft.com/office/drawing/2014/main" id="{C6520340-0C74-FA9A-D2BC-A8CD7ACEBD15}"/>
              </a:ext>
            </a:extLst>
          </p:cNvPr>
          <p:cNvSpPr/>
          <p:nvPr/>
        </p:nvSpPr>
        <p:spPr>
          <a:xfrm>
            <a:off x="7288559" y="3652837"/>
            <a:ext cx="43224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8">
            <a:extLst>
              <a:ext uri="{FF2B5EF4-FFF2-40B4-BE49-F238E27FC236}">
                <a16:creationId xmlns:a16="http://schemas.microsoft.com/office/drawing/2014/main" id="{0D56228F-064A-F622-34FE-D152C9939F7E}"/>
              </a:ext>
            </a:extLst>
          </p:cNvPr>
          <p:cNvSpPr/>
          <p:nvPr/>
        </p:nvSpPr>
        <p:spPr>
          <a:xfrm>
            <a:off x="581025" y="4519612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9">
            <a:extLst>
              <a:ext uri="{FF2B5EF4-FFF2-40B4-BE49-F238E27FC236}">
                <a16:creationId xmlns:a16="http://schemas.microsoft.com/office/drawing/2014/main" id="{7B0CA398-F2BC-5BA6-1E6D-F7A67EB64D1F}"/>
              </a:ext>
            </a:extLst>
          </p:cNvPr>
          <p:cNvSpPr/>
          <p:nvPr/>
        </p:nvSpPr>
        <p:spPr>
          <a:xfrm>
            <a:off x="3338512" y="4519612"/>
            <a:ext cx="39500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10">
            <a:extLst>
              <a:ext uri="{FF2B5EF4-FFF2-40B4-BE49-F238E27FC236}">
                <a16:creationId xmlns:a16="http://schemas.microsoft.com/office/drawing/2014/main" id="{605AC2E7-1A39-C2EA-EEBE-39B1E4DDA657}"/>
              </a:ext>
            </a:extLst>
          </p:cNvPr>
          <p:cNvSpPr/>
          <p:nvPr/>
        </p:nvSpPr>
        <p:spPr>
          <a:xfrm>
            <a:off x="7288559" y="4519612"/>
            <a:ext cx="43224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22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Sobreajuste e subajuste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44805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demais decora; complexidade de menos não aprende. Onde fica o meio?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Definições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318608" cy="4114800"/>
          </a:xfrm>
          <a:prstGeom prst="roundRect">
            <a:avLst>
              <a:gd name="adj" fmla="val 2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Sobreajuste (overfitting)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6785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complexo demais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ruído além do padrão.</a:t>
            </a:r>
            <a:endParaRPr lang="en-US" sz="1500" dirty="0"/>
          </a:p>
          <a:p>
            <a:pPr marL="254000" indent="-2540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ótimo, teste ruim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decorou os exemplos.</a:t>
            </a:r>
            <a:endParaRPr lang="en-US" sz="1500" dirty="0"/>
          </a:p>
          <a:p>
            <a:pPr marL="254000" indent="-2540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Variância alta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muito conforme o dado.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78728" y="1783080"/>
            <a:ext cx="5318608" cy="41148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598768" y="205740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Subajuste (underfitting)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98768" y="2697480"/>
            <a:ext cx="46785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simples demais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captura o padrão real.</a:t>
            </a:r>
            <a:endParaRPr lang="en-US" sz="1500" dirty="0"/>
          </a:p>
          <a:p>
            <a:pPr marL="254000" indent="-2540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e teste ruins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 até onde já viu.</a:t>
            </a:r>
            <a:endParaRPr lang="en-US" sz="1500" dirty="0"/>
          </a:p>
          <a:p>
            <a:pPr marL="254000" indent="-2540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alto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rígido demais para os dados.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sobreajuste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645920"/>
            <a:ext cx="67208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de treino altíssima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perto de 1.0, enquanto o teste fica bem abaixo.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crescente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complexo o modelo, maior a distância treino e teste.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Instabilidade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pequenas mudanças no dado mudam muito o modelo.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piora no novo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promessa do treino não se cumpre em produção.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26680" y="1645920"/>
            <a:ext cx="3886200" cy="4480560"/>
          </a:xfrm>
          <a:prstGeom prst="roundRect">
            <a:avLst>
              <a:gd name="adj" fmla="val 2118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019288" y="193852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19288" y="2441448"/>
            <a:ext cx="3300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alto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019288" y="3447288"/>
            <a:ext cx="33009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sobe</a:t>
            </a:r>
            <a:endParaRPr lang="en-US" sz="14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estagna ou cai</a:t>
            </a:r>
            <a:endParaRPr lang="en-US" sz="14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distância denuncia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subajuste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645920"/>
            <a:ext cx="67208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já é baixo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nem nos dados vistos consegue acertar bem.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igualmente baixo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e teste ruins e próximos um do outro.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rígido demais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parâmetros, profundidade mínima, forte regularização.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a complexidade ou usar features mais informativas.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26680" y="1645920"/>
            <a:ext cx="3886200" cy="4480560"/>
          </a:xfrm>
          <a:prstGeom prst="roundRect">
            <a:avLst>
              <a:gd name="adj" fmla="val 2118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019288" y="193852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19288" y="2441448"/>
            <a:ext cx="3300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Ambos baixos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019288" y="3447288"/>
            <a:ext cx="33009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baixo</a:t>
            </a:r>
            <a:endParaRPr lang="en-US" sz="14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baixo</a:t>
            </a:r>
            <a:endParaRPr lang="en-US" sz="14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capacidade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Complexidade do modelo: profundidade da árvore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645920"/>
            <a:ext cx="67208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quanto o modelo pode se moldar aos dados — quantos padrões consegue expressar.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árvore de decisão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profundidade (max_depth) controla a complexidade diretamente.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baixa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poucas divisões, regra simples — tende ao subajuste.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alta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divisões, uma folha quase por exemplo — tende ao sobreajuste.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 geral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para qualquer modelo: há um botão de complexidade a ajustar.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27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curva treino e teste</a:t>
            </a:r>
            <a:endParaRPr lang="en-US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835388"/>
              </p:ext>
            </p:extLst>
          </p:nvPr>
        </p:nvGraphicFramePr>
        <p:xfrm>
          <a:off x="594360" y="1002882"/>
          <a:ext cx="10972800" cy="3218688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Profundidade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Acurácia treino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Acurácia teste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(treino - teste)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35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3">
            <a:extLst>
              <a:ext uri="{FF2B5EF4-FFF2-40B4-BE49-F238E27FC236}">
                <a16:creationId xmlns:a16="http://schemas.microsoft.com/office/drawing/2014/main" id="{9EA9E9EF-9D97-3079-3381-B1724C21E51E}"/>
              </a:ext>
            </a:extLst>
          </p:cNvPr>
          <p:cNvSpPr/>
          <p:nvPr/>
        </p:nvSpPr>
        <p:spPr>
          <a:xfrm>
            <a:off x="594360" y="4407050"/>
            <a:ext cx="8468958" cy="1088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gap cresce com a complexidade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fundo, maior a distância entre treino e teste.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da curva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e teste sobem juntos — o modelo está aprendendo o padrão.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ótimo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teste é máximo; aqui, profundidade próxima de 5.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 ótimo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treino continua subindo, mas o teste cai — puro sobreajuste.</a:t>
            </a:r>
            <a:endParaRPr lang="en-US" sz="16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6EC885C9-DDE4-22C8-DA5D-9D5D64B7401E}"/>
              </a:ext>
            </a:extLst>
          </p:cNvPr>
          <p:cNvSpPr/>
          <p:nvPr/>
        </p:nvSpPr>
        <p:spPr>
          <a:xfrm>
            <a:off x="594512" y="5458879"/>
            <a:ext cx="11002975" cy="1005840"/>
          </a:xfrm>
          <a:prstGeom prst="roundRect">
            <a:avLst>
              <a:gd name="adj" fmla="val 8182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9059814B-54A5-1D67-1DD4-0CDFFA73BE17}"/>
              </a:ext>
            </a:extLst>
          </p:cNvPr>
          <p:cNvSpPr/>
          <p:nvPr/>
        </p:nvSpPr>
        <p:spPr>
          <a:xfrm>
            <a:off x="914552" y="5623471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DO MODELO</a:t>
            </a:r>
            <a:endParaRPr lang="en-US" sz="11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61C8258A-C874-85DF-0CFE-2B57D927D5DA}"/>
              </a:ext>
            </a:extLst>
          </p:cNvPr>
          <p:cNvSpPr/>
          <p:nvPr/>
        </p:nvSpPr>
        <p:spPr>
          <a:xfrm>
            <a:off x="914552" y="5916079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complexidade  =  a que maximiza o desempenho no teste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Intuição para guardar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318608" cy="4114800"/>
          </a:xfrm>
          <a:prstGeom prst="roundRect">
            <a:avLst>
              <a:gd name="adj" fmla="val 2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Complexidade de menos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6785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Régua reta num padrão curvo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encaixa direito.</a:t>
            </a:r>
            <a:endParaRPr lang="en-US" sz="1500" dirty="0"/>
          </a:p>
          <a:p>
            <a:pPr marL="254000" indent="-2540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 sistematicamente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treino e em teste.</a:t>
            </a:r>
            <a:endParaRPr lang="en-US" sz="1500" dirty="0"/>
          </a:p>
          <a:p>
            <a:pPr marL="254000" indent="-2540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subajuste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aumente a capacidade.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78728" y="1783080"/>
            <a:ext cx="5318608" cy="41148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598768" y="205740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Complexidade demais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98768" y="2697480"/>
            <a:ext cx="46785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que passa por cada ponto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pelo ruído.</a:t>
            </a:r>
            <a:endParaRPr lang="en-US" sz="1500" dirty="0"/>
          </a:p>
          <a:p>
            <a:pPr marL="254000" indent="-2540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Perfeito no treino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péssimo no novo.</a:t>
            </a:r>
            <a:endParaRPr lang="en-US" sz="1500" dirty="0"/>
          </a:p>
          <a:p>
            <a:pPr marL="254000" indent="-2540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sobreajuste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simplifique o modelo.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29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tradeoff viés e variância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44805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curva, contada por outro ângulo: o equilíbrio que minimiza o erro.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297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2303A"/>
                </a:solidFill>
                <a:latin typeface="Cambria"/>
              </a:rPr>
              <a:t>O que é Viés (Bias)?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783080"/>
            <a:ext cx="5318607" cy="4114800"/>
          </a:xfrm>
          <a:prstGeom prst="roundRect">
            <a:avLst>
              <a:gd name="adj" fmla="val 5500"/>
            </a:avLst>
          </a:prstGeom>
          <a:solidFill>
            <a:srgbClr val="E9F5F3"/>
          </a:solidFill>
          <a:ln>
            <a:noFill/>
          </a:ln>
          <a:effectLst>
            <a:outerShdw blurRad="90000" dist="38100" dir="5400000" rotWithShape="0">
              <a:srgbClr val="9CB4B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039112"/>
            <a:ext cx="467852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0">
                <a:solidFill>
                  <a:srgbClr val="0B5A54"/>
                </a:solidFill>
                <a:latin typeface="Cambria"/>
              </a:rPr>
              <a:t>Erro de Simplificação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4678527" cy="297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500" b="1" i="0">
                <a:solidFill>
                  <a:srgbClr val="12303A"/>
                </a:solidFill>
                <a:latin typeface="Calibri"/>
              </a:rPr>
              <a:t>Definição Direta</a:t>
            </a:r>
            <a:r>
              <a:rPr sz="1500" b="0" i="0">
                <a:solidFill>
                  <a:srgbClr val="475569"/>
                </a:solidFill>
                <a:latin typeface="Calibri"/>
              </a:rPr>
              <a:t> — É a incapacidade do modelo de capturar a verdadeira relação nos dados devido a premissas simplistas demais.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783080"/>
            <a:ext cx="5318607" cy="411480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>
            <a:outerShdw blurRad="90000" dist="38100" dir="5400000" rotWithShape="0">
              <a:srgbClr val="9CB4B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98767" y="2039112"/>
            <a:ext cx="467852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0">
                <a:solidFill>
                  <a:srgbClr val="0B5A54"/>
                </a:solidFill>
                <a:latin typeface="Cambria"/>
              </a:rPr>
              <a:t>Exemplo &amp; Causa Raiz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8767" y="2697480"/>
            <a:ext cx="4678527" cy="297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500" b="1" i="0">
                <a:solidFill>
                  <a:srgbClr val="12303A"/>
                </a:solidFill>
                <a:latin typeface="Calibri"/>
              </a:rPr>
              <a:t>Exemplo</a:t>
            </a:r>
            <a:r>
              <a:rPr sz="1500" b="0" i="0">
                <a:solidFill>
                  <a:srgbClr val="475569"/>
                </a:solidFill>
                <a:latin typeface="Calibri"/>
              </a:rPr>
              <a:t> — Forçar uma Regressão Linear (reta simples) para prever um comportamento altamente parabólico ou cíclico.</a:t>
            </a:r>
          </a:p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500" b="1" i="0">
                <a:solidFill>
                  <a:srgbClr val="12303A"/>
                </a:solidFill>
                <a:latin typeface="Calibri"/>
              </a:rPr>
              <a:t>Diagnóstico</a:t>
            </a:r>
            <a:r>
              <a:rPr sz="1500" b="0" i="0">
                <a:solidFill>
                  <a:srgbClr val="475569"/>
                </a:solidFill>
                <a:latin typeface="Calibri"/>
              </a:rPr>
              <a:t> — Modelo “simples demais”. Necessita de maior capacidade, novas features ou menor restrição.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Calibri"/>
              </a:rPr>
              <a:t>Aula 01 - Consultoria Especializada em Ciência de Dados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04/08/2026    ·  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297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2303A"/>
                </a:solidFill>
                <a:latin typeface="Cambria"/>
              </a:rPr>
              <a:t>O que é Variância (Variance)?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783080"/>
            <a:ext cx="5318607" cy="4114800"/>
          </a:xfrm>
          <a:prstGeom prst="roundRect">
            <a:avLst>
              <a:gd name="adj" fmla="val 5500"/>
            </a:avLst>
          </a:prstGeom>
          <a:solidFill>
            <a:srgbClr val="E9F5F3"/>
          </a:solidFill>
          <a:ln>
            <a:noFill/>
          </a:ln>
          <a:effectLst>
            <a:outerShdw blurRad="90000" dist="38100" dir="5400000" rotWithShape="0">
              <a:srgbClr val="9CB4B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039112"/>
            <a:ext cx="467852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0">
                <a:solidFill>
                  <a:srgbClr val="0B5A54"/>
                </a:solidFill>
                <a:latin typeface="Cambria"/>
              </a:rPr>
              <a:t>Sensibilidade Excessiva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4678527" cy="297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500" b="1" i="0">
                <a:solidFill>
                  <a:srgbClr val="12303A"/>
                </a:solidFill>
                <a:latin typeface="Calibri"/>
              </a:rPr>
              <a:t>Definição Direta</a:t>
            </a:r>
            <a:r>
              <a:rPr sz="1500" b="0" i="0">
                <a:solidFill>
                  <a:srgbClr val="475569"/>
                </a:solidFill>
                <a:latin typeface="Calibri"/>
              </a:rPr>
              <a:t> — É o quanto a previsão do modelo oscila drasticamente se trocarmos o conjunto de dados de treino.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783080"/>
            <a:ext cx="5318607" cy="411480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>
            <a:outerShdw blurRad="90000" dist="38100" dir="5400000" rotWithShape="0">
              <a:srgbClr val="9CB4B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98767" y="2039112"/>
            <a:ext cx="467852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0">
                <a:solidFill>
                  <a:srgbClr val="0B5A54"/>
                </a:solidFill>
                <a:latin typeface="Cambria"/>
              </a:rPr>
              <a:t>Exemplo &amp; Causa Raiz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8767" y="2697480"/>
            <a:ext cx="4678527" cy="297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500" b="1" i="0">
                <a:solidFill>
                  <a:srgbClr val="12303A"/>
                </a:solidFill>
                <a:latin typeface="Calibri"/>
              </a:rPr>
              <a:t>Exemplo</a:t>
            </a:r>
            <a:r>
              <a:rPr sz="1500" b="0" i="0">
                <a:solidFill>
                  <a:srgbClr val="475569"/>
                </a:solidFill>
                <a:latin typeface="Calibri"/>
              </a:rPr>
              <a:t> — Uma Árvore de Decisão profunda sem limite, que cria regras exclusivas para memorizar até o ruído aleatório.</a:t>
            </a:r>
          </a:p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500" b="1" i="0">
                <a:solidFill>
                  <a:srgbClr val="12303A"/>
                </a:solidFill>
                <a:latin typeface="Calibri"/>
              </a:rPr>
              <a:t>Diagnóstico</a:t>
            </a:r>
            <a:r>
              <a:rPr sz="1500" b="0" i="0">
                <a:solidFill>
                  <a:srgbClr val="475569"/>
                </a:solidFill>
                <a:latin typeface="Calibri"/>
              </a:rPr>
              <a:t> — Modelo “complexo demais”. Precisa de regularização, mais dados ou poda (pruning).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Calibri"/>
              </a:rPr>
              <a:t>Aula 01 - Consultoria Especializada em Ciência de Dados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04/08/2026    ·  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D04FF2-08AA-1003-C97D-31CD61DCF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297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2303A"/>
                </a:solidFill>
                <a:latin typeface="Cambria"/>
              </a:rPr>
              <a:t>A Intuição dos Alvos (Dartboards)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783080"/>
            <a:ext cx="5318607" cy="2240280"/>
          </a:xfrm>
          <a:prstGeom prst="roundRect">
            <a:avLst>
              <a:gd name="adj" fmla="val 5500"/>
            </a:avLst>
          </a:prstGeom>
          <a:solidFill>
            <a:srgbClr val="E9F5F3"/>
          </a:solidFill>
          <a:ln>
            <a:noFill/>
          </a:ln>
          <a:effectLst>
            <a:outerShdw blurRad="90000" dist="38100" dir="5400000" rotWithShape="0">
              <a:srgbClr val="9CB4B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002536"/>
            <a:ext cx="476996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5A54"/>
                </a:solidFill>
                <a:latin typeface="Cambria"/>
              </a:rPr>
              <a:t>Alto Viés · Baixa Variância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51760"/>
            <a:ext cx="4769967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0" i="0">
                <a:solidFill>
                  <a:srgbClr val="475569"/>
                </a:solidFill>
                <a:latin typeface="Calibri"/>
              </a:rPr>
              <a:t>Consistente, mas errado (Underfitting)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783080"/>
            <a:ext cx="5318607" cy="22402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>
            <a:outerShdw blurRad="90000" dist="38100" dir="5400000" rotWithShape="0">
              <a:srgbClr val="9CB4B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53047" y="2002536"/>
            <a:ext cx="476996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5A54"/>
                </a:solidFill>
                <a:latin typeface="Cambria"/>
              </a:rPr>
              <a:t>Baixo Viés · Alta Variância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047" y="2651760"/>
            <a:ext cx="4769967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0" i="0">
                <a:solidFill>
                  <a:srgbClr val="475569"/>
                </a:solidFill>
                <a:latin typeface="Calibri"/>
              </a:rPr>
              <a:t>Instável / Espalhado (Overfitting)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343400"/>
            <a:ext cx="5318607" cy="2240280"/>
          </a:xfrm>
          <a:prstGeom prst="roundRect">
            <a:avLst>
              <a:gd name="adj" fmla="val 5500"/>
            </a:avLst>
          </a:prstGeom>
          <a:solidFill>
            <a:srgbClr val="E9F5F3"/>
          </a:solidFill>
          <a:ln>
            <a:noFill/>
          </a:ln>
          <a:effectLst>
            <a:outerShdw blurRad="90000" dist="38100" dir="5400000" rotWithShape="0">
              <a:srgbClr val="9CB4B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562856"/>
            <a:ext cx="476996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5A54"/>
                </a:solidFill>
                <a:latin typeface="Cambria"/>
              </a:rPr>
              <a:t>Alto Viés · Alta Variância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212080"/>
            <a:ext cx="4769967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0" i="0">
                <a:solidFill>
                  <a:srgbClr val="475569"/>
                </a:solidFill>
                <a:latin typeface="Calibri"/>
              </a:rPr>
              <a:t>Pior Cenário Possível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4343400"/>
            <a:ext cx="5318607" cy="22402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>
            <a:outerShdw blurRad="90000" dist="38100" dir="5400000" rotWithShape="0">
              <a:srgbClr val="9CB4B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53047" y="4562856"/>
            <a:ext cx="476996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5A54"/>
                </a:solidFill>
                <a:latin typeface="Cambria"/>
              </a:rPr>
              <a:t>Baixo Viés · Baixa Variância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5212080"/>
            <a:ext cx="4769967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0" i="0">
                <a:solidFill>
                  <a:srgbClr val="475569"/>
                </a:solidFill>
                <a:latin typeface="Calibri"/>
              </a:rPr>
              <a:t>O IDEAL (Ponto Doce)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Calibri"/>
              </a:rPr>
              <a:t>Aula 01 - Consultoria Especializada em Ciência de Dados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04/08/2026    ·    32</a:t>
            </a:r>
          </a:p>
        </p:txBody>
      </p:sp>
    </p:spTree>
    <p:extLst>
      <p:ext uri="{BB962C8B-B14F-4D97-AF65-F5344CB8AC3E}">
        <p14:creationId xmlns:p14="http://schemas.microsoft.com/office/powerpoint/2010/main" val="29867667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297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2303A"/>
                </a:solidFill>
                <a:latin typeface="Cambria"/>
              </a:rPr>
              <a:t>Decomposição Matemática do Erro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920240"/>
            <a:ext cx="11002975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1400"/>
              </a:spcAft>
              <a:buFont typeface="Arial"/>
              <a:buChar char="•"/>
            </a:pPr>
            <a:r>
              <a:rPr sz="1700" b="1" i="0">
                <a:solidFill>
                  <a:srgbClr val="12303A"/>
                </a:solidFill>
                <a:latin typeface="Calibri"/>
              </a:rPr>
              <a:t>1. Reduzir o Viés</a:t>
            </a:r>
            <a:r>
              <a:rPr sz="1700" b="0" i="0">
                <a:solidFill>
                  <a:srgbClr val="475569"/>
                </a:solidFill>
                <a:latin typeface="Calibri"/>
              </a:rPr>
              <a:t> — Aumentar a complexidade do modelo reduz o viés, permitindo aprender relações mais ricas.</a:t>
            </a:r>
          </a:p>
          <a:p>
            <a:pPr marL="182880" indent="-182880">
              <a:spcAft>
                <a:spcPts val="1400"/>
              </a:spcAft>
              <a:buFont typeface="Arial"/>
              <a:buChar char="•"/>
            </a:pPr>
            <a:r>
              <a:rPr sz="1700" b="1" i="0">
                <a:solidFill>
                  <a:srgbClr val="12303A"/>
                </a:solidFill>
                <a:latin typeface="Calibri"/>
              </a:rPr>
              <a:t>2. Aumentar Variância</a:t>
            </a:r>
            <a:r>
              <a:rPr sz="1700" b="0" i="0">
                <a:solidFill>
                  <a:srgbClr val="475569"/>
                </a:solidFill>
                <a:latin typeface="Calibri"/>
              </a:rPr>
              <a:t> — Porém, modelos muito complexos ficam hipersensíveis, fazendo a variância disparar.</a:t>
            </a:r>
          </a:p>
          <a:p>
            <a:pPr marL="182880" indent="-182880">
              <a:spcAft>
                <a:spcPts val="1400"/>
              </a:spcAft>
              <a:buFont typeface="Arial"/>
              <a:buChar char="•"/>
            </a:pPr>
            <a:r>
              <a:rPr sz="1700" b="1" i="0">
                <a:solidFill>
                  <a:srgbClr val="12303A"/>
                </a:solidFill>
                <a:latin typeface="Calibri"/>
              </a:rPr>
              <a:t>3. Ruído Irredutível</a:t>
            </a:r>
            <a:r>
              <a:rPr sz="1700" b="0" i="0">
                <a:solidFill>
                  <a:srgbClr val="475569"/>
                </a:solidFill>
                <a:latin typeface="Calibri"/>
              </a:rPr>
              <a:t> — Erros inerentes à coleta de dados que nenhum modelo jamais conseguirá eliminar.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Calibri"/>
              </a:rPr>
              <a:t>Aula 01 - Consultoria Especializada em Ciência de Dados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04/08/2026    ·   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DCF527-6767-EFD4-89CA-FAA5ABC5C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297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2303A"/>
                </a:solidFill>
                <a:latin typeface="Cambria"/>
              </a:rPr>
              <a:t>Encontrando o Ponto Doce (Sweet Spot)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07008"/>
            <a:ext cx="110029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1">
                <a:solidFill>
                  <a:srgbClr val="0F766E"/>
                </a:solidFill>
                <a:latin typeface="Calibri"/>
              </a:rPr>
              <a:t>Como a Complexidade Afeta o Erro — Curva do Tradeoff Viés vs Variância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110029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600" b="0" i="0">
                <a:solidFill>
                  <a:srgbClr val="475569"/>
                </a:solidFill>
                <a:latin typeface="Calibri"/>
              </a:rPr>
              <a:t>À medida que adicionamos parâmetros ao modelo, o comportamento das curvas muda drasticamente: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423160"/>
            <a:ext cx="11002975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1300"/>
              </a:spcAft>
              <a:buFont typeface="Arial"/>
              <a:buChar char="•"/>
            </a:pPr>
            <a:r>
              <a:rPr sz="1700" b="1" i="0">
                <a:solidFill>
                  <a:srgbClr val="12303A"/>
                </a:solidFill>
                <a:latin typeface="Calibri"/>
              </a:rPr>
              <a:t>Modelo Simples (Poucos Parâmetros)</a:t>
            </a:r>
            <a:r>
              <a:rPr sz="1700" b="0" i="0">
                <a:solidFill>
                  <a:srgbClr val="475569"/>
                </a:solidFill>
                <a:latin typeface="Calibri"/>
              </a:rPr>
              <a:t> — Viés Alto | Variância Baixa → Underfitting</a:t>
            </a:r>
          </a:p>
          <a:p>
            <a:pPr marL="182880" indent="-182880">
              <a:spcAft>
                <a:spcPts val="1300"/>
              </a:spcAft>
              <a:buFont typeface="Arial"/>
              <a:buChar char="•"/>
            </a:pPr>
            <a:r>
              <a:rPr sz="1700" b="1" i="0">
                <a:solidFill>
                  <a:srgbClr val="12303A"/>
                </a:solidFill>
                <a:latin typeface="Calibri"/>
              </a:rPr>
              <a:t>Modelo Equilibrado (Sweet Spot)</a:t>
            </a:r>
            <a:r>
              <a:rPr sz="1700" b="0" i="0">
                <a:solidFill>
                  <a:srgbClr val="475569"/>
                </a:solidFill>
                <a:latin typeface="Calibri"/>
              </a:rPr>
              <a:t> — Soma (Viés² + Variância) atinge o valor MÍNIMO no Teste.</a:t>
            </a:r>
          </a:p>
          <a:p>
            <a:pPr marL="182880" indent="-182880">
              <a:spcAft>
                <a:spcPts val="1300"/>
              </a:spcAft>
              <a:buFont typeface="Arial"/>
              <a:buChar char="•"/>
            </a:pPr>
            <a:r>
              <a:rPr sz="1700" b="1" i="0">
                <a:solidFill>
                  <a:srgbClr val="12303A"/>
                </a:solidFill>
                <a:latin typeface="Calibri"/>
              </a:rPr>
              <a:t>Modelo Complexo (Muitos Parâmetros)</a:t>
            </a:r>
            <a:r>
              <a:rPr sz="1700" b="0" i="0">
                <a:solidFill>
                  <a:srgbClr val="475569"/>
                </a:solidFill>
                <a:latin typeface="Calibri"/>
              </a:rPr>
              <a:t> — Viés Baixo | Variância Alta → Overfitting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Calibri"/>
              </a:rPr>
              <a:t>Aula 01 - Consultoria Especializada em Ciência de Dados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04/08/2026    ·    34</a:t>
            </a:r>
          </a:p>
        </p:txBody>
      </p:sp>
    </p:spTree>
    <p:extLst>
      <p:ext uri="{BB962C8B-B14F-4D97-AF65-F5344CB8AC3E}">
        <p14:creationId xmlns:p14="http://schemas.microsoft.com/office/powerpoint/2010/main" val="36503205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DA1DF3-87AB-8306-EBD6-7C2604DB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297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2303A"/>
                </a:solidFill>
                <a:latin typeface="Cambria"/>
              </a:rPr>
              <a:t>Guia Prático: Como Corrigir Cada Problema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737360"/>
            <a:ext cx="5318607" cy="4206240"/>
          </a:xfrm>
          <a:prstGeom prst="roundRect">
            <a:avLst>
              <a:gd name="adj" fmla="val 5500"/>
            </a:avLst>
          </a:prstGeom>
          <a:solidFill>
            <a:srgbClr val="E9F5F3"/>
          </a:solidFill>
          <a:ln>
            <a:noFill/>
          </a:ln>
          <a:effectLst>
            <a:outerShdw blurRad="90000" dist="38100" dir="5400000" rotWithShape="0">
              <a:srgbClr val="9CB4B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93391"/>
            <a:ext cx="467852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0">
                <a:solidFill>
                  <a:srgbClr val="0B5A54"/>
                </a:solidFill>
                <a:latin typeface="Cambria"/>
              </a:rPr>
              <a:t>Se você tem Alto Viés (Underfitting):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4678527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500" b="1" i="0">
                <a:solidFill>
                  <a:srgbClr val="12303A"/>
                </a:solidFill>
                <a:latin typeface="Calibri"/>
              </a:rPr>
              <a:t>Aumente a complexidade</a:t>
            </a:r>
            <a:r>
              <a:rPr sz="1500" b="0" i="0">
                <a:solidFill>
                  <a:srgbClr val="475569"/>
                </a:solidFill>
                <a:latin typeface="Calibri"/>
              </a:rPr>
              <a:t> — Troque regressão linear por polinomial, árvore mais profunda ou rede neural.</a:t>
            </a:r>
          </a:p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500" b="1" i="0">
                <a:solidFill>
                  <a:srgbClr val="12303A"/>
                </a:solidFill>
                <a:latin typeface="Calibri"/>
              </a:rPr>
              <a:t>Crie novas Features</a:t>
            </a:r>
            <a:r>
              <a:rPr sz="1500" b="0" i="0">
                <a:solidFill>
                  <a:srgbClr val="475569"/>
                </a:solidFill>
                <a:latin typeface="Calibri"/>
              </a:rPr>
              <a:t> — Combine variáveis (feature engineering) para trazer mais sinal.</a:t>
            </a:r>
          </a:p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500" b="1" i="0">
                <a:solidFill>
                  <a:srgbClr val="12303A"/>
                </a:solidFill>
                <a:latin typeface="Calibri"/>
              </a:rPr>
              <a:t>Reduza a Regularização</a:t>
            </a:r>
            <a:r>
              <a:rPr sz="1500" b="0" i="0">
                <a:solidFill>
                  <a:srgbClr val="475569"/>
                </a:solidFill>
                <a:latin typeface="Calibri"/>
              </a:rPr>
              <a:t> — Diminua o parâmetro de penalidade (ex: reduza α no Ridge/Lasso).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737360"/>
            <a:ext cx="5318607" cy="420624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>
            <a:outerShdw blurRad="90000" dist="38100" dir="5400000" rotWithShape="0">
              <a:srgbClr val="9CB4B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98767" y="1993391"/>
            <a:ext cx="467852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0">
                <a:solidFill>
                  <a:srgbClr val="0B5A54"/>
                </a:solidFill>
                <a:latin typeface="Cambria"/>
              </a:rPr>
              <a:t>Se você tem Alta Variância (Overfitting):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8767" y="2651760"/>
            <a:ext cx="4678527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500" b="1" i="0">
                <a:solidFill>
                  <a:srgbClr val="12303A"/>
                </a:solidFill>
                <a:latin typeface="Calibri"/>
              </a:rPr>
              <a:t>Colete mais dados</a:t>
            </a:r>
            <a:r>
              <a:rPr sz="1500" b="0" i="0">
                <a:solidFill>
                  <a:srgbClr val="475569"/>
                </a:solidFill>
                <a:latin typeface="Calibri"/>
              </a:rPr>
              <a:t> — Mais amostras ajudam o modelo a filtrar o ruído específico.</a:t>
            </a:r>
          </a:p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500" b="1" i="0">
                <a:solidFill>
                  <a:srgbClr val="12303A"/>
                </a:solidFill>
                <a:latin typeface="Calibri"/>
              </a:rPr>
              <a:t>Aplique Regularização</a:t>
            </a:r>
            <a:r>
              <a:rPr sz="1500" b="0" i="0">
                <a:solidFill>
                  <a:srgbClr val="475569"/>
                </a:solidFill>
                <a:latin typeface="Calibri"/>
              </a:rPr>
              <a:t> — Adicione penalidades L1/L2 para encolher coeficientes inflados.</a:t>
            </a:r>
          </a:p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500" b="1" i="0">
                <a:solidFill>
                  <a:srgbClr val="12303A"/>
                </a:solidFill>
                <a:latin typeface="Calibri"/>
              </a:rPr>
              <a:t>Use Métodos Ensemble</a:t>
            </a:r>
            <a:r>
              <a:rPr sz="1500" b="0" i="0">
                <a:solidFill>
                  <a:srgbClr val="475569"/>
                </a:solidFill>
                <a:latin typeface="Calibri"/>
              </a:rPr>
              <a:t> — Combine múltiplos modelos (Bagging/Random Forest) para suavizar a variância.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Calibri"/>
              </a:rPr>
              <a:t>Aula 01 - Consultoria Especializada em Ciência de Dados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04/08/2026    ·    35</a:t>
            </a:r>
          </a:p>
        </p:txBody>
      </p:sp>
    </p:spTree>
    <p:extLst>
      <p:ext uri="{BB962C8B-B14F-4D97-AF65-F5344CB8AC3E}">
        <p14:creationId xmlns:p14="http://schemas.microsoft.com/office/powerpoint/2010/main" val="9841264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Vazamento de dados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44805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mais perigoso: o modelo parece excelente e falha na vida real.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297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2303A"/>
                </a:solidFill>
                <a:latin typeface="Cambria"/>
              </a:rPr>
              <a:t>O que é vazamento (data leakage)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2011680"/>
            <a:ext cx="3423818" cy="3291840"/>
          </a:xfrm>
          <a:prstGeom prst="roundRect">
            <a:avLst>
              <a:gd name="adj" fmla="val 5500"/>
            </a:avLst>
          </a:prstGeom>
          <a:solidFill>
            <a:srgbClr val="E9F5F3"/>
          </a:solidFill>
          <a:ln>
            <a:noFill/>
          </a:ln>
          <a:effectLst>
            <a:outerShdw blurRad="90000" dist="38100" dir="5400000" rotWithShape="0">
              <a:srgbClr val="9CB4B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291175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1" i="0">
                <a:solidFill>
                  <a:srgbClr val="0B5A54"/>
                </a:solidFill>
                <a:latin typeface="Cambria"/>
              </a:rPr>
              <a:t>O Conceito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926080"/>
            <a:ext cx="2911754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>
                <a:solidFill>
                  <a:srgbClr val="475569"/>
                </a:solidFill>
                <a:latin typeface="Calibri"/>
              </a:rPr>
              <a:t>É quando o modelo treina com uma informação que ele não teria na hora de prever de verdade — algo do futuro ou que veio do próprio teste.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3938" y="2011680"/>
            <a:ext cx="3423818" cy="329184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>
            <a:outerShdw blurRad="90000" dist="38100" dir="5400000" rotWithShape="0">
              <a:srgbClr val="9CB4B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39970" y="2286000"/>
            <a:ext cx="291175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1" i="0">
                <a:solidFill>
                  <a:srgbClr val="0B5A54"/>
                </a:solidFill>
                <a:latin typeface="Cambria"/>
              </a:rPr>
              <a:t>O 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9970" y="2926080"/>
            <a:ext cx="2911754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>
                <a:solidFill>
                  <a:srgbClr val="475569"/>
                </a:solidFill>
                <a:latin typeface="Calibri"/>
              </a:rPr>
              <a:t>Em vez de aprender o padrão de verdade, o modelo “cola”: acha um atalho que já entrega a resposta pronta.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73516" y="2011680"/>
            <a:ext cx="3423818" cy="3291840"/>
          </a:xfrm>
          <a:prstGeom prst="roundRect">
            <a:avLst>
              <a:gd name="adj" fmla="val 5500"/>
            </a:avLst>
          </a:prstGeom>
          <a:solidFill>
            <a:srgbClr val="E9F5F3"/>
          </a:solidFill>
          <a:ln>
            <a:noFill/>
          </a:ln>
          <a:effectLst>
            <a:outerShdw blurRad="90000" dist="38100" dir="5400000" rotWithShape="0">
              <a:srgbClr val="9CB4B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29548" y="2286000"/>
            <a:ext cx="291175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1" i="0">
                <a:solidFill>
                  <a:srgbClr val="0B5A54"/>
                </a:solidFill>
                <a:latin typeface="Cambria"/>
              </a:rPr>
              <a:t>O Impacto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9548" y="2926080"/>
            <a:ext cx="2911754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>
                <a:solidFill>
                  <a:srgbClr val="475569"/>
                </a:solidFill>
                <a:latin typeface="Calibri"/>
              </a:rPr>
              <a:t>As notas ficam ótimas no teste, mas o modelo desanda assim que vai para o uso real.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Calibri"/>
              </a:rPr>
              <a:t>Aula 01 - Consultoria Especializada em Ciência de Dados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04/08/2026    ·   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297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2303A"/>
                </a:solidFill>
                <a:latin typeface="Cambria"/>
              </a:rPr>
              <a:t>Por que é o erro mais perigoso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783080"/>
            <a:ext cx="5318607" cy="2240280"/>
          </a:xfrm>
          <a:prstGeom prst="roundRect">
            <a:avLst>
              <a:gd name="adj" fmla="val 5500"/>
            </a:avLst>
          </a:prstGeom>
          <a:solidFill>
            <a:srgbClr val="E9F5F3"/>
          </a:solidFill>
          <a:ln>
            <a:noFill/>
          </a:ln>
          <a:effectLst>
            <a:outerShdw blurRad="90000" dist="38100" dir="5400000" rotWithShape="0">
              <a:srgbClr val="9CB4B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002536"/>
            <a:ext cx="476996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5A54"/>
                </a:solidFill>
                <a:latin typeface="Cambria"/>
              </a:rPr>
              <a:t>Invisível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51760"/>
            <a:ext cx="4769967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0" i="0">
                <a:solidFill>
                  <a:srgbClr val="475569"/>
                </a:solidFill>
                <a:latin typeface="Calibri"/>
              </a:rPr>
              <a:t>Não dá nenhum erro no código. Tudo roda até o fim, sem aviso.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783080"/>
            <a:ext cx="5318607" cy="22402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>
            <a:outerShdw blurRad="90000" dist="38100" dir="5400000" rotWithShape="0">
              <a:srgbClr val="9CB4B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53047" y="2002536"/>
            <a:ext cx="476996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5A54"/>
                </a:solidFill>
                <a:latin typeface="Cambria"/>
              </a:rPr>
              <a:t>Enganoso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047" y="2651760"/>
            <a:ext cx="4769967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0" i="0">
                <a:solidFill>
                  <a:srgbClr val="475569"/>
                </a:solidFill>
                <a:latin typeface="Calibri"/>
              </a:rPr>
              <a:t>Mostra notas altas no papel e passa a falsa sensação de que deu tudo certo.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343400"/>
            <a:ext cx="5318607" cy="2240280"/>
          </a:xfrm>
          <a:prstGeom prst="roundRect">
            <a:avLst>
              <a:gd name="adj" fmla="val 5500"/>
            </a:avLst>
          </a:prstGeom>
          <a:solidFill>
            <a:srgbClr val="E9F5F3"/>
          </a:solidFill>
          <a:ln>
            <a:noFill/>
          </a:ln>
          <a:effectLst>
            <a:outerShdw blurRad="90000" dist="38100" dir="5400000" rotWithShape="0">
              <a:srgbClr val="9CB4B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562856"/>
            <a:ext cx="476996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5A54"/>
                </a:solidFill>
                <a:latin typeface="Cambria"/>
              </a:rPr>
              <a:t>Caro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212080"/>
            <a:ext cx="4769967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0" i="0">
                <a:solidFill>
                  <a:srgbClr val="475569"/>
                </a:solidFill>
                <a:latin typeface="Calibri"/>
              </a:rPr>
              <a:t>Costuma aparecer só depois que o modelo já está em uso — e joga fora semanas de trabalho.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4343400"/>
            <a:ext cx="5318607" cy="22402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>
            <a:outerShdw blurRad="90000" dist="38100" dir="5400000" rotWithShape="0">
              <a:srgbClr val="9CB4B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53047" y="4562856"/>
            <a:ext cx="476996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5A54"/>
                </a:solidFill>
                <a:latin typeface="Cambria"/>
              </a:rPr>
              <a:t>Comum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5212080"/>
            <a:ext cx="4769967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0" i="0">
                <a:solidFill>
                  <a:srgbClr val="475569"/>
                </a:solidFill>
                <a:latin typeface="Calibri"/>
              </a:rPr>
              <a:t>É uma cilada comum: pega desde iniciantes até gente experiente.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Calibri"/>
              </a:rPr>
              <a:t>Aula 01 - Consultoria Especializada em Ciência de Dados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04/08/2026    ·   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297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2303A"/>
                </a:solidFill>
                <a:latin typeface="Cambria"/>
              </a:rPr>
              <a:t>Tipo A: A “Cola” Direta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07008"/>
            <a:ext cx="110029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1">
                <a:solidFill>
                  <a:srgbClr val="0F766E"/>
                </a:solidFill>
                <a:latin typeface="Calibri"/>
              </a:rPr>
              <a:t>Vazamento Óbvio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11002975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600"/>
              </a:spcAft>
              <a:buFont typeface="Arial"/>
              <a:buChar char="•"/>
            </a:pPr>
            <a:r>
              <a:rPr sz="1450" b="1" i="0">
                <a:solidFill>
                  <a:srgbClr val="12303A"/>
                </a:solidFill>
                <a:latin typeface="Calibri"/>
              </a:rPr>
              <a:t>O que é</a:t>
            </a:r>
            <a:r>
              <a:rPr sz="1450" b="0" i="0">
                <a:solidFill>
                  <a:srgbClr val="475569"/>
                </a:solidFill>
                <a:latin typeface="Calibri"/>
              </a:rPr>
              <a:t> — usar no treino uma coluna que, na prática, já é a resposta (ou vem direto dela).</a:t>
            </a:r>
          </a:p>
          <a:p>
            <a:pPr marL="182880" indent="-182880">
              <a:spcAft>
                <a:spcPts val="600"/>
              </a:spcAft>
              <a:buFont typeface="Arial"/>
              <a:buChar char="•"/>
            </a:pPr>
            <a:r>
              <a:rPr sz="1450" b="1" i="0">
                <a:solidFill>
                  <a:srgbClr val="12303A"/>
                </a:solidFill>
                <a:latin typeface="Calibri"/>
              </a:rPr>
              <a:t>Exemplo</a:t>
            </a:r>
            <a:r>
              <a:rPr sz="1450" b="0" i="0">
                <a:solidFill>
                  <a:srgbClr val="475569"/>
                </a:solidFill>
                <a:latin typeface="Calibri"/>
              </a:rPr>
              <a:t> — prever o preço do jogador usando o “índice de popularidade” — só que esse índice já é calculado a partir do preço. É dar a resposta de brinde.</a:t>
            </a:r>
          </a:p>
          <a:p>
            <a:pPr marL="182880" indent="-182880">
              <a:spcAft>
                <a:spcPts val="600"/>
              </a:spcAft>
              <a:buFont typeface="Arial"/>
              <a:buChar char="•"/>
            </a:pPr>
            <a:r>
              <a:rPr sz="1450" b="1" i="0">
                <a:solidFill>
                  <a:srgbClr val="12303A"/>
                </a:solidFill>
                <a:latin typeface="Calibri"/>
              </a:rPr>
              <a:t>Consequência</a:t>
            </a:r>
            <a:r>
              <a:rPr sz="1450" b="0" i="0">
                <a:solidFill>
                  <a:srgbClr val="475569"/>
                </a:solidFill>
                <a:latin typeface="Calibri"/>
              </a:rPr>
              <a:t> — o modelo acerta o valor porque está olhando para o próprio valor disfarçado.</a:t>
            </a:r>
          </a:p>
          <a:p>
            <a:pPr marL="182880" indent="-182880">
              <a:spcAft>
                <a:spcPts val="600"/>
              </a:spcAft>
              <a:buFont typeface="Arial"/>
              <a:buChar char="•"/>
            </a:pPr>
            <a:r>
              <a:rPr sz="1450" b="1" i="0">
                <a:solidFill>
                  <a:srgbClr val="12303A"/>
                </a:solidFill>
                <a:latin typeface="Calibri"/>
              </a:rPr>
              <a:t>Sinal de Alerta</a:t>
            </a:r>
            <a:r>
              <a:rPr sz="1450" b="0" i="0">
                <a:solidFill>
                  <a:srgbClr val="475569"/>
                </a:solidFill>
                <a:latin typeface="Calibri"/>
              </a:rPr>
              <a:t> — uma coluna com correlação quase perfeita (perto de 1,0) com o alvo.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3977639"/>
          <a:ext cx="1100023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Cenário de Experimento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R² (Validação Cruzada)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Correlação com o Alvo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Diagnóstico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2303A"/>
                          </a:solidFill>
                          <a:latin typeface="Calibri"/>
                        </a:rPr>
                        <a:t>COM indice_popularidade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2303A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2303A"/>
                          </a:solidFill>
                          <a:latin typeface="Calibri"/>
                        </a:rPr>
                        <a:t>0.94 (Suspeito)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2303A"/>
                          </a:solidFill>
                          <a:latin typeface="Calibri"/>
                        </a:rPr>
                        <a:t>Ilusão: usa a “cola” e engana o teste.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2303A"/>
                          </a:solidFill>
                          <a:latin typeface="Calibri"/>
                        </a:rPr>
                        <a:t>SEM indice_popularidade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2303A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2303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2303A"/>
                          </a:solidFill>
                          <a:latin typeface="Calibri"/>
                        </a:rPr>
                        <a:t>Realidade: desempenho honesto.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394960"/>
            <a:ext cx="1100297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2303A"/>
                </a:solidFill>
                <a:latin typeface="Calibri"/>
              </a:rPr>
              <a:t>Análise do Resultado: 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o R² = 0,82 é ilusão, veio do vazamento. Tirando a coluna, o desempenho real cai para 0,45 — esse é o valor honesto.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Calibri"/>
              </a:rPr>
              <a:t>Aula 01 - Consultoria Especializada em Ciência de Dados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04/08/2026    ·   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945CD6-0E2F-F13F-EE03-816984FFA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297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2303A"/>
                </a:solidFill>
                <a:latin typeface="Cambria"/>
              </a:rPr>
              <a:t>Tipo B: Contaminação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07008"/>
            <a:ext cx="110029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1">
                <a:solidFill>
                  <a:srgbClr val="0F766E"/>
                </a:solidFill>
                <a:latin typeface="Calibri"/>
              </a:rPr>
              <a:t>A Solução Correta (Fluxo Sequencial)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5318607" cy="4114800"/>
          </a:xfrm>
          <a:prstGeom prst="roundRect">
            <a:avLst>
              <a:gd name="adj" fmla="val 5500"/>
            </a:avLst>
          </a:prstGeom>
          <a:solidFill>
            <a:srgbClr val="E9F5F3"/>
          </a:solidFill>
          <a:ln>
            <a:noFill/>
          </a:ln>
          <a:effectLst>
            <a:outerShdw blurRad="90000" dist="38100" dir="5400000" rotWithShape="0">
              <a:srgbClr val="9CB4B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39112"/>
            <a:ext cx="467852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0">
                <a:solidFill>
                  <a:srgbClr val="0B5A54"/>
                </a:solidFill>
                <a:latin typeface="Cambria"/>
              </a:rPr>
              <a:t>O Erro Frequente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4678527" cy="297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475569"/>
                </a:solidFill>
                <a:latin typeface="Calibri"/>
              </a:rPr>
              <a:t>Fazer o pré-processamento (padronizar, preencher nulos) na base inteira antes de separar treino e teste.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783080"/>
            <a:ext cx="5318607" cy="411480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>
            <a:outerShdw blurRad="90000" dist="38100" dir="5400000" rotWithShape="0">
              <a:srgbClr val="9CB4B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98767" y="2039112"/>
            <a:ext cx="467852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0">
                <a:solidFill>
                  <a:srgbClr val="0B5A54"/>
                </a:solidFill>
                <a:latin typeface="Cambria"/>
              </a:rPr>
              <a:t>O Efeito Sutil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697480"/>
            <a:ext cx="4678527" cy="297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475569"/>
                </a:solidFill>
                <a:latin typeface="Calibri"/>
              </a:rPr>
              <a:t>Assim o treino já “espia” a média e o desvio do teste, e o teste deixa de ser novidade.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Calibri"/>
              </a:rPr>
              <a:t>Aula 01 - Consultoria Especializada em Ciência de Dados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04/08/2026    ·    40</a:t>
            </a:r>
          </a:p>
        </p:txBody>
      </p:sp>
    </p:spTree>
    <p:extLst>
      <p:ext uri="{BB962C8B-B14F-4D97-AF65-F5344CB8AC3E}">
        <p14:creationId xmlns:p14="http://schemas.microsoft.com/office/powerpoint/2010/main" val="29288374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40F00C-7854-52C1-E3B7-88E41346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297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2303A"/>
                </a:solidFill>
                <a:latin typeface="Cambria"/>
              </a:rPr>
              <a:t>Como Detectar Vazamentos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874519"/>
            <a:ext cx="11002975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1400"/>
              </a:spcAft>
              <a:buFont typeface="Arial"/>
              <a:buChar char="•"/>
            </a:pPr>
            <a:r>
              <a:rPr sz="1700" b="1" i="0">
                <a:solidFill>
                  <a:srgbClr val="12303A"/>
                </a:solidFill>
                <a:latin typeface="Calibri"/>
              </a:rPr>
              <a:t>Métricas Suspeitas</a:t>
            </a:r>
            <a:r>
              <a:rPr sz="1700" b="0" i="0">
                <a:solidFill>
                  <a:srgbClr val="475569"/>
                </a:solidFill>
                <a:latin typeface="Calibri"/>
              </a:rPr>
              <a:t> — acurácia, AUC ou R² altos demais logo na primeira tentativa.</a:t>
            </a:r>
          </a:p>
          <a:p>
            <a:pPr marL="182880" indent="-182880">
              <a:spcAft>
                <a:spcPts val="1400"/>
              </a:spcAft>
              <a:buFont typeface="Arial"/>
              <a:buChar char="•"/>
            </a:pPr>
            <a:r>
              <a:rPr sz="1700" b="1" i="0">
                <a:solidFill>
                  <a:srgbClr val="12303A"/>
                </a:solidFill>
                <a:latin typeface="Calibri"/>
              </a:rPr>
              <a:t>Correlação Altíssima</a:t>
            </a:r>
            <a:r>
              <a:rPr sz="1700" b="0" i="0">
                <a:solidFill>
                  <a:srgbClr val="475569"/>
                </a:solidFill>
                <a:latin typeface="Calibri"/>
              </a:rPr>
              <a:t> — uma coluna sozinha com peso enorme, ou correlação altíssima com o alvo.</a:t>
            </a:r>
          </a:p>
          <a:p>
            <a:pPr marL="182880" indent="-182880">
              <a:spcAft>
                <a:spcPts val="1400"/>
              </a:spcAft>
              <a:buFont typeface="Arial"/>
              <a:buChar char="•"/>
            </a:pPr>
            <a:r>
              <a:rPr sz="1700" b="1" i="0">
                <a:solidFill>
                  <a:srgbClr val="12303A"/>
                </a:solidFill>
                <a:latin typeface="Calibri"/>
              </a:rPr>
              <a:t>Variáveis do “Futuro”</a:t>
            </a:r>
            <a:r>
              <a:rPr sz="1700" b="0" i="0">
                <a:solidFill>
                  <a:srgbClr val="475569"/>
                </a:solidFill>
                <a:latin typeface="Calibri"/>
              </a:rPr>
              <a:t> — dados que só passam a existir depois que o evento aconteceu.</a:t>
            </a:r>
          </a:p>
          <a:p>
            <a:pPr marL="182880" indent="-182880">
              <a:spcAft>
                <a:spcPts val="1400"/>
              </a:spcAft>
              <a:buFont typeface="Arial"/>
              <a:buChar char="•"/>
            </a:pPr>
            <a:r>
              <a:rPr sz="1700" b="1" i="0">
                <a:solidFill>
                  <a:srgbClr val="12303A"/>
                </a:solidFill>
                <a:latin typeface="Calibri"/>
              </a:rPr>
              <a:t>Salto Abrupto de Desempenho</a:t>
            </a:r>
            <a:r>
              <a:rPr sz="1700" b="0" i="0">
                <a:solidFill>
                  <a:srgbClr val="475569"/>
                </a:solidFill>
                <a:latin typeface="Calibri"/>
              </a:rPr>
              <a:t> — um salto grande e estranho de desempenho ao adicionar uma única coluna.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Calibri"/>
              </a:rPr>
              <a:t>Aula 01 - Consultoria Especializada em Ciência de Dados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04/08/2026    ·    41</a:t>
            </a:r>
          </a:p>
        </p:txBody>
      </p:sp>
    </p:spTree>
    <p:extLst>
      <p:ext uri="{BB962C8B-B14F-4D97-AF65-F5344CB8AC3E}">
        <p14:creationId xmlns:p14="http://schemas.microsoft.com/office/powerpoint/2010/main" val="20251215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750785-A28A-F437-B696-D72AA41EE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297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2303A"/>
                </a:solidFill>
                <a:latin typeface="Cambria"/>
              </a:rPr>
              <a:t>A Regra de Ouro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737360"/>
            <a:ext cx="11002975" cy="1371600"/>
          </a:xfrm>
          <a:prstGeom prst="roundRect">
            <a:avLst>
              <a:gd name="adj" fmla="val 5500"/>
            </a:avLst>
          </a:prstGeom>
          <a:solidFill>
            <a:srgbClr val="E9F5F3"/>
          </a:solidFill>
          <a:ln>
            <a:noFill/>
          </a:ln>
          <a:effectLst>
            <a:outerShdw blurRad="90000" dist="38100" dir="5400000" rotWithShape="0">
              <a:srgbClr val="9CB4B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01952"/>
            <a:ext cx="103628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0B5A54"/>
                </a:solidFill>
                <a:latin typeface="Calibri"/>
              </a:rPr>
              <a:t>A PERGUNTA DE OURO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i="0">
                <a:solidFill>
                  <a:srgbClr val="12303A"/>
                </a:solidFill>
                <a:latin typeface="Calibri"/>
              </a:rPr>
              <a:t>“Eu teria essa informação, desse jeito, na hora de fazer a previsão de verdade?”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383280"/>
            <a:ext cx="11002975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1300"/>
              </a:spcAft>
              <a:buFont typeface="Arial"/>
              <a:buChar char="•"/>
            </a:pPr>
            <a:r>
              <a:rPr sz="1700" b="1" i="0">
                <a:solidFill>
                  <a:srgbClr val="12303A"/>
                </a:solidFill>
                <a:latin typeface="Calibri"/>
              </a:rPr>
              <a:t>Se a resposta for NÃO</a:t>
            </a:r>
            <a:r>
              <a:rPr sz="1700" b="0" i="0">
                <a:solidFill>
                  <a:srgbClr val="475569"/>
                </a:solidFill>
                <a:latin typeface="Calibri"/>
              </a:rPr>
              <a:t> — tire essa coluna do modelo.</a:t>
            </a:r>
          </a:p>
          <a:p>
            <a:pPr marL="182880" indent="-182880">
              <a:spcAft>
                <a:spcPts val="1300"/>
              </a:spcAft>
              <a:buFont typeface="Arial"/>
              <a:buChar char="•"/>
            </a:pPr>
            <a:r>
              <a:rPr sz="1700" b="1" i="0">
                <a:solidFill>
                  <a:srgbClr val="12303A"/>
                </a:solidFill>
                <a:latin typeface="Calibri"/>
              </a:rPr>
              <a:t>Na linha do tempo</a:t>
            </a:r>
            <a:r>
              <a:rPr sz="1700" b="0" i="0">
                <a:solidFill>
                  <a:srgbClr val="475569"/>
                </a:solidFill>
                <a:latin typeface="Calibri"/>
              </a:rPr>
              <a:t> — nada que só aparece depois do evento pode entrar no modelo.</a:t>
            </a:r>
          </a:p>
          <a:p>
            <a:pPr marL="182880" indent="-182880">
              <a:spcAft>
                <a:spcPts val="1300"/>
              </a:spcAft>
              <a:buFont typeface="Arial"/>
              <a:buChar char="•"/>
            </a:pPr>
            <a:r>
              <a:rPr sz="1700" b="1" i="0">
                <a:solidFill>
                  <a:srgbClr val="12303A"/>
                </a:solidFill>
                <a:latin typeface="Calibri"/>
              </a:rPr>
              <a:t>No código</a:t>
            </a:r>
            <a:r>
              <a:rPr sz="1700" b="0" i="0">
                <a:solidFill>
                  <a:srgbClr val="475569"/>
                </a:solidFill>
                <a:latin typeface="Calibri"/>
              </a:rPr>
              <a:t> — nenhuma conta feita sobre o teste pode influenciar o treino.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Calibri"/>
              </a:rPr>
              <a:t>Aula 01 - Consultoria Especializada em Ciência de Dados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04/08/2026    ·    42</a:t>
            </a:r>
          </a:p>
        </p:txBody>
      </p:sp>
    </p:spTree>
    <p:extLst>
      <p:ext uri="{BB962C8B-B14F-4D97-AF65-F5344CB8AC3E}">
        <p14:creationId xmlns:p14="http://schemas.microsoft.com/office/powerpoint/2010/main" val="42060947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43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papel de cada conjunto</a:t>
            </a:r>
            <a:endParaRPr lang="en-US" sz="3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44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Treino, validação e teste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726680" y="1645920"/>
            <a:ext cx="3886200" cy="4480560"/>
          </a:xfrm>
          <a:prstGeom prst="roundRect">
            <a:avLst>
              <a:gd name="adj" fmla="val 2118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019288" y="193852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PAPÉIS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19288" y="2441448"/>
            <a:ext cx="3300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um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019288" y="3447288"/>
            <a:ext cx="33009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Treino: aprender</a:t>
            </a:r>
            <a:endParaRPr lang="en-US" sz="14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Validação: escolher</a:t>
            </a:r>
            <a:endParaRPr lang="en-US" sz="14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Teste: julgar</a:t>
            </a:r>
            <a:endParaRPr lang="en-US" sz="14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7C7261BF-C58A-9027-C224-134A497CF530}"/>
              </a:ext>
            </a:extLst>
          </p:cNvPr>
          <p:cNvSpPr/>
          <p:nvPr/>
        </p:nvSpPr>
        <p:spPr>
          <a:xfrm>
            <a:off x="579120" y="1645920"/>
            <a:ext cx="67208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(aprender)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os parâmetros do modelo. É a fase de estudo do dia a dia — usado muitas vezes.</a:t>
            </a:r>
            <a:endParaRPr lang="en-US" sz="1700" dirty="0"/>
          </a:p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(escolher)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os hiperparâmetros (ex.: profundidade da árvore) e escolhe o melhor modelo.</a:t>
            </a:r>
            <a:endParaRPr lang="en-US" sz="1700" dirty="0"/>
          </a:p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(julgar)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medição final, honesta e sem filtro. Usado uma única vez, no encerramento.</a:t>
            </a:r>
            <a:endParaRPr lang="en-US" sz="17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45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teste fica intocável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726680" y="1645920"/>
            <a:ext cx="3886200" cy="4480560"/>
          </a:xfrm>
          <a:prstGeom prst="roundRect">
            <a:avLst>
              <a:gd name="adj" fmla="val 2118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019288" y="193852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19288" y="2441448"/>
            <a:ext cx="3300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vez só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019288" y="3447288"/>
            <a:ext cx="33009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espie</a:t>
            </a:r>
            <a:endParaRPr lang="en-US" sz="14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ajuste pelo teste</a:t>
            </a:r>
            <a:endParaRPr lang="en-US" sz="14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no fim</a:t>
            </a:r>
            <a:endParaRPr lang="en-US" sz="14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D9DDF4E8-9BDC-F021-BAC9-0957DC8920B9}"/>
              </a:ext>
            </a:extLst>
          </p:cNvPr>
          <p:cNvSpPr/>
          <p:nvPr/>
        </p:nvSpPr>
        <p:spPr>
          <a:xfrm>
            <a:off x="579120" y="1645920"/>
            <a:ext cx="67208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o mundo real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os dados novos que o modelo só vai ver quando estiver em uso.</a:t>
            </a:r>
            <a:endParaRPr lang="en-US" sz="1700" dirty="0"/>
          </a:p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a contaminação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com base no teste faz o modelo "decorar" o gabarito.</a:t>
            </a:r>
            <a:endParaRPr lang="en-US" sz="1700" dirty="0"/>
          </a:p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Otimismo ilusório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olhada no teste destrói a imparcialidade da sua métrica.</a:t>
            </a:r>
            <a:endParaRPr lang="en-US" sz="17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46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fluxo de trabalho</a:t>
            </a:r>
            <a:endParaRPr lang="en-US" sz="2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37EB66C-02FB-9CF2-FA47-D57CB70694F4}"/>
              </a:ext>
            </a:extLst>
          </p:cNvPr>
          <p:cNvSpPr/>
          <p:nvPr/>
        </p:nvSpPr>
        <p:spPr>
          <a:xfrm>
            <a:off x="594360" y="173736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Separe o teste primeiro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esconda essa fatia dos dados antes de qualquer coisa.</a:t>
            </a:r>
            <a:endParaRPr lang="en-US" sz="1700" dirty="0"/>
          </a:p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Trabalhe no treino e na validação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diferentes algoritmos e ajuste os parâmetros aqui.</a:t>
            </a:r>
            <a:endParaRPr lang="en-US" sz="1700" dirty="0"/>
          </a:p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Escolha o campeão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validação (ou validação cruzada) para selecionar o melhor modelo.</a:t>
            </a:r>
            <a:endParaRPr lang="en-US" sz="1700" dirty="0"/>
          </a:p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Avaliação final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o modelo campeão uma única vez no conjunto de teste.</a:t>
            </a:r>
            <a:endParaRPr lang="en-US" sz="1700" dirty="0"/>
          </a:p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Reporte a verdade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do teste é o desempenho real que você deve apresentar.</a:t>
            </a:r>
            <a:endParaRPr lang="en-US" sz="17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47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Prévia: validação cruzada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726680" y="1645920"/>
            <a:ext cx="3886200" cy="4480560"/>
          </a:xfrm>
          <a:prstGeom prst="roundRect">
            <a:avLst>
              <a:gd name="adj" fmla="val 2118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019288" y="193852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USAR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19288" y="2441448"/>
            <a:ext cx="3300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Estável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019288" y="3447288"/>
            <a:ext cx="33009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dependente do sorteio</a:t>
            </a:r>
            <a:endParaRPr lang="en-US" sz="14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Aproveita mais dados</a:t>
            </a:r>
            <a:endParaRPr lang="en-US" sz="14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 na Aula 5</a:t>
            </a:r>
            <a:endParaRPr lang="en-US" sz="14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D3BC901A-4331-FF4D-2BF7-A04186AF2A6A}"/>
              </a:ext>
            </a:extLst>
          </p:cNvPr>
          <p:cNvSpPr/>
          <p:nvPr/>
        </p:nvSpPr>
        <p:spPr>
          <a:xfrm>
            <a:off x="594360" y="1828800"/>
            <a:ext cx="67208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da divisão única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hold-out simples pode te dar sorte ou azar, dependendo de como os dados caíram.</a:t>
            </a:r>
            <a:endParaRPr lang="en-US" sz="1700" dirty="0"/>
          </a:p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cruzada (k-fold)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treino é dividido em k partes, revezando quem é a validação da vez.</a:t>
            </a:r>
            <a:endParaRPr lang="en-US" sz="1700" dirty="0"/>
          </a:p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estável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das k medições dá uma estimativa bem mais confiável.</a:t>
            </a:r>
            <a:endParaRPr lang="en-US" sz="1700" dirty="0"/>
          </a:p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scikit-learn, isso é uma linha de código só.</a:t>
            </a:r>
            <a:endParaRPr lang="en-US" sz="17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48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Resumo: os três conjuntos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94360" y="598932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prática: só o teste vira o número que você reporta — e ele é intocável até lá.</a:t>
            </a:r>
            <a:endParaRPr lang="en-US" sz="1150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CC28D957-5EF6-07A8-255A-91BF8ABE4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772519"/>
              </p:ext>
            </p:extLst>
          </p:nvPr>
        </p:nvGraphicFramePr>
        <p:xfrm>
          <a:off x="594360" y="2011680"/>
          <a:ext cx="10972800" cy="226771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Conjunto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que serve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Quantas vezes é usado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Ajustar os parâmetros do modelo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Muitas vezes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Escolher o modelo e ajustar hiperparâmetros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Várias vezes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Obter a estimativa final e honesta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só vez (no fim)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3">
            <a:extLst>
              <a:ext uri="{FF2B5EF4-FFF2-40B4-BE49-F238E27FC236}">
                <a16:creationId xmlns:a16="http://schemas.microsoft.com/office/drawing/2014/main" id="{F17B2D56-21F3-578E-FFE7-3A42505A17F7}"/>
              </a:ext>
            </a:extLst>
          </p:cNvPr>
          <p:cNvSpPr/>
          <p:nvPr/>
        </p:nvSpPr>
        <p:spPr>
          <a:xfrm>
            <a:off x="594360" y="4343400"/>
            <a:ext cx="11002975" cy="1371600"/>
          </a:xfrm>
          <a:prstGeom prst="roundRect">
            <a:avLst>
              <a:gd name="adj" fmla="val 6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AADF42DA-20A0-F287-3197-5E4BEAE336C1}"/>
              </a:ext>
            </a:extLst>
          </p:cNvPr>
          <p:cNvSpPr/>
          <p:nvPr/>
        </p:nvSpPr>
        <p:spPr>
          <a:xfrm>
            <a:off x="914400" y="452628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METÁFORA DA PROVA</a:t>
            </a:r>
            <a:endParaRPr lang="en-US" sz="11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797ECDA9-47C0-C78D-7721-F01ADF1FE1EE}"/>
              </a:ext>
            </a:extLst>
          </p:cNvPr>
          <p:cNvSpPr/>
          <p:nvPr/>
        </p:nvSpPr>
        <p:spPr>
          <a:xfrm>
            <a:off x="914400" y="49377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estudo diário   ·   </a:t>
            </a: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simulado   ·   </a:t>
            </a: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prova final oficial</a:t>
            </a:r>
            <a:endParaRPr lang="en-US" sz="17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49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 e boas práticas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44805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checklist para não cair nas armadilhas mais frequentes.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50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645920"/>
            <a:ext cx="8451028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no treino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acurácia de treino como se fosse desempenho real.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estratificar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deixar uma classe sub-representada num dos lados.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Pré-processar antes de separar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vazamento sutil do scaler ou do imputador.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Espiar o teste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decisões olhando o conjunto que deveria ser intocável.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features suspeitas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colunas que vazam o alvo por descuido.</a:t>
            </a:r>
            <a:endParaRPr lang="en-US" sz="1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51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Boas práticas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59" y="1645920"/>
            <a:ext cx="9293711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Separe o teste primeiro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qualquer transformação nos dados.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 err="1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Estratifique</a:t>
            </a:r>
            <a:r>
              <a:rPr lang="en-US" sz="16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fixe a </a:t>
            </a:r>
            <a:r>
              <a:rPr lang="en-US" sz="1600" b="1" dirty="0" err="1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semente</a:t>
            </a:r>
            <a:r>
              <a:rPr lang="en-US" sz="16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stratify e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experimentos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reproduzíveis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 err="1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</a:t>
            </a:r>
            <a:r>
              <a:rPr lang="en-US" sz="16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curvas de </a:t>
            </a:r>
            <a:r>
              <a:rPr lang="en-US" sz="1600" b="1" dirty="0" err="1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</a:t>
            </a:r>
            <a:r>
              <a:rPr lang="en-US" sz="16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teste para achar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sobreajuste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subajuste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</a:t>
            </a:r>
            <a:r>
              <a:rPr lang="en-US" sz="1600" b="1" dirty="0" err="1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</a:t>
            </a:r>
            <a:r>
              <a:rPr lang="en-US" sz="16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isolado</a:t>
            </a:r>
            <a:r>
              <a:rPr lang="en-US" sz="16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scaler/imputer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use Pipeline.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 err="1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</a:t>
            </a:r>
            <a:r>
              <a:rPr lang="en-US" sz="16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suas</a:t>
            </a:r>
            <a:r>
              <a:rPr lang="en-US" sz="16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features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ouro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"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hora da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?"</a:t>
            </a:r>
            <a:endParaRPr lang="en-US" sz="1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52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antivazamento</a:t>
            </a:r>
            <a:endParaRPr lang="en-US" sz="280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5EB80F18-9B93-0F80-A892-67DDD92B2E01}"/>
              </a:ext>
            </a:extLst>
          </p:cNvPr>
          <p:cNvSpPr/>
          <p:nvPr/>
        </p:nvSpPr>
        <p:spPr>
          <a:xfrm>
            <a:off x="594360" y="1828800"/>
            <a:ext cx="5318608" cy="4023360"/>
          </a:xfrm>
          <a:prstGeom prst="roundRect">
            <a:avLst>
              <a:gd name="adj" fmla="val 2045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F3A84E1E-2715-5D83-6AB4-543D8E34768F}"/>
              </a:ext>
            </a:extLst>
          </p:cNvPr>
          <p:cNvSpPr/>
          <p:nvPr/>
        </p:nvSpPr>
        <p:spPr>
          <a:xfrm>
            <a:off x="914400" y="210312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treinar (preparação)</a:t>
            </a:r>
            <a:endParaRPr lang="en-US" sz="19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DD381096-AA05-A291-E924-6354AECE01C1}"/>
              </a:ext>
            </a:extLst>
          </p:cNvPr>
          <p:cNvSpPr/>
          <p:nvPr/>
        </p:nvSpPr>
        <p:spPr>
          <a:xfrm>
            <a:off x="914400" y="2743200"/>
            <a:ext cx="46785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separado e guardado no "cofre".</a:t>
            </a:r>
            <a:endParaRPr lang="en-US" sz="15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auditadas ("terei esse dado na hora da previsão?").</a:t>
            </a:r>
            <a:endParaRPr lang="en-US" sz="15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Correlações checadas (nada colado demais no alvo).</a:t>
            </a:r>
            <a:endParaRPr lang="en-US" sz="150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2C68057A-EDBE-C617-31C9-1A639F263AAF}"/>
              </a:ext>
            </a:extLst>
          </p:cNvPr>
          <p:cNvSpPr/>
          <p:nvPr/>
        </p:nvSpPr>
        <p:spPr>
          <a:xfrm>
            <a:off x="6278728" y="1828800"/>
            <a:ext cx="5318608" cy="4023360"/>
          </a:xfrm>
          <a:prstGeom prst="roundRect">
            <a:avLst>
              <a:gd name="adj" fmla="val 2045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70B72E03-339D-ECE2-7D8E-5242AB127A85}"/>
              </a:ext>
            </a:extLst>
          </p:cNvPr>
          <p:cNvSpPr/>
          <p:nvPr/>
        </p:nvSpPr>
        <p:spPr>
          <a:xfrm>
            <a:off x="6598768" y="210312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 avaliar (validação / teste)</a:t>
            </a:r>
            <a:endParaRPr lang="en-US" sz="19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303F6F7E-AE4B-AA09-8E6C-EB47177EF6E0}"/>
              </a:ext>
            </a:extLst>
          </p:cNvPr>
          <p:cNvSpPr/>
          <p:nvPr/>
        </p:nvSpPr>
        <p:spPr>
          <a:xfrm>
            <a:off x="6598768" y="2743200"/>
            <a:ext cx="46785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Scalers e imputadores ajustados só no treino.</a:t>
            </a:r>
            <a:endParaRPr lang="en-US" sz="15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teste tocado uma única vez.</a:t>
            </a:r>
            <a:endParaRPr lang="en-US" sz="15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plausível (desconfie de acurácia 99,9%).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53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Preparação para o laboratório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44805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conceito de hoje vira um exercício em pandas e scikit-learn.</a:t>
            </a:r>
            <a:endParaRPr lang="en-US" sz="1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54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 do laboratório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645920"/>
            <a:ext cx="67208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matplotlib e scikit-learn.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pacientes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1_pacientes.csv — risco metabólico (classificação).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jogadores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3_jogadores.csv — valor de mercado no futebol (regressão).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ver, na prática, os quatro pilares vistos na teoria de hoje.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26680" y="1645920"/>
            <a:ext cx="3886200" cy="4480560"/>
          </a:xfrm>
          <a:prstGeom prst="roundRect">
            <a:avLst>
              <a:gd name="adj" fmla="val 2118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019288" y="193852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DO LAB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19288" y="2441448"/>
            <a:ext cx="3300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partes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019288" y="3447288"/>
            <a:ext cx="33009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e teste</a:t>
            </a:r>
            <a:endParaRPr lang="en-US" sz="14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</a:t>
            </a:r>
            <a:endParaRPr lang="en-US" sz="14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e variância</a:t>
            </a:r>
            <a:endParaRPr lang="en-US" sz="14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Vazamento (2 tipos)</a:t>
            </a:r>
            <a:endParaRPr lang="en-US" sz="1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61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645920"/>
            <a:ext cx="110029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CASTRO, L. N. de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mineração de dados. São Paulo: Saraiva, 2016.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FERREIRA, R. G. C. et al.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 e análise exploratória de dados. Porto Alegre: Sagah, 2021.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SUD, K.; ERDOGMUS, P.; KADRY, S.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 Science and Machine Learning. London: IntechOpen, 2020.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598932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Bibliografia da disciplina Consultoria Especializada em Ciência de Dados 1.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A52186506F641B6D0943FD8590E16" ma:contentTypeVersion="3" ma:contentTypeDescription="Crie um novo documento." ma:contentTypeScope="" ma:versionID="892c9e91ca2da4b656e9e1873602cb98">
  <xsd:schema xmlns:xsd="http://www.w3.org/2001/XMLSchema" xmlns:xs="http://www.w3.org/2001/XMLSchema" xmlns:p="http://schemas.microsoft.com/office/2006/metadata/properties" xmlns:ns2="4619301c-9bea-416d-958d-6c0d9dcf89c5" targetNamespace="http://schemas.microsoft.com/office/2006/metadata/properties" ma:root="true" ma:fieldsID="8b2a4b9bb00df620f25170aaf9638c53" ns2:_="">
    <xsd:import namespace="4619301c-9bea-416d-958d-6c0d9dcf89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19301c-9bea-416d-958d-6c0d9dcf89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7C9D499-8F62-4990-B0B4-9AC77C264FA8}"/>
</file>

<file path=customXml/itemProps2.xml><?xml version="1.0" encoding="utf-8"?>
<ds:datastoreItem xmlns:ds="http://schemas.openxmlformats.org/officeDocument/2006/customXml" ds:itemID="{C6D64385-210E-4B1F-8DF0-80DFB4F34778}"/>
</file>

<file path=customXml/itemProps3.xml><?xml version="1.0" encoding="utf-8"?>
<ds:datastoreItem xmlns:ds="http://schemas.openxmlformats.org/officeDocument/2006/customXml" ds:itemID="{17909851-9ED3-43F8-883D-E8A470569924}"/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4470</Words>
  <Application>Microsoft Office PowerPoint</Application>
  <PresentationFormat>Widescreen</PresentationFormat>
  <Paragraphs>612</Paragraphs>
  <Slides>55</Slides>
  <Notes>55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55</vt:i4>
      </vt:variant>
    </vt:vector>
  </HeadingPairs>
  <TitlesOfParts>
    <vt:vector size="62" baseType="lpstr">
      <vt:lpstr>Arial</vt:lpstr>
      <vt:lpstr>Calibri</vt:lpstr>
      <vt:lpstr>Cambria</vt:lpstr>
      <vt:lpstr>Consolas</vt:lpstr>
      <vt:lpstr>Inter</vt:lpstr>
      <vt:lpstr>Plus Jakarta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CD1</dc:title>
  <dc:subject>PptxGenJS Presentation</dc:subject>
  <dc:creator>Consultoria</dc:creator>
  <cp:lastModifiedBy>Giovani Giulio</cp:lastModifiedBy>
  <cp:revision>6</cp:revision>
  <dcterms:created xsi:type="dcterms:W3CDTF">2026-08-02T05:50:54Z</dcterms:created>
  <dcterms:modified xsi:type="dcterms:W3CDTF">2026-08-04T02:18:03Z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0x010100D00A52186506F641B6D0943FD8590E16</vt:lpwstr>
  </property>
</Properties>
</file>